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 研究背景、意义与研究问题" id="{e902f999-3e4d-91c9-c6b2-98ce1a5334cd}">
          <p14:sldIdLst>
            <p14:sldId id="257"/>
          </p14:sldIdLst>
        </p14:section>
        <p14:section name="02 数据来源、清洗与分析方法" id="{8832ac9b-12bc-8681-4ec6-629c3b5a97b3}">
          <p14:sldIdLst>
            <p14:sldId id="258"/>
          </p14:sldIdLst>
        </p14:section>
        <p14:section name="03 数据覆盖与描述统计" id="{9603e7d0-4156-f66b-c9ba-2397cae59ed7}">
          <p14:sldIdLst>
            <p14:sldId id="259"/>
            <p14:sldId id="260"/>
            <p14:sldId id="261"/>
            <p14:sldId id="262"/>
          </p14:sldIdLst>
        </p14:section>
        <p14:section name="04 文字表达与点赞的关联" id="{e721fdaf-794c-c4b1-9361-1ea9b0bda7ff}">
          <p14:sldIdLst>
            <p14:sldId id="263"/>
            <p14:sldId id="264"/>
            <p14:sldId id="265"/>
            <p14:sldId id="266"/>
            <p14:sldId id="267"/>
          </p14:sldIdLst>
        </p14:section>
        <p14:section name="05 帖子主题与点赞的关联" id="{c4c94f12-d826-4938-afa8-584d14077d24}">
          <p14:sldIdLst>
            <p14:sldId id="268"/>
            <p14:sldId id="269"/>
          </p14:sldIdLst>
        </p14:section>
        <p14:section name="06 评论的主要内容" id="{38ff7c4c-299b-f85d-5d92-1fe8430b7560}">
          <p14:sldIdLst>
            <p14:sldId id="270"/>
            <p14:sldId id="271"/>
          </p14:sldIdLst>
        </p14:section>
        <p14:section name="07 评论区的网络结构" id="{613a6f13-e150-909e-821d-39513dffc75f}">
          <p14:sldIdLst>
            <p14:sldId id="272"/>
            <p14:sldId id="273"/>
            <p14:sldId id="274"/>
            <p14:sldId id="275"/>
            <p14:sldId id="276"/>
          </p14:sldIdLst>
        </p14:section>
        <p14:section name="08 研究结论与局限" id="{708e62ec-3dc5-58bd-fbad-27c2a37e8f4e}">
          <p14:sldIdLst>
            <p14:sldId id="277"/>
          </p14:sldIdLst>
        </p14:section>
        <p14:section name="Default-1" id="{fa7d556e-5c00-f7cd-66ad-b15bf169961f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平均点赞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图片</c:v>
                  </c:pt>
                  <c:pt idx="1">
                    <c:v>视频</c:v>
                  </c:pt>
                  <c:pt idx="2">
                    <c:v>纯文字</c:v>
                  </c:pt>
                  <c:pt idx="3">
                    <c:v>无媒体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51.03</c:v>
                </c:pt>
                <c:pt idx="1">
                  <c:v>48.05</c:v>
                </c:pt>
                <c:pt idx="2">
                  <c:v>7.94</c:v>
                </c:pt>
                <c:pt idx="3">
                  <c:v>3.91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帖子数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1–4</c:v>
                  </c:pt>
                  <c:pt idx="2">
                    <c:v>5–9</c:v>
                  </c:pt>
                  <c:pt idx="3">
                    <c:v>10–24</c:v>
                  </c:pt>
                  <c:pt idx="4">
                    <c:v>25–49</c:v>
                  </c:pt>
                  <c:pt idx="5">
                    <c:v>50–99</c:v>
                  </c:pt>
                  <c:pt idx="6">
                    <c:v>100–199</c:v>
                  </c:pt>
                  <c:pt idx="7">
                    <c:v>200–499</c:v>
                  </c:pt>
                  <c:pt idx="8">
                    <c:v>500+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361</c:v>
                </c:pt>
                <c:pt idx="1">
                  <c:v>2298</c:v>
                </c:pt>
                <c:pt idx="2">
                  <c:v>977</c:v>
                </c:pt>
                <c:pt idx="3">
                  <c:v>1089</c:v>
                </c:pt>
                <c:pt idx="4">
                  <c:v>2203</c:v>
                </c:pt>
                <c:pt idx="5">
                  <c:v>2019</c:v>
                </c:pt>
                <c:pt idx="6">
                  <c:v>438</c:v>
                </c:pt>
                <c:pt idx="7">
                  <c:v>141</c:v>
                </c:pt>
                <c:pt idx="8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主导主题占比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52.71255060728745</c:v>
                </c:pt>
                <c:pt idx="1">
                  <c:v>35.82995951417004</c:v>
                </c:pt>
                <c:pt idx="2">
                  <c:v>4.574898785425101</c:v>
                </c:pt>
                <c:pt idx="3">
                  <c:v>3.4412955465587043</c:v>
                </c:pt>
                <c:pt idx="4">
                  <c:v>3.4412955465587043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按帖子统计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52.71255060728745</c:v>
                </c:pt>
                <c:pt idx="1">
                  <c:v>35.82995951417004</c:v>
                </c:pt>
                <c:pt idx="2">
                  <c:v>4.574898785425101</c:v>
                </c:pt>
                <c:pt idx="3">
                  <c:v>3.4412955465587043</c:v>
                </c:pt>
                <c:pt idx="4">
                  <c:v>3.4412955465587043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每位作者等权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52.63472333887843</c:v>
                </c:pt>
                <c:pt idx="1">
                  <c:v>38.15643148325583</c:v>
                </c:pt>
                <c:pt idx="2">
                  <c:v>5.679415469687451</c:v>
                </c:pt>
                <c:pt idx="3">
                  <c:v>0.6178214221439395</c:v>
                </c:pt>
                <c:pt idx="4">
                  <c:v>2.911608286034348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8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 / 目标</c:v>
                  </c:pt>
                  <c:pt idx="1">
                    <c:v>社交 / 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63.672748004561</c:v>
                </c:pt>
                <c:pt idx="1">
                  <c:v>89.95597484276729</c:v>
                </c:pt>
                <c:pt idx="2">
                  <c:v>57.285714285714285</c:v>
                </c:pt>
                <c:pt idx="3">
                  <c:v>111.152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未命中</c:v>
                </c:pt>
              </c:strCache>
            </c:strRef>
          </c:tx>
          <c:spPr>
            <a:solidFill>
              <a:srgbClr val="AFBC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 / 目标</c:v>
                  </c:pt>
                  <c:pt idx="1">
                    <c:v>社交 / 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34.35586366262276</c:v>
                </c:pt>
                <c:pt idx="1">
                  <c:v>36.155766563533554</c:v>
                </c:pt>
                <c:pt idx="2">
                  <c:v>35.75675373967403</c:v>
                </c:pt>
                <c:pt idx="3">
                  <c:v>36.06856596151802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5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2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图片 / 视频帖占比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命中积极表达</c:v>
                  </c:pt>
                  <c:pt idx="1">
                    <c:v>未命中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94.94773519163763</c:v>
                </c:pt>
                <c:pt idx="1">
                  <c:v>69.13373520875196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5"/>
          <c:y val="0.06"/>
          <c:w val="0.95"/>
          <c:h val="0.8"/>
        </c:manualLayout>
      </c:layout>
      <c:scatterChart>
        <c:scatterStyle val="lineMarker"/>
        <c:varyColors val="0"/>
        <c:ser>
          <c:idx val="0"/>
          <c:order val="0"/>
          <c:tx>
            <c:v>主模型95%区间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Sheet1!$D$2:$D$7</c:f>
              <c:numCache>
                <c:formatCode>General</c:formatCode>
                <c:ptCount val="6"/>
                <c:pt idx="0">
                  <c:v>-0.2926292528774581</c:v>
                </c:pt>
                <c:pt idx="1">
                  <c:v>-0.2926292528774581</c:v>
                </c:pt>
                <c:pt idx="2">
                  <c:v>-0.2926292528774581</c:v>
                </c:pt>
                <c:pt idx="3">
                  <c:v>0.05417937123380383</c:v>
                </c:pt>
                <c:pt idx="4">
                  <c:v>0.05417937123380383</c:v>
                </c:pt>
                <c:pt idx="5">
                  <c:v>0.05417937123380383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4.92</c:v>
                </c:pt>
                <c:pt idx="1">
                  <c:v>5.08</c:v>
                </c:pt>
                <c:pt idx="2">
                  <c:v>5</c:v>
                </c:pt>
                <c:pt idx="3">
                  <c:v>5</c:v>
                </c:pt>
                <c:pt idx="4">
                  <c:v>4.92</c:v>
                </c:pt>
                <c:pt idx="5">
                  <c:v>5.08</c:v>
                </c:pt>
              </c:numCache>
            </c:numRef>
          </c:yVal>
          <c:smooth val="0"/>
        </c:ser>
        <c:ser>
          <c:idx val="1"/>
          <c:order val="1"/>
          <c:tx>
            <c:v>仅可见正文95%区间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Sheet1!$F$2:$F$7</c:f>
              <c:numCache>
                <c:formatCode>General</c:formatCode>
                <c:ptCount val="6"/>
                <c:pt idx="0">
                  <c:v>-0.2779396086425957</c:v>
                </c:pt>
                <c:pt idx="1">
                  <c:v>-0.2779396086425957</c:v>
                </c:pt>
                <c:pt idx="2">
                  <c:v>-0.2779396086425957</c:v>
                </c:pt>
                <c:pt idx="3">
                  <c:v>0.008025153771738514</c:v>
                </c:pt>
                <c:pt idx="4">
                  <c:v>0.008025153771738514</c:v>
                </c:pt>
                <c:pt idx="5">
                  <c:v>0.008025153771738514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>3.92</c:v>
                </c:pt>
                <c:pt idx="1">
                  <c:v>4.08</c:v>
                </c:pt>
                <c:pt idx="2">
                  <c:v>4</c:v>
                </c:pt>
                <c:pt idx="3">
                  <c:v>4</c:v>
                </c:pt>
                <c:pt idx="4">
                  <c:v>3.92</c:v>
                </c:pt>
                <c:pt idx="5">
                  <c:v>4.08</c:v>
                </c:pt>
              </c:numCache>
            </c:numRef>
          </c:yVal>
          <c:smooth val="0"/>
        </c:ser>
        <c:ser>
          <c:idx val="2"/>
          <c:order val="2"/>
          <c:tx>
            <c:v>去最高1%95%区间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Sheet1!$H$2:$H$7</c:f>
              <c:numCache>
                <c:formatCode>General</c:formatCode>
                <c:ptCount val="6"/>
                <c:pt idx="0">
                  <c:v>-0.2862228814337895</c:v>
                </c:pt>
                <c:pt idx="1">
                  <c:v>-0.2862228814337895</c:v>
                </c:pt>
                <c:pt idx="2">
                  <c:v>-0.2862228814337895</c:v>
                </c:pt>
                <c:pt idx="3">
                  <c:v>0.06074432169354835</c:v>
                </c:pt>
                <c:pt idx="4">
                  <c:v>0.06074432169354835</c:v>
                </c:pt>
                <c:pt idx="5">
                  <c:v>0.06074432169354835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2.92</c:v>
                </c:pt>
                <c:pt idx="1">
                  <c:v>3.08</c:v>
                </c:pt>
                <c:pt idx="2">
                  <c:v>3</c:v>
                </c:pt>
                <c:pt idx="3">
                  <c:v>3</c:v>
                </c:pt>
                <c:pt idx="4">
                  <c:v>2.92</c:v>
                </c:pt>
                <c:pt idx="5">
                  <c:v>3.08</c:v>
                </c:pt>
              </c:numCache>
            </c:numRef>
          </c:yVal>
          <c:smooth val="0"/>
        </c:ser>
        <c:ser>
          <c:idx val="3"/>
          <c:order val="3"/>
          <c:tx>
            <c:v>作者等权95%区间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Sheet1!$J$2:$J$7</c:f>
              <c:numCache>
                <c:formatCode>General</c:formatCode>
                <c:ptCount val="6"/>
                <c:pt idx="0">
                  <c:v>-0.11755588602382108</c:v>
                </c:pt>
                <c:pt idx="1">
                  <c:v>-0.11755588602382108</c:v>
                </c:pt>
                <c:pt idx="2">
                  <c:v>-0.11755588602382108</c:v>
                </c:pt>
                <c:pt idx="3">
                  <c:v>0.13711407230724212</c:v>
                </c:pt>
                <c:pt idx="4">
                  <c:v>0.13711407230724212</c:v>
                </c:pt>
                <c:pt idx="5">
                  <c:v>0.13711407230724212</c:v>
                </c:pt>
              </c:numCache>
            </c:numRef>
          </c:xVal>
          <c:yVal>
            <c:numRef>
              <c:f>Sheet1!$K$2:$K$7</c:f>
              <c:numCache>
                <c:formatCode>General</c:formatCode>
                <c:ptCount val="6"/>
                <c:pt idx="0">
                  <c:v>1.92</c:v>
                </c:pt>
                <c:pt idx="1">
                  <c:v>2.08</c:v>
                </c:pt>
                <c:pt idx="2">
                  <c:v>2</c:v>
                </c:pt>
                <c:pt idx="3">
                  <c:v>2</c:v>
                </c:pt>
                <c:pt idx="4">
                  <c:v>1.92</c:v>
                </c:pt>
                <c:pt idx="5">
                  <c:v>2.08</c:v>
                </c:pt>
              </c:numCache>
            </c:numRef>
          </c:yVal>
          <c:smooth val="0"/>
        </c:ser>
        <c:ser>
          <c:idx val="4"/>
          <c:order val="4"/>
          <c:tx>
            <c:v>PPML计数95%区间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Sheet1!$L$2:$L$7</c:f>
              <c:numCache>
                <c:formatCode>General</c:formatCode>
                <c:ptCount val="6"/>
                <c:pt idx="0">
                  <c:v>-0.23309462404807352</c:v>
                </c:pt>
                <c:pt idx="1">
                  <c:v>-0.23309462404807352</c:v>
                </c:pt>
                <c:pt idx="2">
                  <c:v>-0.23309462404807352</c:v>
                </c:pt>
                <c:pt idx="3">
                  <c:v>0.19944882986969897</c:v>
                </c:pt>
                <c:pt idx="4">
                  <c:v>0.19944882986969897</c:v>
                </c:pt>
                <c:pt idx="5">
                  <c:v>0.19944882986969897</c:v>
                </c:pt>
              </c:numCache>
            </c:numRef>
          </c:xVal>
          <c:yVal>
            <c:numRef>
              <c:f>Sheet1!$M$2:$M$7</c:f>
              <c:numCache>
                <c:formatCode>General</c:formatCode>
                <c:ptCount val="6"/>
                <c:pt idx="0">
                  <c:v>0.92</c:v>
                </c:pt>
                <c:pt idx="1">
                  <c:v>1.08</c:v>
                </c:pt>
                <c:pt idx="2">
                  <c:v>1</c:v>
                </c:pt>
                <c:pt idx="3">
                  <c:v>1</c:v>
                </c:pt>
                <c:pt idx="4">
                  <c:v>0.92</c:v>
                </c:pt>
                <c:pt idx="5">
                  <c:v>1.08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Sheet1!$C$1</c:f>
              <c:strCache>
                <c:ptCount val="1"/>
                <c:pt idx="0">
                  <c:v>零点参照</c:v>
                </c:pt>
              </c:strCache>
            </c:strRef>
          </c:tx>
          <c:spPr>
            <a:ln w="15875">
              <a:solidFill>
                <a:srgbClr val="65756F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General</c:formatCode>
              <c:ptCount val="2"/>
              <c:pt idx="0">
                <c:v>0.5</c:v>
              </c:pt>
              <c:pt idx="1">
                <c:v>5.5</c:v>
              </c:pt>
            </c:numLit>
          </c:yVal>
          <c:smooth val="0"/>
        </c:ser>
        <c:ser>
          <c:idx val="6"/>
          <c:order val="6"/>
          <c:tx>
            <c:strRef>
              <c:f>Sheet1!$B$1</c:f>
              <c:strCache>
                <c:ptCount val="1"/>
                <c:pt idx="0">
                  <c:v>自律 / 目标（敏感性）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245C4F"/>
              </a:solidFill>
              <a:ln w="9525" cap="flat">
                <a:solidFill>
                  <a:srgbClr val="245C4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-0.11922494082182715</c:v>
                </c:pt>
                <c:pt idx="1">
                  <c:v>-0.1349572274354286</c:v>
                </c:pt>
                <c:pt idx="2">
                  <c:v>-0.11273927987012058</c:v>
                </c:pt>
                <c:pt idx="3">
                  <c:v>0.009779093141710514</c:v>
                </c:pt>
                <c:pt idx="4">
                  <c:v>-0.016822897089187282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2"/>
          <c:min val="-0.4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zh-CN"/>
          </a:p>
        </c:txPr>
        <c:crossAx val="2094734552"/>
        <c:crossesAt val="0.5"/>
        <c:auto val="1"/>
        <c:lblAlgn val="ctr"/>
        <c:noMultiLvlLbl val="1"/>
        <c:majorUnit val="0.2"/>
      </c:valAx>
      <c:valAx>
        <c:axId val="2094734552"/>
        <c:scaling>
          <c:orientation val="minMax"/>
          <c:max val="5.5"/>
          <c:min val="0.5"/>
        </c:scaling>
        <c:delete val="1"/>
        <c:axPos val="l"/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zh-CN"/>
          </a:p>
        </c:txPr>
        <c:crossAx val="2094734554"/>
        <c:crossesAt val="-0.4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5"/>
          <c:y val="0.06"/>
          <c:w val="0.95"/>
          <c:h val="0.8"/>
        </c:manualLayout>
      </c:layout>
      <c:scatterChart>
        <c:scatterStyle val="lineMarker"/>
        <c:varyColors val="0"/>
        <c:ser>
          <c:idx val="0"/>
          <c:order val="0"/>
          <c:tx>
            <c:v>主模型95%区间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Sheet1!$D$2:$D$7</c:f>
              <c:numCache>
                <c:formatCode>General</c:formatCode>
                <c:ptCount val="6"/>
                <c:pt idx="0">
                  <c:v>-0.13065834927461642</c:v>
                </c:pt>
                <c:pt idx="1">
                  <c:v>-0.13065834927461642</c:v>
                </c:pt>
                <c:pt idx="2">
                  <c:v>-0.13065834927461642</c:v>
                </c:pt>
                <c:pt idx="3">
                  <c:v>0.12198140446066921</c:v>
                </c:pt>
                <c:pt idx="4">
                  <c:v>0.12198140446066921</c:v>
                </c:pt>
                <c:pt idx="5">
                  <c:v>0.12198140446066921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4.92</c:v>
                </c:pt>
                <c:pt idx="1">
                  <c:v>5.08</c:v>
                </c:pt>
                <c:pt idx="2">
                  <c:v>5</c:v>
                </c:pt>
                <c:pt idx="3">
                  <c:v>5</c:v>
                </c:pt>
                <c:pt idx="4">
                  <c:v>4.92</c:v>
                </c:pt>
                <c:pt idx="5">
                  <c:v>5.08</c:v>
                </c:pt>
              </c:numCache>
            </c:numRef>
          </c:yVal>
          <c:smooth val="0"/>
        </c:ser>
        <c:ser>
          <c:idx val="1"/>
          <c:order val="1"/>
          <c:tx>
            <c:v>仅可见正文95%区间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Sheet1!$F$2:$F$7</c:f>
              <c:numCache>
                <c:formatCode>General</c:formatCode>
                <c:ptCount val="6"/>
                <c:pt idx="0">
                  <c:v>-0.09623374032913645</c:v>
                </c:pt>
                <c:pt idx="1">
                  <c:v>-0.09623374032913645</c:v>
                </c:pt>
                <c:pt idx="2">
                  <c:v>-0.09623374032913645</c:v>
                </c:pt>
                <c:pt idx="3">
                  <c:v>0.16738106796214713</c:v>
                </c:pt>
                <c:pt idx="4">
                  <c:v>0.16738106796214713</c:v>
                </c:pt>
                <c:pt idx="5">
                  <c:v>0.16738106796214713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>3.92</c:v>
                </c:pt>
                <c:pt idx="1">
                  <c:v>4.08</c:v>
                </c:pt>
                <c:pt idx="2">
                  <c:v>4</c:v>
                </c:pt>
                <c:pt idx="3">
                  <c:v>4</c:v>
                </c:pt>
                <c:pt idx="4">
                  <c:v>3.92</c:v>
                </c:pt>
                <c:pt idx="5">
                  <c:v>4.08</c:v>
                </c:pt>
              </c:numCache>
            </c:numRef>
          </c:yVal>
          <c:smooth val="0"/>
        </c:ser>
        <c:ser>
          <c:idx val="2"/>
          <c:order val="2"/>
          <c:tx>
            <c:v>去最高1%95%区间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Sheet1!$H$2:$H$7</c:f>
              <c:numCache>
                <c:formatCode>General</c:formatCode>
                <c:ptCount val="6"/>
                <c:pt idx="0">
                  <c:v>-0.12668000346150074</c:v>
                </c:pt>
                <c:pt idx="1">
                  <c:v>-0.12668000346150074</c:v>
                </c:pt>
                <c:pt idx="2">
                  <c:v>-0.12668000346150074</c:v>
                </c:pt>
                <c:pt idx="3">
                  <c:v>0.13983385161313397</c:v>
                </c:pt>
                <c:pt idx="4">
                  <c:v>0.13983385161313397</c:v>
                </c:pt>
                <c:pt idx="5">
                  <c:v>0.13983385161313397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2.92</c:v>
                </c:pt>
                <c:pt idx="1">
                  <c:v>3.08</c:v>
                </c:pt>
                <c:pt idx="2">
                  <c:v>3</c:v>
                </c:pt>
                <c:pt idx="3">
                  <c:v>3</c:v>
                </c:pt>
                <c:pt idx="4">
                  <c:v>2.92</c:v>
                </c:pt>
                <c:pt idx="5">
                  <c:v>3.08</c:v>
                </c:pt>
              </c:numCache>
            </c:numRef>
          </c:yVal>
          <c:smooth val="0"/>
        </c:ser>
        <c:ser>
          <c:idx val="3"/>
          <c:order val="3"/>
          <c:tx>
            <c:v>作者等权95%区间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Sheet1!$J$2:$J$7</c:f>
              <c:numCache>
                <c:formatCode>General</c:formatCode>
                <c:ptCount val="6"/>
                <c:pt idx="0">
                  <c:v>-0.15430347817862414</c:v>
                </c:pt>
                <c:pt idx="1">
                  <c:v>-0.15430347817862414</c:v>
                </c:pt>
                <c:pt idx="2">
                  <c:v>-0.15430347817862414</c:v>
                </c:pt>
                <c:pt idx="3">
                  <c:v>0.11263722842008214</c:v>
                </c:pt>
                <c:pt idx="4">
                  <c:v>0.11263722842008214</c:v>
                </c:pt>
                <c:pt idx="5">
                  <c:v>0.11263722842008214</c:v>
                </c:pt>
              </c:numCache>
            </c:numRef>
          </c:xVal>
          <c:yVal>
            <c:numRef>
              <c:f>Sheet1!$K$2:$K$7</c:f>
              <c:numCache>
                <c:formatCode>General</c:formatCode>
                <c:ptCount val="6"/>
                <c:pt idx="0">
                  <c:v>1.92</c:v>
                </c:pt>
                <c:pt idx="1">
                  <c:v>2.08</c:v>
                </c:pt>
                <c:pt idx="2">
                  <c:v>2</c:v>
                </c:pt>
                <c:pt idx="3">
                  <c:v>2</c:v>
                </c:pt>
                <c:pt idx="4">
                  <c:v>1.92</c:v>
                </c:pt>
                <c:pt idx="5">
                  <c:v>2.08</c:v>
                </c:pt>
              </c:numCache>
            </c:numRef>
          </c:yVal>
          <c:smooth val="0"/>
        </c:ser>
        <c:ser>
          <c:idx val="4"/>
          <c:order val="4"/>
          <c:tx>
            <c:v>PPML计数95%区间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Sheet1!$L$2:$L$7</c:f>
              <c:numCache>
                <c:formatCode>General</c:formatCode>
                <c:ptCount val="6"/>
                <c:pt idx="0">
                  <c:v>-0.30608258398006516</c:v>
                </c:pt>
                <c:pt idx="1">
                  <c:v>-0.30608258398006516</c:v>
                </c:pt>
                <c:pt idx="2">
                  <c:v>-0.30608258398006516</c:v>
                </c:pt>
                <c:pt idx="3">
                  <c:v>0.11482103853771425</c:v>
                </c:pt>
                <c:pt idx="4">
                  <c:v>0.11482103853771425</c:v>
                </c:pt>
                <c:pt idx="5">
                  <c:v>0.11482103853771425</c:v>
                </c:pt>
              </c:numCache>
            </c:numRef>
          </c:xVal>
          <c:yVal>
            <c:numRef>
              <c:f>Sheet1!$M$2:$M$7</c:f>
              <c:numCache>
                <c:formatCode>General</c:formatCode>
                <c:ptCount val="6"/>
                <c:pt idx="0">
                  <c:v>0.92</c:v>
                </c:pt>
                <c:pt idx="1">
                  <c:v>1.08</c:v>
                </c:pt>
                <c:pt idx="2">
                  <c:v>1</c:v>
                </c:pt>
                <c:pt idx="3">
                  <c:v>1</c:v>
                </c:pt>
                <c:pt idx="4">
                  <c:v>0.92</c:v>
                </c:pt>
                <c:pt idx="5">
                  <c:v>1.08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Sheet1!$C$1</c:f>
              <c:strCache>
                <c:ptCount val="1"/>
                <c:pt idx="0">
                  <c:v>零点参照</c:v>
                </c:pt>
              </c:strCache>
            </c:strRef>
          </c:tx>
          <c:spPr>
            <a:ln w="15875">
              <a:solidFill>
                <a:srgbClr val="65756F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General</c:formatCode>
              <c:ptCount val="2"/>
              <c:pt idx="0">
                <c:v>0.5</c:v>
              </c:pt>
              <c:pt idx="1">
                <c:v>5.5</c:v>
              </c:pt>
            </c:numLit>
          </c:yVal>
          <c:smooth val="0"/>
        </c:ser>
        <c:ser>
          <c:idx val="6"/>
          <c:order val="6"/>
          <c:tx>
            <c:strRef>
              <c:f>Sheet1!$B$1</c:f>
              <c:strCache>
                <c:ptCount val="1"/>
                <c:pt idx="0">
                  <c:v>社交 / 互助（敏感性）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245C4F"/>
              </a:solidFill>
              <a:ln w="9525" cap="flat">
                <a:solidFill>
                  <a:srgbClr val="245C4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-0.004338472406973604</c:v>
                </c:pt>
                <c:pt idx="1">
                  <c:v>0.03557366381650534</c:v>
                </c:pt>
                <c:pt idx="2">
                  <c:v>0.006576924075816615</c:v>
                </c:pt>
                <c:pt idx="3">
                  <c:v>-0.020833124879270998</c:v>
                </c:pt>
                <c:pt idx="4">
                  <c:v>-0.09563077272117546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2"/>
          <c:min val="-0.4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zh-CN"/>
          </a:p>
        </c:txPr>
        <c:crossAx val="2094734552"/>
        <c:crossesAt val="0.5"/>
        <c:auto val="1"/>
        <c:lblAlgn val="ctr"/>
        <c:noMultiLvlLbl val="1"/>
        <c:majorUnit val="0.2"/>
      </c:valAx>
      <c:valAx>
        <c:axId val="2094734552"/>
        <c:scaling>
          <c:orientation val="minMax"/>
          <c:max val="5.5"/>
          <c:min val="0.5"/>
        </c:scaling>
        <c:delete val="1"/>
        <c:axPos val="l"/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zh-CN"/>
          </a:p>
        </c:txPr>
        <c:crossAx val="2094734554"/>
        <c:crossesAt val="-0.4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5"/>
          <c:y val="0.06"/>
          <c:w val="0.95"/>
          <c:h val="0.8"/>
        </c:manualLayout>
      </c:layout>
      <c:scatterChart>
        <c:scatterStyle val="lineMarker"/>
        <c:varyColors val="0"/>
        <c:ser>
          <c:idx val="0"/>
          <c:order val="0"/>
          <c:tx>
            <c:v>主模型95%区间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Sheet1!$D$2:$D$7</c:f>
              <c:numCache>
                <c:formatCode>General</c:formatCode>
                <c:ptCount val="6"/>
                <c:pt idx="0">
                  <c:v>-0.1546485793243155</c:v>
                </c:pt>
                <c:pt idx="1">
                  <c:v>-0.1546485793243155</c:v>
                </c:pt>
                <c:pt idx="2">
                  <c:v>-0.1546485793243155</c:v>
                </c:pt>
                <c:pt idx="3">
                  <c:v>-0.016383130385548145</c:v>
                </c:pt>
                <c:pt idx="4">
                  <c:v>-0.016383130385548145</c:v>
                </c:pt>
                <c:pt idx="5">
                  <c:v>-0.016383130385548145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4.92</c:v>
                </c:pt>
                <c:pt idx="1">
                  <c:v>5.08</c:v>
                </c:pt>
                <c:pt idx="2">
                  <c:v>5</c:v>
                </c:pt>
                <c:pt idx="3">
                  <c:v>5</c:v>
                </c:pt>
                <c:pt idx="4">
                  <c:v>4.92</c:v>
                </c:pt>
                <c:pt idx="5">
                  <c:v>5.08</c:v>
                </c:pt>
              </c:numCache>
            </c:numRef>
          </c:yVal>
          <c:smooth val="0"/>
        </c:ser>
        <c:ser>
          <c:idx val="1"/>
          <c:order val="1"/>
          <c:tx>
            <c:v>仅可见正文95%区间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Sheet1!$F$2:$F$7</c:f>
              <c:numCache>
                <c:formatCode>General</c:formatCode>
                <c:ptCount val="6"/>
                <c:pt idx="0">
                  <c:v>-0.16398138117667962</c:v>
                </c:pt>
                <c:pt idx="1">
                  <c:v>-0.16398138117667962</c:v>
                </c:pt>
                <c:pt idx="2">
                  <c:v>-0.16398138117667962</c:v>
                </c:pt>
                <c:pt idx="3">
                  <c:v>-0.015397820900195675</c:v>
                </c:pt>
                <c:pt idx="4">
                  <c:v>-0.015397820900195675</c:v>
                </c:pt>
                <c:pt idx="5">
                  <c:v>-0.015397820900195675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>3.92</c:v>
                </c:pt>
                <c:pt idx="1">
                  <c:v>4.08</c:v>
                </c:pt>
                <c:pt idx="2">
                  <c:v>4</c:v>
                </c:pt>
                <c:pt idx="3">
                  <c:v>4</c:v>
                </c:pt>
                <c:pt idx="4">
                  <c:v>3.92</c:v>
                </c:pt>
                <c:pt idx="5">
                  <c:v>4.08</c:v>
                </c:pt>
              </c:numCache>
            </c:numRef>
          </c:yVal>
          <c:smooth val="0"/>
        </c:ser>
        <c:ser>
          <c:idx val="2"/>
          <c:order val="2"/>
          <c:tx>
            <c:v>去最高1%95%区间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Sheet1!$H$2:$H$7</c:f>
              <c:numCache>
                <c:formatCode>General</c:formatCode>
                <c:ptCount val="6"/>
                <c:pt idx="0">
                  <c:v>-0.15182755783322016</c:v>
                </c:pt>
                <c:pt idx="1">
                  <c:v>-0.15182755783322016</c:v>
                </c:pt>
                <c:pt idx="2">
                  <c:v>-0.15182755783322016</c:v>
                </c:pt>
                <c:pt idx="3">
                  <c:v>-0.012055529463216905</c:v>
                </c:pt>
                <c:pt idx="4">
                  <c:v>-0.012055529463216905</c:v>
                </c:pt>
                <c:pt idx="5">
                  <c:v>-0.012055529463216905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2.92</c:v>
                </c:pt>
                <c:pt idx="1">
                  <c:v>3.08</c:v>
                </c:pt>
                <c:pt idx="2">
                  <c:v>3</c:v>
                </c:pt>
                <c:pt idx="3">
                  <c:v>3</c:v>
                </c:pt>
                <c:pt idx="4">
                  <c:v>2.92</c:v>
                </c:pt>
                <c:pt idx="5">
                  <c:v>3.08</c:v>
                </c:pt>
              </c:numCache>
            </c:numRef>
          </c:yVal>
          <c:smooth val="0"/>
        </c:ser>
        <c:ser>
          <c:idx val="3"/>
          <c:order val="3"/>
          <c:tx>
            <c:v>作者等权95%区间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Sheet1!$J$2:$J$7</c:f>
              <c:numCache>
                <c:formatCode>General</c:formatCode>
                <c:ptCount val="6"/>
                <c:pt idx="0">
                  <c:v>-0.21943067768691155</c:v>
                </c:pt>
                <c:pt idx="1">
                  <c:v>-0.21943067768691155</c:v>
                </c:pt>
                <c:pt idx="2">
                  <c:v>-0.21943067768691155</c:v>
                </c:pt>
                <c:pt idx="3">
                  <c:v>-0.03633838975366527</c:v>
                </c:pt>
                <c:pt idx="4">
                  <c:v>-0.03633838975366527</c:v>
                </c:pt>
                <c:pt idx="5">
                  <c:v>-0.03633838975366527</c:v>
                </c:pt>
              </c:numCache>
            </c:numRef>
          </c:xVal>
          <c:yVal>
            <c:numRef>
              <c:f>Sheet1!$K$2:$K$7</c:f>
              <c:numCache>
                <c:formatCode>General</c:formatCode>
                <c:ptCount val="6"/>
                <c:pt idx="0">
                  <c:v>1.92</c:v>
                </c:pt>
                <c:pt idx="1">
                  <c:v>2.08</c:v>
                </c:pt>
                <c:pt idx="2">
                  <c:v>2</c:v>
                </c:pt>
                <c:pt idx="3">
                  <c:v>2</c:v>
                </c:pt>
                <c:pt idx="4">
                  <c:v>1.92</c:v>
                </c:pt>
                <c:pt idx="5">
                  <c:v>2.08</c:v>
                </c:pt>
              </c:numCache>
            </c:numRef>
          </c:yVal>
          <c:smooth val="0"/>
        </c:ser>
        <c:ser>
          <c:idx val="4"/>
          <c:order val="4"/>
          <c:tx>
            <c:v>PPML计数95%区间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Sheet1!$L$2:$L$7</c:f>
              <c:numCache>
                <c:formatCode>General</c:formatCode>
                <c:ptCount val="6"/>
                <c:pt idx="0">
                  <c:v>-0.298611904604182</c:v>
                </c:pt>
                <c:pt idx="1">
                  <c:v>-0.298611904604182</c:v>
                </c:pt>
                <c:pt idx="2">
                  <c:v>-0.298611904604182</c:v>
                </c:pt>
                <c:pt idx="3">
                  <c:v>0.027989342981732834</c:v>
                </c:pt>
                <c:pt idx="4">
                  <c:v>0.027989342981732834</c:v>
                </c:pt>
                <c:pt idx="5">
                  <c:v>0.027989342981732834</c:v>
                </c:pt>
              </c:numCache>
            </c:numRef>
          </c:xVal>
          <c:yVal>
            <c:numRef>
              <c:f>Sheet1!$M$2:$M$7</c:f>
              <c:numCache>
                <c:formatCode>General</c:formatCode>
                <c:ptCount val="6"/>
                <c:pt idx="0">
                  <c:v>0.92</c:v>
                </c:pt>
                <c:pt idx="1">
                  <c:v>1.08</c:v>
                </c:pt>
                <c:pt idx="2">
                  <c:v>1</c:v>
                </c:pt>
                <c:pt idx="3">
                  <c:v>1</c:v>
                </c:pt>
                <c:pt idx="4">
                  <c:v>0.92</c:v>
                </c:pt>
                <c:pt idx="5">
                  <c:v>1.08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Sheet1!$C$1</c:f>
              <c:strCache>
                <c:ptCount val="1"/>
                <c:pt idx="0">
                  <c:v>零点参照</c:v>
                </c:pt>
              </c:strCache>
            </c:strRef>
          </c:tx>
          <c:spPr>
            <a:ln w="15875">
              <a:solidFill>
                <a:srgbClr val="65756F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General</c:formatCode>
              <c:ptCount val="2"/>
              <c:pt idx="0">
                <c:v>0.5</c:v>
              </c:pt>
              <c:pt idx="1">
                <c:v>5.5</c:v>
              </c:pt>
            </c:numLit>
          </c:yVal>
          <c:smooth val="0"/>
        </c:ser>
        <c:ser>
          <c:idx val="6"/>
          <c:order val="6"/>
          <c:tx>
            <c:strRef>
              <c:f>Sheet1!$B$1</c:f>
              <c:strCache>
                <c:ptCount val="1"/>
                <c:pt idx="0">
                  <c:v>积极表达（敏感性）</c:v>
                </c:pt>
              </c:strCache>
            </c:strRef>
          </c:tx>
          <c:spPr>
            <a:solidFill>
              <a:srgbClr val="B97339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B97339"/>
              </a:solidFill>
              <a:ln w="9525" cap="flat">
                <a:solidFill>
                  <a:srgbClr val="B97339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-0.08551585485493182</c:v>
                </c:pt>
                <c:pt idx="1">
                  <c:v>-0.08968960103843765</c:v>
                </c:pt>
                <c:pt idx="2">
                  <c:v>-0.08194154364821854</c:v>
                </c:pt>
                <c:pt idx="3">
                  <c:v>-0.1278845337202884</c:v>
                </c:pt>
                <c:pt idx="4">
                  <c:v>-0.1353112808112246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2"/>
          <c:min val="-0.4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zh-CN"/>
          </a:p>
        </c:txPr>
        <c:crossAx val="2094734552"/>
        <c:crossesAt val="0.5"/>
        <c:auto val="1"/>
        <c:lblAlgn val="ctr"/>
        <c:noMultiLvlLbl val="1"/>
        <c:majorUnit val="0.2"/>
      </c:valAx>
      <c:valAx>
        <c:axId val="2094734552"/>
        <c:scaling>
          <c:orientation val="minMax"/>
          <c:max val="5.5"/>
          <c:min val="0.5"/>
        </c:scaling>
        <c:delete val="1"/>
        <c:axPos val="l"/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zh-CN"/>
          </a:p>
        </c:txPr>
        <c:crossAx val="2094734554"/>
        <c:crossesAt val="-0.4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其他用户（7,192条）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 / 赞许</c:v>
                  </c:pt>
                  <c:pt idx="1">
                    <c:v>感谢</c:v>
                  </c:pt>
                  <c:pt idx="2">
                    <c:v>问候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16.879866518353726</c:v>
                </c:pt>
                <c:pt idx="1">
                  <c:v>0.5839822024471636</c:v>
                </c:pt>
                <c:pt idx="2">
                  <c:v>4.365962180200222</c:v>
                </c:pt>
                <c:pt idx="3">
                  <c:v>4.14349276974416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帖主（4,403条）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 / 赞许</c:v>
                  </c:pt>
                  <c:pt idx="1">
                    <c:v>感谢</c:v>
                  </c:pt>
                  <c:pt idx="2">
                    <c:v>问候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4.519645696116284</c:v>
                </c:pt>
                <c:pt idx="1">
                  <c:v>7.880990233931411</c:v>
                </c:pt>
                <c:pt idx="2">
                  <c:v>5.382693617987735</c:v>
                </c:pt>
                <c:pt idx="3">
                  <c:v>2.9298205768794006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观测回复覆盖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 / 赞许</c:v>
                  </c:pt>
                  <c:pt idx="1">
                    <c:v>未命中该词类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43.4745763</c:v>
                </c:pt>
                <c:pt idx="1">
                  <c:v>56.2718733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首回含感谢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 / 赞许</c:v>
                  </c:pt>
                  <c:pt idx="1">
                    <c:v>未命中该词类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26.705653</c:v>
                </c:pt>
                <c:pt idx="1">
                  <c:v>6.3829787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明确回复构成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帖主 → 其他用户</c:v>
                  </c:pt>
                  <c:pt idx="1">
                    <c:v>其他用户 → 帖主</c:v>
                  </c:pt>
                  <c:pt idx="2">
                    <c:v>其他用户 → 其他用户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88.96368829049368</c:v>
                </c:pt>
                <c:pt idx="1">
                  <c:v>9.057527539779683</c:v>
                </c:pt>
                <c:pt idx="2">
                  <c:v>1.9787841697266422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12分钟版｜本页预算8秒（已含页面阅读停顿）
我们看Keep里的内容、点赞和评论，依次回答三个研究问题。
讲述重点：开场点出三个研究问题。
来源：课程小组汇报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12分钟版｜本页预算35秒（已含页面阅读停顿）
Keep既记录运动，也包含经验和生活分享。创作者关心什么内容得到反馈，平台关心互动是否集中在少数账号。我们拆为三个问题：先描述内容和点赞，再检验文字及主题与点赞的关联，最后看评论说什么、谁回应谁、由多少人参与。右栏是可能的解释，后文逐项检验。
讲述重点：补充研究意义，总问题与三个RQ一一对应。
来源：原报告§1；同伴版研究设计页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12分钟版｜本页预算40秒（已含页面阅读停顿）
样本有9,532帖、100位作者，以及去重后的11,595条评论。重复评论删重，缺失正文保留并标记；点赞与浏览口径不同，因此不算点赞率。只有1,323帖采到评论，其余覆盖记为未知。模型日期和时段统一用北京时间。主题另有2,470帖的子样本，不能把它当作全部内容。
讲述重点：补齐评论覆盖未知与北京时间处理；表格保留供核对。
来源：summary.json；analyze.py时间与清洗；dyx第3页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12分钟版｜本页预算32秒（已含页面阅读停顿）
图片和视频帖平均约51和48个赞，文字与无媒体约8和4个。整体分布中，大量帖子在低区间，少量高赞拖出长尾：均值37，中位数25，最高超过五千。因此描述普通帖不能只报平均数，还要同时看中位数与尾部。媒体和反馈的分布已经看到，接着进入正文内容，看这些帖子主要讨论什么。
讲述重点：只回答分布，不提前讲控制模型。
来源：media_summary.csv；descriptive_statistics.csv；既有post_features分布汇总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12分钟版｜本页预算32秒（已含页面阅读停顿）
有效正文提取了五类主题，训练交流占52.7%，生活感悟和问候占35.8%，合计88.5%。所以这批Keep文字不只有打卡和运动成绩，也有大量日常表达。这里按每帖权重最大的主题统计篇幅，一人可以贡献很多帖。要判断某种内容是否普遍，还要看它是不是被少数高产作者放大。
讲述重点：先解释两大主题的真实内容，再引出作者等权。
来源：extension_topics.csv；extension_summary.json；topic_labels.json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12分钟版｜本页预算27秒（已含页面阅读停顿）
静蹲按帖子统计占3.4%，让每位作者等权后只剩0.6%。85帖里78帖来自一人，所以这里的常见更多反映一位作者的持续记录。训练和生活两大主题换权重后仍占主要份额。这一步让RQ1的内容分布更准确：既看到训练与生活并存，也分清一种主题是很多人都在写，还是少数人反复记录。
讲述重点：把作者权重作为内容分布的校准，完成RQ1的描述。
来源：supplemental_topic_author_weighting.csv；extension_topics.csv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12分钟版｜本页预算12秒（已含页面阅读停顿）
RQ1看到媒体点赞不同、整体有长尾；训练和生活是正文主线，小主题还受高产作者影响。下面检验文字关联。
讲述重点：一句回答后转入RQ2，不重复数字。
来源：样本、媒体分布、主题与作者权重结果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12分钟版｜本页预算32秒（已含页面阅读停顿）
RQ2先定义五项文字线索：长度取对数，自律、社交、积极表达和问号命中记一，各项可以重叠。右图看到，四类命中组的原始平均点赞都更高。但这还不是用词效果，下一页看组别的媒体和作者构成。回归结果仍用一加点赞的对数。
讲述重点：把变量定义与原始均值放在一起；比较顺序仍属RQ2。
来源：text_dictionary.json；text_features_summary.csv；dyx第6页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12分钟版｜本页预算28秒（已含页面阅读停顿）
积极表达命中组平均约57赞，未命中约36赞。但图片或视频占比也从69.1%升到94.9%，涉及的作者范围同样不同。因此要把文字、媒体、作者和日期一起纳入模型，判断这些用词是否还有额外关联。
讲述重点：用媒体构成的实际差别引出控制模型，不重复上一页原始均值图。
来源：descriptive_additions.json；dyx第10页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12分钟版｜本页预算40秒（已含页面阅读停顿）
这页写出具体方程。M3以一加点赞数的对数为结果，X是五项文字线索，C是已记录情境，另加作者和日期固定效应。作者效应让比较更多利用同一作者不同帖子间的变化。M1到M2的拟合度由0.563升到0.685，说明作者差异有助于拟合。但积极表达在M1中就已为负，不能把原始均值与M3的差别单独归因于加入作者效应。下一页的系数、区间和显著性都对应M3。
讲述重点：读方程的组成，明确下一页是哪一个模型的推断。
来源：analyze.py formula()/models()；model_fit.csv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12分钟版｜本页预算45秒（已含页面阅读停顿）
这是M3的完整五项结果。积极表达系数负0.086，原始区间不跨零，p为0.016；但五项一起做BH校正后，q为0.079，未达到5%标准。这两个判断并不矛盾：前者看单项，后者考虑同时尝试多项线索。五项新增解释度仅0.065个百分点，联合p为0.130。我们能说原始用词优势没有保留，不能说积极用词导致点赞下降。接着排查这个负向方向是否由缺失、极端值或单个作者主导。
讲述重点：解释p与q的区别、整组新增解释，以及为什么继续做敏感性分析。
来源：regression_coefficients.csv M3；summary.json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12分钟版｜本页预算35秒（已含页面阅读停顿）
把自律、社交和积极表达放在一起看：不同处理下，积极表达方向都为负，自律和社交则没有同样的一致方向。但PPML的积极表达区间跨零，方向一致仍不足以确认稳定负效应。表中保留了具体系数和区间，接着看整篇内容的主题能否补充关联。
讲述重点：用三联区间图呈现敏感性；只口头解释方向与不确定性，不逐格读表。
来源：regression_coefficients.csv；model_fit.csv；dyx第13页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12分钟版｜本页预算42秒（已含页面阅读停顿）
在M3原有项之外增加四项连续主题权重，以训练交流为参照。生活问候相对训练增加十个百分点，点估计对应一加点赞的条件几何均值约低1.4%；但校正后q为0.107，主题联合p为0.166。宽区间和校正结果不足以支持稳定的主题点赞排序。把它与前面的用词结果合起来，才能完成RQ2关于文字和主题关联的回答。
讲述重点：只检验主题与点赞的关联，不复述RQ1的主题份额。
来源：extension_topic_regression.csv；extend_analysis.py；extension_summary.json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12分钟版｜本页预算15秒（已含页面阅读停顿）
RQ2没有找到这些用词和主题具有稳定点赞优势的证据。调整后的负向结果也不能解释成积极表达降低点赞，更不能说文字普遍无效。下面看评论这种更具体的反馈。
讲述重点：给出RQ2回答与解释边界，不重复表中数字。
来源：M3、敏感性与连续主题权重回归结果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12分钟版｜本页预算30秒（已含页面阅读停顿）
评论中位长度六个字符。“加油”涉及431人，“谢谢”只有53人，前者使用面更广，后者更集中。按角色看，读者更常赞许，帖主更常感谢。但总体词频还不能告诉我们某条留言怎样被回，所以下一步逐条配对。
讲述重点：解释发言人数与角色差异，不逐项读图中比例。
来源：comment_text_features.csv；comment_text_terms.csv；comment_text_summary.json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12分钟版｜本页预算45秒（已含页面阅读停顿）
以6,609条外来根评论为单位，从留言发出起七天内查找帖主的直接回复，有回复时只取最早一条。左图看全部根评论：鼓励组的观测回复比例是43.5%，低于56.3%。右图只看已回复记录：鼓励组首回含感谢为26.7%，高于6.4%。所以，更常感谢不等于更容易被回。这只是描述性对照，接着看回复怎样形成账号之间的往来。
讲述重点：先交代配对规则，再解释两张图的不同分母；不讲线程参与。
来源：supplemental_direct_reply_language.csv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12分钟版｜本页预算30秒（已含页面阅读停顿）
根评论连到帖主，明确回复连到被回复账号，多次互动累加为边权，并排除自我互动。忽略方向后，94.4%的账号处于最大连通部分，但密度仅0.0473%：许多人通过帖主间接相连，直接往来却很稀疏。下一页再看谁在接话。
讲述重点：说明建边规则与结构结论，账号数和边数留在图旁核对。
来源：summary.json network；figures/06_comment_network.png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12分钟版｜本页预算25秒（已含页面阅读停顿）
明确回复中，89%由帖主发给其他用户，用户彼此回复只有2%。这些往来主要是读者面向帖主留言、帖主接话。注意，89%是回复事件构成，不是留言被回率。下一页进一步看这些留言和回话怎样形成双向连接。
讲述重点：用回复方向解释网络，再转入次数和参与人数。
来源：extension_comment_roles.csv；summary.json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12分钟版｜本页预算30秒（已含页面阅读停顿）
全部互动中，49.6%的有向边同时有反向连接；只看明确回复降到29.9%，说明根评论加回话构成了不少双向往来。首周互惠率为74.1%，但账号和边的构成也换了，不能解释成同一批关系后来变淡。接着看高互动量由多少人贡献。
讲述重点：分清边层面的互惠率、事件集中度和两种观察窗口。
来源：summary.json network；extension_window_networks.csv；dyx第21页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12分钟版｜本页预算30秒（已含页面阅读停顿）
U1528收到1,378次，来自53人；U0948收到1,275次，却来自1,091人。两者次数接近，参与范围差别很大。U0112的180次只来自4人，也说明高互动量可能是少数人反复出现。次数和不同发送者人数要一起看，才能判断这些留言由多广的参与面构成。
讲述重点：用两个主要账号解释次数与人数；第三例点到即可，直接收束RQ3。
来源：network_nodes.csv；summary.json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12分钟版｜本页预算18秒（已含页面阅读停顿）
更常感谢不等于更容易被回。回话主要围绕帖主，互惠率随规则和窗口变化；高留言量也可能来自少数人，因此还要看参与人数。
讲述重点：串起语言、回复、双向关系与参与广度。
来源：评论语言、直接配对、双向关系、窗口比较与参与人数结果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12分钟版｜本页预算25秒（已含页面阅读停顿）
这些结论来自100位作者，正文和评论覆盖也不完整，不能推广到全平台。缺少曝光和统一观察时点，回归仍然是关联。后续需要补齐记录、统一观察窗口，再验证具体做法能否改变反馈。
讲述重点：只讲样本与覆盖、观察性关联以及对应改进。
来源：原报告§9.3—9.4；数据与模型口径核查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12分钟版｜本页预算8秒（已含页面阅读停顿）
陈霖负责问题提出、清洗和RQ1，董依心负责RQ2与RQ3。谢谢大家。
讲述重点：按确认分工署名。
来源：用户确认的实际分工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chart" Target="..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社交媒体网络分析 · 课程小组汇报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23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dirty="0">
                <a:solidFill>
                  <a:srgbClr val="C3D9C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</a:t>
            </a:r>
            <a:endParaRPr lang="zh-CN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内容表达与</a:t>
            </a:r>
            <a:endParaRPr lang="zh-CN" sz="4000" dirty="0"/>
          </a:p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互动反馈分析</a:t>
            </a:r>
            <a:endParaRPr lang="zh-CN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6732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DCEAE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哪些内容获得更多点赞反馈，评论又如何互动？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44982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  ·  董依心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研究背景、意义与研究问题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研究背景、问题与预期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预期是待检验的可能解释，后文按相同RQ编号逐项回答。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健身社区里，什么内容受到关注，人们又怎样交流？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1762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Keep既记录运动，也承载经验、感受与生活分享。点赞体现可见反馈，评论记录谁在接话。</a:t>
            </a:r>
            <a:endParaRPr lang="zh-CN" sz="1700" dirty="0"/>
          </a:p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创作者关心什么内容得到关注；平台则关心互动是否集中在少数账号、是否有更多人参与。</a:t>
            </a:r>
            <a:endParaRPr lang="zh-CN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三个具体问题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301752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对应预期：可能出现的结果</a:t>
            </a:r>
            <a:endParaRPr lang="zh-CN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927080" cy="81381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657600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样本主要呈现什么内容，点赞怎样分布？</a:t>
            </a:r>
            <a:endParaRPr lang="zh-CN" sz="1750" dirty="0"/>
          </a:p>
        </p:txBody>
      </p:sp>
      <p:sp>
        <p:nvSpPr>
          <p:cNvPr id="13" name="Text 11"/>
          <p:cNvSpPr/>
          <p:nvPr/>
        </p:nvSpPr>
        <p:spPr>
          <a:xfrm>
            <a:off x="6419088" y="36118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媒体反馈可能不同，高赞帖可能拉高均值；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正文也可能同时包含运动与生活分享。</a:t>
            </a:r>
            <a:endParaRPr lang="zh-CN" sz="16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27080" cy="813816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54456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文字表达与主题是否与点赞有关？</a:t>
            </a:r>
            <a:endParaRPr lang="zh-CN" sz="1750" dirty="0"/>
          </a:p>
        </p:txBody>
      </p:sp>
      <p:sp>
        <p:nvSpPr>
          <p:cNvPr id="16" name="Text 14"/>
          <p:cNvSpPr/>
          <p:nvPr/>
        </p:nvSpPr>
        <p:spPr>
          <a:xfrm>
            <a:off x="6419088" y="44988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自律、积极表达或提问可能对应较高点赞；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调整作者与情境后，这些差异可能变化。</a:t>
            </a:r>
            <a:endParaRPr lang="zh-CN" sz="1650" dirty="0"/>
          </a:p>
        </p:txBody>
      </p:sp>
      <p:sp>
        <p:nvSpPr>
          <p:cNvPr id="17" name="Shape 15"/>
          <p:cNvSpPr/>
          <p:nvPr/>
        </p:nvSpPr>
        <p:spPr>
          <a:xfrm>
            <a:off x="640080" y="5276088"/>
            <a:ext cx="10927080" cy="81381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431536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评论说什么，形成怎样的互动网络？</a:t>
            </a:r>
            <a:endParaRPr lang="zh-CN" sz="1750" dirty="0"/>
          </a:p>
        </p:txBody>
      </p:sp>
      <p:sp>
        <p:nvSpPr>
          <p:cNvPr id="19" name="Text 17"/>
          <p:cNvSpPr/>
          <p:nvPr/>
        </p:nvSpPr>
        <p:spPr>
          <a:xfrm>
            <a:off x="6419088" y="53858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读者与帖主、读者彼此都可能互动；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评论量可能来自广泛参与或少数人反复往来。</a:t>
            </a:r>
            <a:endParaRPr lang="zh-CN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数据来源、清洗与分析方法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数据来源与清洗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课程100位作者样本；帖子发表于2020年11—12月（UTC），评论最晚至2021年8月。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9,532</a:t>
            </a:r>
            <a:endParaRPr lang="zh-CN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 · 100位作者</a:t>
            </a:r>
            <a:endParaRPr lang="zh-CN" sz="1550" dirty="0"/>
          </a:p>
        </p:txBody>
      </p:sp>
      <p:sp>
        <p:nvSpPr>
          <p:cNvPr id="9" name="Text 7"/>
          <p:cNvSpPr/>
          <p:nvPr/>
        </p:nvSpPr>
        <p:spPr>
          <a:xfrm>
            <a:off x="4370832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11,595</a:t>
            </a:r>
            <a:endParaRPr lang="zh-CN" sz="3400" dirty="0"/>
          </a:p>
        </p:txBody>
      </p:sp>
      <p:sp>
        <p:nvSpPr>
          <p:cNvPr id="10" name="Text 8"/>
          <p:cNvSpPr/>
          <p:nvPr/>
        </p:nvSpPr>
        <p:spPr>
          <a:xfrm>
            <a:off x="4370832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去重后评论</a:t>
            </a:r>
            <a:endParaRPr lang="zh-CN" sz="1550" dirty="0"/>
          </a:p>
        </p:txBody>
      </p:sp>
      <p:sp>
        <p:nvSpPr>
          <p:cNvPr id="11" name="Text 9"/>
          <p:cNvSpPr/>
          <p:nvPr/>
        </p:nvSpPr>
        <p:spPr>
          <a:xfrm>
            <a:off x="8092440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1,323</a:t>
            </a:r>
            <a:endParaRPr lang="zh-CN" sz="3400" dirty="0"/>
          </a:p>
        </p:txBody>
      </p:sp>
      <p:sp>
        <p:nvSpPr>
          <p:cNvPr id="12" name="Text 10"/>
          <p:cNvSpPr/>
          <p:nvPr/>
        </p:nvSpPr>
        <p:spPr>
          <a:xfrm>
            <a:off x="809244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采集到评论的帖子</a:t>
            </a:r>
            <a:endParaRPr lang="zh-CN" sz="15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944368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114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核查发现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处理方式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分析含义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1,916行重复评论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按评论ID去重，无字段冲突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避免同一发言被重复计入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3,984帖缺可用正文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保留；文字计数设0并另作标记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不能把缺失当作真实无文字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8,286帖点赞高于记录浏览数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使用累计点赞，不计算点赞率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不解释为曝光转化效率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仅1,323帖有已采集评论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其余帖子的评论覆盖记为未知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不作评论数的全样本回归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原始时间字段按UTC解析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模型日期与时段统一为北京时间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便于按国内用户的发布情境比较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85800" y="5715000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5,414帖清理后有非空正文；主题分析另筛选2,470帖、86位作者。</a:t>
            </a:r>
            <a:endParaRPr lang="zh-CN" sz="1550" dirty="0"/>
          </a:p>
          <a:p>
            <a:pPr indent="0" marL="0">
              <a:buNone/>
            </a:pPr>
            <a:r>
              <a:rPr lang="zh-CN" altLang="en-US" sz="15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正文覆盖随媒体和作者而不同，主题比例不能当作全部9,532帖的内容比例。</a:t>
            </a:r>
            <a:endParaRPr lang="zh-CN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图片和视频帖点赞更高，整体分布同时存在长尾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两图为原始描述；右图显示各点赞区间的帖子数，区间宽度不同，不表示概率密度。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不同媒体的平均点赞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6364224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点赞区间中的帖子数</a:t>
            </a:r>
            <a:endParaRPr lang="zh-CN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03504" y="2157984"/>
          <a:ext cx="5276088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263640" y="2157984"/>
          <a:ext cx="5340096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94944" y="4892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均值37.05  ·  中位数25  ·  95%分位109.45  ·  最高5,126</a:t>
            </a:r>
            <a:endParaRPr lang="zh-CN" sz="1800" dirty="0"/>
          </a:p>
        </p:txBody>
      </p:sp>
      <p:sp>
        <p:nvSpPr>
          <p:cNvPr id="12" name="Text 8"/>
          <p:cNvSpPr/>
          <p:nvPr/>
        </p:nvSpPr>
        <p:spPr>
          <a:xfrm>
            <a:off x="694944" y="55046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少量高赞帖拉高平均数，均值不能代表普通帖；媒体均值也相差约一个数量级。</a:t>
            </a:r>
            <a:endParaRPr lang="zh-CN" sz="1800" dirty="0"/>
          </a:p>
        </p:txBody>
      </p:sp>
      <p:sp>
        <p:nvSpPr>
          <p:cNvPr id="13" name="Text 9"/>
          <p:cNvSpPr/>
          <p:nvPr/>
        </p:nvSpPr>
        <p:spPr>
          <a:xfrm>
            <a:off x="694944" y="6025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媒体形式和点赞分布说明了反馈的基本差异；接着看有正文的帖子主要在写什么。</a:t>
            </a:r>
            <a:endParaRPr lang="zh-CN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帖子正文主题主要包括运动和生活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TF-IDF + 非负矩阵分解（NMF），固定提取5类主题；命名不参考点赞。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/ 23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28800"/>
          <a:ext cx="6537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71232" y="1792224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2,470帖 · 86位作者</a:t>
            </a:r>
            <a:endParaRPr lang="zh-CN" sz="2200" dirty="0"/>
          </a:p>
        </p:txBody>
      </p:sp>
      <p:sp>
        <p:nvSpPr>
          <p:cNvPr id="9" name="Text 6"/>
          <p:cNvSpPr/>
          <p:nvPr/>
        </p:nvSpPr>
        <p:spPr>
          <a:xfrm>
            <a:off x="7571232" y="2249424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用非负矩阵分解（NMF）提取主题</a:t>
            </a:r>
            <a:endParaRPr lang="zh-CN" sz="1400" dirty="0"/>
          </a:p>
        </p:txBody>
      </p:sp>
      <p:sp>
        <p:nvSpPr>
          <p:cNvPr id="10" name="Text 7"/>
          <p:cNvSpPr/>
          <p:nvPr/>
        </p:nvSpPr>
        <p:spPr>
          <a:xfrm>
            <a:off x="7571232" y="2670048"/>
            <a:ext cx="4014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训练交流：运动、减脂、训练、拉伸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生活问候：人生、生活、早安、美好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571232" y="3749040"/>
            <a:ext cx="40142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前两类合计88.5%。这批有效正文不仅讨论如何训练，也经常写感受、生活和问候，不能把健身社区里的文字都当成运动成绩记录。</a:t>
            </a:r>
            <a:endParaRPr lang="zh-CN" sz="1800" dirty="0"/>
          </a:p>
        </p:txBody>
      </p:sp>
      <p:sp>
        <p:nvSpPr>
          <p:cNvPr id="12" name="Text 9"/>
          <p:cNvSpPr/>
          <p:nvPr/>
        </p:nvSpPr>
        <p:spPr>
          <a:xfrm>
            <a:off x="676656" y="5852160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占比按每帖权重最大的主题归类。同一作者可写多个主题，内容量大也可能是某些人写得多。</a:t>
            </a:r>
            <a:endParaRPr 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常见主题，也可能来自少数人的高频记录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两组沿用同一主题分类；作者等权先计算每人的主题比例，再对86位作者平均。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 / 23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10512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89520" y="18288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静蹲：3.4% → 0.6%</a:t>
            </a:r>
            <a:endParaRPr lang="zh-CN" sz="2600" dirty="0"/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39776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85条主导文档中，78条来自同一作者。按帖看是在统计这种记录出现了多少次；作者等权后，才减少了高产作者的重复贡献。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89520" y="4645152"/>
            <a:ext cx="39776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训练52.7% → 52.6%，生活35.8% → 38.2%。两条主要内容线仍在，变化集中在部分小主题。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685800" y="5998464"/>
            <a:ext cx="10835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训练和生活是两条主要内容线；部分小主题的份额，则会被少数作者的持续记录放大。</a:t>
            </a:r>
            <a:endParaRPr lang="zh-CN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RQ1的回答：这批帖子的内容和点赞怎样分布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范围：9,532帖；主题比例仅代表2,470条有效正文、86位作者。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媒体不同，收到的点赞并不均匀。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图片和视频帖平均约51、48赞，文字与无媒体约8、4赞。整体均值37.05高于中位数25，少量高赞把分布拉出长尾；单用平均数会高估普通帖子的反馈水平。</a:t>
            </a:r>
            <a:endParaRPr lang="zh-CN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3675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正文同时包含训练交流和生活分享，篇幅也受作者影响。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306824"/>
            <a:ext cx="10652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训练交流52.7%、生活问候35.8%，作者等权后仍是两条主线。静蹲却由3.4%降至0.6%，其中85帖有78帖来自一人：这种记录出现多，不等于很多作者都在写。</a:t>
            </a:r>
            <a:endParaRPr lang="zh-CN" sz="1900" dirty="0"/>
          </a:p>
        </p:txBody>
      </p:sp>
      <p:sp>
        <p:nvSpPr>
          <p:cNvPr id="11" name="Shape 9"/>
          <p:cNvSpPr/>
          <p:nvPr/>
        </p:nvSpPr>
        <p:spPr>
          <a:xfrm>
            <a:off x="676656" y="5596128"/>
            <a:ext cx="10936224" cy="58521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74243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RQ2接着问：把媒体、作者与日期一起纳入比较后，文字或主题与点赞还有多大关联？</a:t>
            </a:r>
            <a:endParaRPr lang="zh-CN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不同文字表达的原始点赞有差异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词表识别字面线索，不是情绪量表；各词类可重叠，图中原始均值未作调整。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 / 23</a:t>
            </a:r>
            <a:endParaRPr lang="zh-CN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819656"/>
          <a:ext cx="5532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8620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五项文字变量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定义与例子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正文长度 L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ln(1+清理后字符数)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 D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坚持、自律、目标、第N天等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 S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大家、小伙伴、谢谢、一起等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 P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开心、快乐、喜欢、哈哈等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 Q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全角或半角问号，出现记1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10528" y="1709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各词类的原始平均点赞</a:t>
            </a:r>
            <a:endParaRPr lang="zh-CN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36792" y="2048256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685800" y="5193792"/>
            <a:ext cx="5577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除长度外，命中记1；一帖可同时命中多个词类。</a:t>
            </a:r>
            <a:endParaRPr lang="zh-CN" sz="1450" dirty="0"/>
          </a:p>
        </p:txBody>
      </p:sp>
      <p:sp>
        <p:nvSpPr>
          <p:cNvPr id="11" name="Text 7"/>
          <p:cNvSpPr/>
          <p:nvPr/>
        </p:nvSpPr>
        <p:spPr>
          <a:xfrm>
            <a:off x="685800" y="574243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回归结果变量：ln(1+点赞数)，</a:t>
            </a:r>
            <a:endParaRPr lang="zh-CN" sz="1600" dirty="0"/>
          </a:p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用于处理RQ1看到的点赞长尾。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6510528" y="5532120"/>
            <a:ext cx="50017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四类命中组的原始均值都较高。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下一步检查：媒体和作者构成是否也不同？</a:t>
            </a:r>
            <a:endParaRPr lang="zh-CN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文字与点赞的原始差异，也伴随媒体构成差异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变量已在第8页定义；图示为各组图片或视频帖占比，尚未调整作者与发布情境。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积极表达两组的图片 / 视频帖占比</a:t>
            </a:r>
            <a:endParaRPr lang="zh-CN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2221992"/>
          <a:ext cx="6537960" cy="31912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16368" y="1947672"/>
          <a:ext cx="4087368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3441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组别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帖数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涉及作者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命中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574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64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未命中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8,958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100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562088" y="4041648"/>
            <a:ext cx="40050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平均点赞：57.29 vs 35.76</a:t>
            </a:r>
            <a:endParaRPr lang="zh-CN" sz="2000" dirty="0"/>
          </a:p>
        </p:txBody>
      </p:sp>
      <p:sp>
        <p:nvSpPr>
          <p:cNvPr id="11" name="Text 7"/>
          <p:cNvSpPr/>
          <p:nvPr/>
        </p:nvSpPr>
        <p:spPr>
          <a:xfrm>
            <a:off x="7562088" y="4828032"/>
            <a:ext cx="4005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两组的媒体和作者构成都不同，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不能把原始差异直接归给措辞。</a:t>
            </a:r>
            <a:endParaRPr lang="zh-CN" sz="1750" dirty="0"/>
          </a:p>
        </p:txBody>
      </p:sp>
      <p:sp>
        <p:nvSpPr>
          <p:cNvPr id="12" name="Text 8"/>
          <p:cNvSpPr/>
          <p:nvPr/>
        </p:nvSpPr>
        <p:spPr>
          <a:xfrm>
            <a:off x="685800" y="5943600"/>
            <a:ext cx="10853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下一步：同时纳入媒体、作者和日期，比较文字线索是否仍有额外关联。</a:t>
            </a:r>
            <a:endParaRPr lang="zh-CN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用作者与日期固定效应，进一步改善比较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主分析为OLS；N=9,532、100位作者，标准误按作者聚类，五项核心系数采用BH校正。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 / 23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700784"/>
            <a:ext cx="10972800" cy="8595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938528"/>
            <a:ext cx="105887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主模型 M3：ln(1 + 点赞数) = β′X + γ′C + α作者 + δ日期 + ε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X：文本长度（对数）、自律、社交、积极、问号。C：正文可用、话题、表情数、课程分享，以及媒体、业务类型、时段。</a:t>
            </a:r>
            <a:endParaRPr lang="zh-CN" sz="15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547872"/>
          <a:ext cx="1097280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4645152"/>
                <a:gridCol w="1097280"/>
                <a:gridCol w="393192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调整范围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R²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积极表达系数 / 原始p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M1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已记录作者属性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0.563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−0.050 / 0.285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M2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作者固定效应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0.685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−0.087 / 0.016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 主模型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作者、日期固定效应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0.688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 / 0.016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85800" y="568756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加入作者固定效应后拟合度提高，提示作者差异值得考虑；积极表达在M1中就已为负。</a:t>
            </a:r>
            <a:endParaRPr lang="zh-CN" sz="1750" dirty="0"/>
          </a:p>
        </p:txBody>
      </p:sp>
      <p:sp>
        <p:nvSpPr>
          <p:cNvPr id="12" name="Text 9"/>
          <p:cNvSpPr/>
          <p:nvPr/>
        </p:nvSpPr>
        <p:spPr>
          <a:xfrm>
            <a:off x="685800" y="6144768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8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这里比较的是调整后的对数结果，不能把与原始均值的差别单独归因于某一个控制项。</a:t>
            </a:r>
            <a:endParaRPr lang="zh-CN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M3没有保留原始用词优势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表中为M3的作者聚类推断；95%区间与p为原始值，BH q同时考虑五项核心检验。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 / 23</a:t>
            </a:r>
            <a:endParaRPr lang="zh-CN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10512"/>
          <a:ext cx="7589520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941832"/>
                <a:gridCol w="2596896"/>
                <a:gridCol w="969264"/>
                <a:gridCol w="108813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文字特征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系数β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长度 ln(1+字数)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0.028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[−0.008, 0.064]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0.130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−0.119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[−0.293, 0.054]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0.176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−0.004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[−0.131, 0.122]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0.079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[−0.100, 0.316]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0.307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0.383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430768" y="1847088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积极表达：β = −0.086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8430768" y="2880360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原始p = 0.016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BH q = 0.079</a:t>
            </a:r>
            <a:endParaRPr lang="zh-CN" sz="2100" dirty="0"/>
          </a:p>
        </p:txBody>
      </p:sp>
      <p:sp>
        <p:nvSpPr>
          <p:cNvPr id="10" name="Text 7"/>
          <p:cNvSpPr/>
          <p:nvPr/>
        </p:nvSpPr>
        <p:spPr>
          <a:xfrm>
            <a:off x="8430768" y="4032504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积极表达单项区间不跨0；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但BH校正后，五项特征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均未达到5%标准。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67512" y="52852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五项文字线索仅增加0.065个百分点R²，联合检验 p = 0.130。</a:t>
            </a:r>
            <a:endParaRPr lang="zh-CN" sz="1800" dirty="0"/>
          </a:p>
        </p:txBody>
      </p:sp>
      <p:sp>
        <p:nvSpPr>
          <p:cNvPr id="12" name="Text 9"/>
          <p:cNvSpPr/>
          <p:nvPr/>
        </p:nvSpPr>
        <p:spPr>
          <a:xfrm>
            <a:off x="667512" y="57698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原始均值优势没有在调整后的比较中保留；这不足以推出“积极用词降低点赞”。</a:t>
            </a:r>
            <a:endParaRPr lang="zh-CN" sz="1700" dirty="0"/>
          </a:p>
        </p:txBody>
      </p:sp>
      <p:sp>
        <p:nvSpPr>
          <p:cNvPr id="13" name="Text 10"/>
          <p:cNvSpPr/>
          <p:nvPr/>
        </p:nvSpPr>
        <p:spPr>
          <a:xfrm>
            <a:off x="667512" y="6199632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还要核查：负向方向是否依赖缺失正文、极端高赞帖或某一位作者？</a:t>
            </a:r>
            <a:endParaRPr lang="zh-CN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敏感性分析：三类表达的方向与区间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横线为原始95%区间；M3/R1—R3解释ln(1+点赞)，PPML拟合点赞均值，两者尺度不同。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6367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自律 / 目标</a:t>
            </a:r>
            <a:endParaRPr lang="zh-CN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691640" y="2011680"/>
          <a:ext cx="31546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20279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主模型</a:t>
            </a:r>
            <a:endParaRPr lang="zh-CN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54660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仅可见正文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89041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去最高1%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234233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作者等权</a:t>
            </a:r>
            <a:endParaRPr lang="zh-CN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578047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PPML计数</a:t>
            </a:r>
            <a:endParaRPr lang="zh-CN" sz="1100" dirty="0"/>
          </a:p>
        </p:txBody>
      </p:sp>
      <p:sp>
        <p:nvSpPr>
          <p:cNvPr id="14" name="Text 11"/>
          <p:cNvSpPr/>
          <p:nvPr/>
        </p:nvSpPr>
        <p:spPr>
          <a:xfrm>
            <a:off x="5074920" y="16367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社交 / 互助</a:t>
            </a:r>
            <a:endParaRPr lang="zh-CN" sz="16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5074920" y="2011680"/>
          <a:ext cx="31546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8458200" y="16367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</a:t>
            </a:r>
            <a:endParaRPr lang="zh-CN" sz="160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8458200" y="2011680"/>
          <a:ext cx="31546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4443984"/>
          <a:ext cx="10972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11096"/>
                <a:gridCol w="1911096"/>
                <a:gridCol w="1911096"/>
                <a:gridCol w="1911096"/>
                <a:gridCol w="191109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M3主模型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仅可见正文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去最高1%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作者等权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PPML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系数β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−0.090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−0.128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−0.135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[−0.164, −0.015]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[−0.152, −0.012]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[−0.219, −0.036]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[−0.299, 0.028]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原始p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0.019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0.007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0.103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N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5,548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9,436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85800" y="6199632"/>
            <a:ext cx="10853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8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积极表达方向较一致，但PPML区间跨0；100次逐作者剔除均为负，范围[−0.100, −0.074]。</a:t>
            </a:r>
            <a:endParaRPr lang="zh-CN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主题权重能否补充用词以外的点赞关联？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同一子样本N=2,470、86位作者；按作者聚类。回归使用连续主题权重，不是主导主题虚拟变量。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 / 23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0972800" cy="6309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56232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主题模型：M3原有线性项 + Σ θₖwₖ（省去“运动与训练交流”权重作为参照）</a:t>
            </a:r>
            <a:endParaRPr lang="zh-CN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670048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3474720"/>
                <a:gridCol w="1463040"/>
                <a:gridCol w="155448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相对训练交流的主题权重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系数θ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靠墙静蹲记录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−0.315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[−0.636, 0.005]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0.054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骑行里程记录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[−0.523, 0.558]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跑步与训练打卡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−0.471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[−1.048, 0.105]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0.144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生活感悟与问候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−0.144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[−0.278, −0.010]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0.035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4944" y="5175504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生活问候权重相对训练交流增加10个百分点时，“1+点赞”的条件几何均值点估计约低1.4%。</a:t>
            </a:r>
            <a:endParaRPr lang="zh-CN" sz="1700" dirty="0"/>
          </a:p>
        </p:txBody>
      </p:sp>
      <p:sp>
        <p:nvSpPr>
          <p:cNvPr id="11" name="Text 8"/>
          <p:cNvSpPr/>
          <p:nvPr/>
        </p:nvSpPr>
        <p:spPr>
          <a:xfrm>
            <a:off x="694944" y="5705856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但其原始p = 0.035、BH q = 0.107；四项主题联合 p = 0.166，尚不能把点估计当成稳定的主题反馈排序。</a:t>
            </a:r>
            <a:endParaRPr lang="zh-CN" sz="1650" dirty="0"/>
          </a:p>
        </p:txBody>
      </p:sp>
      <p:sp>
        <p:nvSpPr>
          <p:cNvPr id="12" name="Text 9"/>
          <p:cNvSpPr/>
          <p:nvPr/>
        </p:nvSpPr>
        <p:spPr>
          <a:xfrm>
            <a:off x="694944" y="6272784"/>
            <a:ext cx="10817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2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权重范围0–1，系数按100个百分点计；区间未计入主题估计本身的不确定性。</a:t>
            </a:r>
            <a:endParaRPr lang="zh-CN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RQ2的回答：用词和主题与点赞的关联有多稳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结果为观察性关联；词典与主题只覆盖部分文字信息，缺少真实曝光等条件。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46504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原始用词差异同时带着媒体与作者差异。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积极表达命中组的图片/视频占比94.9%，未命中组69.1%。M3调整后积极表达系数为−0.086、BH q=0.079；五项文字线索仅新增0.065个百分点R²，联合p=0.130。</a:t>
            </a:r>
            <a:endParaRPr lang="zh-CN" sz="1850" dirty="0"/>
          </a:p>
        </p:txBody>
      </p:sp>
      <p:sp>
        <p:nvSpPr>
          <p:cNvPr id="9" name="Text 7"/>
          <p:cNvSpPr/>
          <p:nvPr/>
        </p:nvSpPr>
        <p:spPr>
          <a:xfrm>
            <a:off x="713232" y="3648456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换样本后的方向较一致，主题也没有补出稳定优势。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10652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积极表达在多种处理下均为负，但PPML区间跨0；主题权重联合p=0.166。现有记录对这些用词和主题的额外点赞关联，仍缺少足够稳定的证据；这不等于证明文字内容普遍无效。</a:t>
            </a:r>
            <a:endParaRPr lang="zh-CN" sz="1850" dirty="0"/>
          </a:p>
        </p:txBody>
      </p:sp>
      <p:sp>
        <p:nvSpPr>
          <p:cNvPr id="11" name="Shape 9"/>
          <p:cNvSpPr/>
          <p:nvPr/>
        </p:nvSpPr>
        <p:spPr>
          <a:xfrm>
            <a:off x="676656" y="5577840"/>
            <a:ext cx="10936224" cy="612648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733288"/>
            <a:ext cx="10561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RQ3转向另一种反馈：评论里，用户说了什么，留言怎样被回应，又由多少人参与？</a:t>
            </a:r>
            <a:endParaRPr lang="zh-CN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评论长度、词频与发言者角色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词类命中率以各角色全部发言为分母，可重叠；角色按所在帖子确定。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15 / 23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65376"/>
          <a:ext cx="6492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18196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评论较短：中位数6字符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7498080" y="2807208"/>
            <a:ext cx="4069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“加油”612条 / 431人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“谢谢”359条 / 53人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498080" y="4005072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“加油”的使用面更广，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“谢谢”的重复使用更集中。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7498080" y="498348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按角色看：读者更常赞许，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帖主更常感谢。</a:t>
            </a:r>
            <a:endParaRPr lang="zh-CN" sz="1800" dirty="0"/>
          </a:p>
        </p:txBody>
      </p:sp>
      <p:sp>
        <p:nvSpPr>
          <p:cNvPr id="12" name="Text 9"/>
          <p:cNvSpPr/>
          <p:nvPr/>
        </p:nvSpPr>
        <p:spPr>
          <a:xfrm>
            <a:off x="676656" y="592531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所以下一步把根评论与帖主回复配对：鼓励是否更易被回复，回复里又怎样表达？</a:t>
            </a:r>
            <a:endParaRPr lang="zh-CN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鼓励留言是否更容易得到回应？感谢与回复覆盖不同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描述性对照，未作显著性或因果检验；未观察到回复，不等于实际没有回复。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16 / 23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591056"/>
            <a:ext cx="10972800" cy="694944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09928"/>
            <a:ext cx="1064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配对规则：6,609条外来根评论；从留言发出起7天内，查找明确指向该条留言的帖主直接回复。</a:t>
            </a:r>
            <a:endParaRPr lang="zh-CN" sz="1450" dirty="0"/>
          </a:p>
          <a:p>
            <a:pPr indent="0" marL="0">
              <a:buNone/>
            </a:pPr>
            <a:r>
              <a:rPr lang="zh-CN" altLang="en-US" sz="14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根评论指直接发在帖子下、未指定回复对象的留言；有回复时，只取最早一条。</a:t>
            </a:r>
            <a:endParaRPr lang="zh-CN" sz="1450" dirty="0"/>
          </a:p>
        </p:txBody>
      </p:sp>
      <p:sp>
        <p:nvSpPr>
          <p:cNvPr id="9" name="Text 7"/>
          <p:cNvSpPr/>
          <p:nvPr/>
        </p:nvSpPr>
        <p:spPr>
          <a:xfrm>
            <a:off x="676656" y="24231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多少留言观察到7天内直接回复？</a:t>
            </a:r>
            <a:endParaRPr lang="zh-CN" sz="18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已回复记录中，最早回复多少含感谢？</a:t>
            </a:r>
            <a:endParaRPr lang="zh-CN" sz="1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2880360"/>
          <a:ext cx="5303520" cy="1709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6327648" y="2880360"/>
          <a:ext cx="5303520" cy="1709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749808" y="4690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分母：各组全部外来根评论</a:t>
            </a:r>
            <a:endParaRPr lang="zh-CN" sz="1370" dirty="0"/>
          </a:p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513 / 1,180；3,055 / 5,429</a:t>
            </a:r>
            <a:endParaRPr lang="zh-CN" sz="1370" dirty="0"/>
          </a:p>
        </p:txBody>
      </p:sp>
      <p:sp>
        <p:nvSpPr>
          <p:cNvPr id="14" name="Text 10"/>
          <p:cNvSpPr/>
          <p:nvPr/>
        </p:nvSpPr>
        <p:spPr>
          <a:xfrm>
            <a:off x="6483096" y="4690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分母：已观察到直接回复的记录</a:t>
            </a:r>
            <a:endParaRPr lang="zh-CN" sz="1370" dirty="0"/>
          </a:p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137 / 513；195 / 3,055</a:t>
            </a:r>
            <a:endParaRPr lang="zh-CN" sz="1370" dirty="0"/>
          </a:p>
        </p:txBody>
      </p:sp>
      <p:sp>
        <p:nvSpPr>
          <p:cNvPr id="15" name="Text 11"/>
          <p:cNvSpPr/>
          <p:nvPr/>
        </p:nvSpPr>
        <p:spPr>
          <a:xfrm>
            <a:off x="694944" y="5477256"/>
            <a:ext cx="10835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鼓励组的观测回复覆盖低12.8个百分点；但在已回复记录中，感谢词占比高20.3个百分点。</a:t>
            </a:r>
            <a:endParaRPr lang="zh-CN" sz="1750" dirty="0"/>
          </a:p>
        </p:txBody>
      </p:sp>
      <p:sp>
        <p:nvSpPr>
          <p:cNvPr id="16" name="Text 12"/>
          <p:cNvSpPr/>
          <p:nvPr/>
        </p:nvSpPr>
        <p:spPr>
          <a:xfrm>
            <a:off x="694944" y="5934456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回复时更常致谢，不等于鼓励更容易被回。作者和留言情境可能不同；接下来看看谁在接话。</a:t>
            </a:r>
            <a:endParaRPr lang="zh-CN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评论关系网络：间接相连广，直接联系仍稀疏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节点为账号；根评论者→帖主，明确回复者→被回复用户；同向多次互动累加为边权。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17 / 23</a:t>
            </a:r>
            <a:endParaRPr lang="zh-CN" sz="1000" dirty="0"/>
          </a:p>
        </p:txBody>
      </p:sp>
      <p:pic>
        <p:nvPicPr>
          <p:cNvPr id="7" name="Image 0" descr="/Users/lchen/Projects/FDU-Homeworks/social-media-net-analysis/projects/group/figures/06_comment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74520"/>
            <a:ext cx="6327648" cy="35086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96328" y="178308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2,932个有边账号 · 4,069条有向边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7196328" y="2779776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排除84次自我互动后，11,511次事件合并成有向边；图中省略箭头，金色为样本帖作者。</a:t>
            </a:r>
            <a:endParaRPr lang="zh-CN" sz="1650" dirty="0"/>
          </a:p>
        </p:txBody>
      </p:sp>
      <p:sp>
        <p:nvSpPr>
          <p:cNvPr id="10" name="Text 7"/>
          <p:cNvSpPr/>
          <p:nvPr/>
        </p:nvSpPr>
        <p:spPr>
          <a:xfrm>
            <a:off x="7196328" y="39502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共同面向帖主留言，就能把许多账号间接连起。忽略方向后，94.4%处于最大连通部分；密度0.0473%，直接往来仍局限于少量账号配对。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196328" y="55138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这张图回答了账号怎样被连起来。谁在回复谁，下一页再把明确回复单独取出比较。</a:t>
            </a:r>
            <a:endParaRPr lang="zh-CN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回话主要围绕帖主展开，用户彼此回复较少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分母为4,902次非自我明确回复，排除6,609条根评论；89%不是全部评论的回复率。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 / 23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92808"/>
          <a:ext cx="6492240" cy="35295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16368" y="1819656"/>
            <a:ext cx="4069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4,361次 · 89.0%</a:t>
            </a:r>
            <a:endParaRPr lang="zh-CN" sz="2900" dirty="0"/>
          </a:p>
        </p:txBody>
      </p:sp>
      <p:sp>
        <p:nvSpPr>
          <p:cNvPr id="9" name="Text 6"/>
          <p:cNvSpPr/>
          <p:nvPr/>
        </p:nvSpPr>
        <p:spPr>
          <a:xfrm>
            <a:off x="7516368" y="2779776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读者面向帖主留言后，明确回话大多由帖主发出。其他用户彼此回复只有97次，占2.0%。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16368" y="4325112"/>
            <a:ext cx="4069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因此，这批评论更常表现为“向帖主留言—帖主回应”，其他参与者相互回复的份额很小。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5907024"/>
            <a:ext cx="10835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读者留言、帖主回话，会不会在账号之间形成双向连接？接着比较不同建边规则与观察窗口。</a:t>
            </a:r>
            <a:endParaRPr lang="zh-CN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留言与回话形成双向连接，互惠率随观察范围变化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互惠率按有向边计：有反向连接的边数 / 全部有向边数；每边等权，排除自我互动。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19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28216"/>
            <a:ext cx="10744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全部互动 49.6%  →  仅明确回复 29.9%</a:t>
            </a:r>
            <a:endParaRPr lang="zh-CN" sz="2700" dirty="0"/>
          </a:p>
        </p:txBody>
      </p:sp>
      <p:sp>
        <p:nvSpPr>
          <p:cNvPr id="8" name="Text 6"/>
          <p:cNvSpPr/>
          <p:nvPr/>
        </p:nvSpPr>
        <p:spPr>
          <a:xfrm>
            <a:off x="722376" y="2487168"/>
            <a:ext cx="107350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读者向帖主留言，帖主再回话给同一用户，就会形成双向连接。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去掉根评论后互惠率降低，“留言＋回话”是这些双向往来的重要组成。</a:t>
            </a:r>
            <a:endParaRPr lang="zh-CN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465576"/>
          <a:ext cx="1097280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600200"/>
                <a:gridCol w="1325880"/>
                <a:gridCol w="1325880"/>
                <a:gridCol w="1325880"/>
                <a:gridCol w="2606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观察窗口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非自我事件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有边账号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有向边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互惠率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前10位接收占比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全部已采集互动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11,511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2,932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4,069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49.6%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54.0%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各帖发布后7天内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9,451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1,376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2,278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74.1%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48.3%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22376" y="5394960"/>
            <a:ext cx="107259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首周的双向连接占比更高，事件接收也略分散；但窗口内的账号和边同时改变，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不能把差异解释为同一批关系后来变淡。首周从每条帖子的发布时间起算7天。</a:t>
            </a:r>
            <a:endParaRPr lang="zh-CN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高互动量可能来自接触面广，或少数人反复往来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次数为收到的非自我互动事件，人数为不同发送者；“非样本帖作者”不等于从不发帖。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前10位账号接收了54.0%的互动。判断这种集中意味着什么，需把次数和人数放在一起。</a:t>
            </a:r>
            <a:endParaRPr lang="zh-CN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487168"/>
          <a:ext cx="109728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737360"/>
                <a:gridCol w="1691640"/>
                <a:gridCol w="4800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匿名账号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样本帖作者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接收事件次数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不同发送者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这段记录中的突出形态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U1528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1,378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53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已有发送者反复留言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U0948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1,275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1,091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收到更多不同账号的留言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U0112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否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180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与极少数账号集中往来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94944" y="5175504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U1528与U0948接收次数接近，前者只有53位发送者，后者有1,091位。相同“声量”背后，可以是很不一样的参与范围。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694944" y="5806440"/>
            <a:ext cx="10835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U0112的180次只来自4人。看评论区有多热闹，不能只数留言，还要看有多少人在参与。</a:t>
            </a:r>
            <a:endParaRPr lang="zh-CN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RQ3的回答：评论主要怎样形成往来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评论与网络均基于已采集记录；未观察到回复不等于实际没有回复。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21 / 23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读者更常鼓励，帖主更常感谢；逐条配对后，含义更清楚。</a:t>
            </a:r>
            <a:endParaRPr lang="zh-CN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31343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直接配对进一步说明：鼓励组已回复记录中的感谢占比更高，但观测回复覆盖反而较低。回复怎样表达，与多少留言得到回应，需要分开判断。</a:t>
            </a:r>
            <a:endParaRPr lang="zh-CN" sz="1850" dirty="0"/>
          </a:p>
        </p:txBody>
      </p:sp>
      <p:sp>
        <p:nvSpPr>
          <p:cNvPr id="9" name="Text 7"/>
          <p:cNvSpPr/>
          <p:nvPr/>
        </p:nvSpPr>
        <p:spPr>
          <a:xfrm>
            <a:off x="731520" y="3410712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这些发言主要围绕帖主组织，热闹的来源也不一样。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3986784"/>
            <a:ext cx="10607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89%的明确回复由帖主发给其他用户，用户相互回复仅2%。接收次数接近的账号，可以来自53人或1,091人；所以留言量既可能反映广泛参与，也可能是已有发送者反复出现。</a:t>
            </a:r>
            <a:endParaRPr lang="zh-CN" sz="1850" dirty="0"/>
          </a:p>
        </p:txBody>
      </p:sp>
      <p:sp>
        <p:nvSpPr>
          <p:cNvPr id="11" name="Shape 9"/>
          <p:cNvSpPr/>
          <p:nvPr/>
        </p:nvSpPr>
        <p:spPr>
          <a:xfrm>
            <a:off x="676656" y="5385816"/>
            <a:ext cx="10936224" cy="822960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550408"/>
            <a:ext cx="1053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互惠率随建边规则和观察窗口变化；评论多或双向连接多，都还需要结合不同参与者人数判断。</a:t>
            </a:r>
            <a:endParaRPr lang="zh-CN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共同局限与后续改进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研究结论与局限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研究局限：哪些判断还不能由这批记录回答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下一步是补齐记录和统一观察窗口；若检验表达或回复做法的效果，需要另行设计实验。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22 / 23</a:t>
            </a:r>
            <a:endParaRPr lang="zh-CN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792224"/>
          <a:ext cx="10972800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4736592"/>
                <a:gridCol w="3438144"/>
              </a:tblGrid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限制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它怎样影响结论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下一步需要什么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100位作者，抽样机制不明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不能把样本内容比例和回复结构直接推广到全Keep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更清楚的抽样框与作者覆盖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正文、评论覆盖不全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主题与网络代表不同子样本；未采到不等于未发生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补齐正文、评论、图像和视频内容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曝光、粉丝与采集时点缺失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累计点赞仍受未观测差异影响，固定效应不等于因果识别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统一发帖后7天，并记录实际曝光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词典与主题只是内容的部分表征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不能据用词判断情绪；主题区间未计入模型估计不确定性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语义复核、重复抽样与独立验证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4944" y="58795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后续先统一观察窗口，完整记录内容、参与人数和实际回复，再检验具体做法能否改变反馈。</a:t>
            </a:r>
            <a:endParaRPr lang="zh-CN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· Credit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23 / 23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/ Credit</a:t>
            </a:r>
            <a:endParaRPr lang="zh-CN" sz="35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865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941832" y="3264408"/>
            <a:ext cx="4736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问题的提出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数据清洗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RQ1：内容与点赞的分布</a:t>
            </a:r>
            <a:endParaRPr lang="zh-CN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董依心（dyx）</a:t>
            </a:r>
            <a:endParaRPr lang="zh-CN" sz="3100" dirty="0"/>
          </a:p>
        </p:txBody>
      </p:sp>
      <p:sp>
        <p:nvSpPr>
          <p:cNvPr id="10" name="Text 8"/>
          <p:cNvSpPr/>
          <p:nvPr/>
        </p:nvSpPr>
        <p:spPr>
          <a:xfrm>
            <a:off x="6492240" y="3264408"/>
            <a:ext cx="4736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RQ2：文字、主题与点赞的关联</a:t>
            </a:r>
            <a:endParaRPr lang="zh-CN" sz="2050" dirty="0"/>
          </a:p>
          <a:p>
            <a:pPr indent="0" marL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RQ3：评论中的回应与参与</a:t>
            </a:r>
            <a:endParaRPr lang="zh-CN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社交媒体网络分析课程小组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Keep社区内容表达与互动反馈分析</dc:title>
  <dc:subject>八章结构与RQ逐项分析；全部为正文</dc:subject>
  <dc:creator>陈霖、董依心</dc:creator>
  <cp:lastModifiedBy>陈霖、董依心</cp:lastModifiedBy>
  <cp:revision>1</cp:revision>
  <dcterms:created xsi:type="dcterms:W3CDTF">2026-10-28T06:09:09Z</dcterms:created>
  <dcterms:modified xsi:type="dcterms:W3CDTF">2026-10-28T06:09:09Z</dcterms:modified>
</cp:coreProperties>
</file>