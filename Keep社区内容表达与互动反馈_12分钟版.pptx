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研究背景、意义与研究问题" id="{216782af-cb92-736b-903b-64eae75dee6b}">
          <p14:sldIdLst>
            <p14:sldId id="257"/>
          </p14:sldIdLst>
        </p14:section>
        <p14:section name="02 数据来源、清洗与分析方法" id="{6cbf77ff-850a-304d-40e5-fed07dbd79f3}">
          <p14:sldIdLst>
            <p14:sldId id="258"/>
          </p14:sldIdLst>
        </p14:section>
        <p14:section name="03 数据覆盖与描述统计" id="{c6087f16-f4ce-21d8-7d0a-b000f2dc966a}">
          <p14:sldIdLst>
            <p14:sldId id="259"/>
            <p14:sldId id="260"/>
            <p14:sldId id="261"/>
            <p14:sldId id="262"/>
          </p14:sldIdLst>
        </p14:section>
        <p14:section name="04 文字表达与点赞的关联" id="{3d3095e3-480d-8430-a7b7-24f8cf7f6431}">
          <p14:sldIdLst>
            <p14:sldId id="263"/>
            <p14:sldId id="264"/>
            <p14:sldId id="265"/>
            <p14:sldId id="266"/>
            <p14:sldId id="267"/>
          </p14:sldIdLst>
        </p14:section>
        <p14:section name="05 帖子主题与点赞的关联" id="{483407a6-51ac-36bd-b3ef-97e4d3c69202}">
          <p14:sldIdLst>
            <p14:sldId id="268"/>
            <p14:sldId id="269"/>
          </p14:sldIdLst>
        </p14:section>
        <p14:section name="06 评论的主要内容" id="{4e814618-4636-0a2b-1f70-f2e21ff71979}">
          <p14:sldIdLst>
            <p14:sldId id="270"/>
            <p14:sldId id="271"/>
          </p14:sldIdLst>
        </p14:section>
        <p14:section name="07 评论区的网络结构" id="{99e18603-2897-69f0-f86c-cf1a7bc250f3}">
          <p14:sldIdLst>
            <p14:sldId id="272"/>
            <p14:sldId id="273"/>
            <p14:sldId id="274"/>
            <p14:sldId id="275"/>
          </p14:sldIdLst>
        </p14:section>
        <p14:section name="08 研究结论与局限" id="{b1b81eba-a2d5-7cb1-a220-da46570ac69b}">
          <p14:sldIdLst>
            <p14:sldId id="276"/>
          </p14:sldIdLst>
        </p14:section>
        <p14:section name="Default-1" id="{c2625aaf-324e-c494-fc53-e763904a637d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帖子数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1–4</c:v>
                  </c:pt>
                  <c:pt idx="2">
                    <c:v>5–9</c:v>
                  </c:pt>
                  <c:pt idx="3">
                    <c:v>10–24</c:v>
                  </c:pt>
                  <c:pt idx="4">
                    <c:v>25–49</c:v>
                  </c:pt>
                  <c:pt idx="5">
                    <c:v>50–99</c:v>
                  </c:pt>
                  <c:pt idx="6">
                    <c:v>100–199</c:v>
                  </c:pt>
                  <c:pt idx="7">
                    <c:v>200–499</c:v>
                  </c:pt>
                  <c:pt idx="8">
                    <c:v>500+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361</c:v>
                </c:pt>
                <c:pt idx="1">
                  <c:v>2298</c:v>
                </c:pt>
                <c:pt idx="2">
                  <c:v>977</c:v>
                </c:pt>
                <c:pt idx="3">
                  <c:v>1089</c:v>
                </c:pt>
                <c:pt idx="4">
                  <c:v>2203</c:v>
                </c:pt>
                <c:pt idx="5">
                  <c:v>2019</c:v>
                </c:pt>
                <c:pt idx="6">
                  <c:v>438</c:v>
                </c:pt>
                <c:pt idx="7">
                  <c:v>141</c:v>
                </c:pt>
                <c:pt idx="8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52.63472333887843</c:v>
                </c:pt>
                <c:pt idx="1">
                  <c:v>38.15643148325583</c:v>
                </c:pt>
                <c:pt idx="2">
                  <c:v>5.679415469687451</c:v>
                </c:pt>
                <c:pt idx="3">
                  <c:v>0.6178214221439395</c:v>
                </c:pt>
                <c:pt idx="4">
                  <c:v>2.911608286034348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8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63.672748004561</c:v>
                </c:pt>
                <c:pt idx="1">
                  <c:v>89.95597484276729</c:v>
                </c:pt>
                <c:pt idx="2">
                  <c:v>57.285714285714285</c:v>
                </c:pt>
                <c:pt idx="3">
                  <c:v>111.152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AFBC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34.35586366262276</c:v>
                </c:pt>
                <c:pt idx="1">
                  <c:v>36.155766563533554</c:v>
                </c:pt>
                <c:pt idx="2">
                  <c:v>35.75675373967403</c:v>
                </c:pt>
                <c:pt idx="3">
                  <c:v>36.06856596151802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16.879866518353726</c:v>
                </c:pt>
                <c:pt idx="1">
                  <c:v>0.5839822024471636</c:v>
                </c:pt>
                <c:pt idx="2">
                  <c:v>4.365962180200222</c:v>
                </c:pt>
                <c:pt idx="3">
                  <c:v>4.14349276974416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4.519645696116284</c:v>
                </c:pt>
                <c:pt idx="1">
                  <c:v>7.880990233931411</c:v>
                </c:pt>
                <c:pt idx="2">
                  <c:v>5.382693617987735</c:v>
                </c:pt>
                <c:pt idx="3">
                  <c:v>2.9298205768794006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观测回复覆盖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43.4745763</c:v>
                </c:pt>
                <c:pt idx="1">
                  <c:v>56.2718733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首回含感谢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26.705653</c:v>
                </c:pt>
                <c:pt idx="1">
                  <c:v>6.3829787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明确回复构成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帖主 → 其他用户</c:v>
                  </c:pt>
                  <c:pt idx="1">
                    <c:v>其他用户 → 帖主</c:v>
                  </c:pt>
                  <c:pt idx="2">
                    <c:v>其他用户 → 其他用户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88.96368829049368</c:v>
                </c:pt>
                <c:pt idx="1">
                  <c:v>9.057527539779683</c:v>
                </c:pt>
                <c:pt idx="2">
                  <c:v>1.9787841697266422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12分钟版｜本页预算10秒（已含页面阅读停顿）
我们围绕三个问题，看Keep里的内容分布、文字与点赞的关联，以及评论如何形成往来。
讲述重点：开场直接点出三个研究问题。
来源：课程小组汇报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12分钟版｜本页预算35秒（已含页面阅读停顿）
总问题是，健身社区里什么内容受到关注，人们怎样交流。Keep既有训练打卡，也有生活分享，因此不能只看某个词或总评论量。我们拆为三个问题：RQ1描述样本内容和点赞分布；RQ2检验文字、主题与点赞的关联；RQ3看评论内容、回复方向和参与范围。右栏是可能的解释，后文通过数据判断是否成立；页眉会持续标出正在回答的RQ。
讲述重点：总问题→三项RQ→对应预期，不提前把预期当结论。
来源：原报告§1；同伴版研究设计页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12分钟版｜本页预算40秒（已含页面阅读停顿）
样本有9,532帖、100位作者，以及去重后的11,595条评论。我们去除重复评论，保留缺失正文并作标记；点赞与浏览口径不一致，因此不算点赞率。另外，正文覆盖随媒体和作者而不同，后面的主题结果只代表2,470条有效正文、86位作者。没有采到，不等于没有发生，也不能把这个子样本当成全部内容。
讲述重点：交代清洗与分析范围；不逐行读表。
来源：summary.json；原报告§2—3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12分钟版｜本页预算35秒（已含页面阅读停顿）
图片和视频帖平均约51和48个赞，文字与无媒体约8和4个。整体分布中，大量帖子在低区间，少量高赞拖出长尾：均值37，中位数25，最高超过五千。因此描述普通帖不能只报平均数，还要同时看中位数与尾部。媒体和反馈的分布已经看到，接着进入正文内容，看这些帖子主要讨论什么。
讲述重点：只回答分布，不提前讲控制模型。
来源：media_summary.csv；descriptive_statistics.csv；既有post_features分布汇总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12分钟版｜本页预算35秒（已含页面阅读停顿）
有效正文提取了五类主题，训练交流占52.7%，生活感悟和问候占35.8%，合计88.5%。所以这批Keep文字不只有打卡和运动成绩，也有大量日常表达。这里按每帖权重最大的主题统计篇幅，一人可以贡献很多帖。要判断某种内容是否普遍，还要看它是不是被少数高产作者放大。
讲述重点：先解释两大主题的真实内容，再引出作者等权。
来源：extension_topics.csv；extension_summary.json；topic_labels.json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静蹲按帖子统计占3.4%，让每位作者等权后只剩0.6%。85帖里78帖来自一人，所以这里的常见更多反映一位作者的持续记录。训练和生活两大主题换权重后仍占主要份额。这一步让RQ1的内容分布更准确：既看到训练与生活并存，也分清一种主题是很多人都在写，还是少数人反复记录。
讲述重点：把作者权重作为内容分布的校准，完成RQ1的描述。
来源：supplemental_topic_author_weighting.csv；extension_topics.csv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12分钟版｜本页预算15秒（已含页面阅读停顿）
RQ1显示，图片和视频帖的平均点赞较高，整体存在长尾。正文以训练和生活为主，部分小主题则被少数高产作者放大。接下来检验文字与点赞的关联。
讲述重点：只收束两项发现；不重报前页统计。
来源：样本、媒体分布、主题与作者权重结果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12分钟版｜本页预算32秒（已含页面阅读停顿）
RQ2先定义五项文字线索：长度取对数，自律、社交、积极表达和问号命中记一，各项可以重叠。结果用一加点赞的对数。先看原始均值和构成，再调整作者、日期和情境；最后加入主题权重，检查整篇内容的关联。
讲述重点：定义变量与比较顺序；词表示例留给听众看。
来源：text_dictionary.json；analyze.py；extend_analysis.py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12分钟版｜本页预算28秒（已含页面阅读停顿）
四类表达的命中组平均点赞都更高，但组别构成也不同。积极表达组约57赞、未命中约36赞，图片或视频占比却分别为94.9%和69.1%。因此，下一步把文字、媒体、作者和日期一起纳入模型，判断用词是否还有额外关联。
讲述重点：只讲积极表达这一例，解释为什么需要调整比较。
来源：text_features_summary.csv；既有post_features媒体构成汇总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12分钟版｜本页预算40秒（已含页面阅读停顿）
这页写出具体方程。M3以一加点赞数的对数为结果，X是五项文字线索，C是已记录情境，另加作者和日期固定效应。作者效应让比较更多利用同一作者不同帖子间的变化。M1到M2的拟合度由0.563升到0.685，说明作者差异有助于拟合。但积极表达在M1中就已为负，不能把原始均值与M3的差别单独归因于加入作者效应。下一页的系数、区间和显著性都对应M3。
讲述重点：读方程的组成，明确下一页是哪一个模型的推断。
来源：analyze.py formula()/models()；model_fit.csv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12分钟版｜本页预算45秒（已含页面阅读停顿）
这是M3的完整五项结果。积极表达系数负0.086，原始区间不跨零，p为0.016；但五项一起做BH校正后，q为0.079，未达到5%标准。这两个判断并不矛盾：前者看单项，后者考虑同时尝试多项线索。五项新增解释度仅0.065个百分点，联合p为0.130。我们能说原始用词优势没有保留，不能说积极用词导致点赞下降。接着排查这个负向方向是否由缺失、极端值或单个作者主导。
讲述重点：解释p与q的区别、整组新增解释，以及为什么继续做敏感性分析。
来源：regression_coefficients.csv M3；summary.json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12分钟版｜本页预算32秒（已含页面阅读停顿）
可见正文、去高赞和作者等权后，积极表达系数都为负；逐作者剔除也一样。但PPML直接拟合点赞计数，区间跨零。方向一致还不足以确认稳定负效应。词典只抓指定字眼，接着看整篇内容的主题能否补充关联。
讲述重点：保留敏感性与PPML判断，不逐项报系数和p值。
来源：regression_coefficients.csv；model_fit.csv；extension_author_influence_summary.csv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12分钟版｜本页预算42秒（已含页面阅读停顿）
在M3原有项之外增加四项连续主题权重，以训练交流为参照。生活问候相对训练增加十个百分点，点估计对应一加点赞的条件几何均值约低1.4%；但校正后q为0.107，主题联合p为0.166。宽区间和校正结果不足以支持稳定的主题点赞排序。把它与前面的用词结果合起来，才能完成RQ2关于文字和主题关联的回答。
讲述重点：只检验主题与点赞的关联，不复述RQ1的主题份额。
来源：extension_topic_regression.csv；extend_analysis.py；extension_summary.json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12分钟版｜本页预算18秒（已含页面阅读停顿）
RQ2没有找到这些用词和主题具有稳定点赞优势的证据。调整后的负向结果也不能解释成积极表达降低点赞，更不能说文字普遍无效。下面看评论这种更具体的反馈。
讲述重点：给出RQ2回答与解释边界，不重复表中数字。
来源：M3、敏感性与连续主题权重回归结果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评论中位长度六个字符。“加油”涉及431人，“谢谢”只有53人，前者使用面更广，后者更集中。按角色看，读者更常赞许，帖主更常感谢。但总体词频还不能告诉我们某条留言怎样被回，所以下一步逐条配对。
讲述重点：解释发言人数与角色差异，不逐项读图中比例。
来源：comment_text_features.csv；comment_text_terms.csv；comment_text_summary.json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12分钟版｜本页预算45秒（已含页面阅读停顿）
以6,609条外来根评论为单位，从留言发出起七天内查找帖主的直接回复，有回复时只取最早一条。左图看全部根评论：鼓励组的观测回复比例是43.5%，低于56.3%。右图只看已回复记录：鼓励组首回含感谢为26.7%，高于6.4%。所以，更常感谢不等于更容易被回。这只是描述性对照，接着看回复怎样形成账号之间的往来。
讲述重点：先交代配对规则，再解释两张图的不同分母；不讲线程参与。
来源：supplemental_direct_reply_language.csv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根评论连到帖主，明确回复连到被回复账号，多次互动累加为边权，并排除自我互动。忽略方向后，94.4%的账号处于最大连通部分，但密度仅0.0473%：许多人通过帖主间接相连，直接往来却很稀疏。下一页再看谁在接话。
讲述重点：说明建边规则与结构结论，账号数和边数留在图旁核对。
来源：summary.json network；figures/06_comment_network.png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12分钟版｜本页预算25秒（已含页面阅读停顿）
明确回复中，89%由帖主发给其他用户，用户彼此回复只有2%。这些往来主要是读者面向帖主留言、帖主接话。注意，89%是回复事件构成，不是留言被回率。下一页再看高留言量来自多少人。
讲述重点：用回复方向解释网络，再转入次数和参与人数。
来源：extension_comment_roles.csv；summary.json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12分钟版｜本页预算30秒（已含页面阅读停顿）
U1528收到1,378次，来自53人；U0948收到1,275次，却来自1,091人。两者次数接近，参与范围差别很大。U0112的180次只来自4人，也说明高互动量可能是少数人反复出现。次数和不同发送者人数要一起看，才能判断这些留言由多广的参与面构成。
讲述重点：用两个主要账号解释次数与人数；第三例点到即可，直接收束RQ3。
来源：network_nodes.csv；summary.json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12分钟版｜本页预算20秒（已含页面阅读停顿）
RQ3显示，更常感谢不等于更容易被回。回话主要围绕帖主展开，而高留言量既可能来自广泛参与，也可能来自少数人反复留言。回复覆盖、回复内容和参与人数，需要分开判断。
讲述重点：收束回应、方向和参与面，不再引入时序。
来源：评论语言、直接配对、账号网络与参与人数结果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12分钟版｜本页预算25秒（已含页面阅读停顿）
这些结论来自100位作者，正文和评论覆盖也不完整，不能推广到全平台。缺少曝光和统一观察时点，回归仍然是关联。后续需要补齐记录、统一观察窗口，再验证具体做法能否改变反馈。
讲述重点：只讲样本与覆盖、观察性关联以及对应改进。
来源：原报告§9.3—9.4；数据与模型口径核查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12分钟版｜本页预算8秒（已含页面阅读停顿）
陈霖负责问题提出、清洗和RQ1，董依心负责RQ2与RQ3。谢谢大家。
讲述重点：按确认分工署名。
来源：用户确认的实际分工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社交媒体网络分析 · 课程小组汇报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22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dirty="0">
                <a:solidFill>
                  <a:srgbClr val="C3D9C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内容表达与</a:t>
            </a:r>
            <a:endParaRPr lang="zh-CN" sz="4000" dirty="0"/>
          </a:p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互动反馈分析</a:t>
            </a:r>
            <a:endParaRPr 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6732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DCEA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哪些内容获得反馈，评论又如何形成往来？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44982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  ·  董依心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研究背景、意义与研究问题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研究背景、问题与预期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预期是待检验的可能解释，后文按相同RQ编号逐项回答。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健身社区里，什么内容受到关注，人们又怎样交流？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221992"/>
            <a:ext cx="10789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Keep既承载训练与打卡，也包含经验和生活分享。点赞是可见反馈，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评论则记录了谁在留言、谁在接话；理解反馈需要把内容和参与者一起看。</a:t>
            </a:r>
            <a:endParaRPr lang="zh-CN" sz="175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三个具体问题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30175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对应预期：可能出现的结果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65760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样本主要呈现什么内容，点赞怎样分布？</a:t>
            </a:r>
            <a:endParaRPr lang="zh-CN" sz="1750" dirty="0"/>
          </a:p>
        </p:txBody>
      </p:sp>
      <p:sp>
        <p:nvSpPr>
          <p:cNvPr id="13" name="Text 11"/>
          <p:cNvSpPr/>
          <p:nvPr/>
        </p:nvSpPr>
        <p:spPr>
          <a:xfrm>
            <a:off x="6419088" y="36118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媒体反馈可能不同，高赞帖可能拉高均值；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正文也可能同时包含运动与生活分享。</a:t>
            </a:r>
            <a:endParaRPr lang="zh-CN" sz="16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813816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54456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文字线索与主题是否与点赞有关？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419088" y="4498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自律、积极表达或提问可能对应较高点赞；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调整作者与情境后，这些差异也可能减弱。</a:t>
            </a:r>
            <a:endParaRPr lang="zh-CN" sz="1650" dirty="0"/>
          </a:p>
        </p:txBody>
      </p:sp>
      <p:sp>
        <p:nvSpPr>
          <p:cNvPr id="17" name="Shape 15"/>
          <p:cNvSpPr/>
          <p:nvPr/>
        </p:nvSpPr>
        <p:spPr>
          <a:xfrm>
            <a:off x="640080" y="5276088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43153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评论说什么，谁回应谁，参与面多广？</a:t>
            </a:r>
            <a:endParaRPr lang="zh-CN" sz="1750" dirty="0"/>
          </a:p>
        </p:txBody>
      </p:sp>
      <p:sp>
        <p:nvSpPr>
          <p:cNvPr id="19" name="Text 17"/>
          <p:cNvSpPr/>
          <p:nvPr/>
        </p:nvSpPr>
        <p:spPr>
          <a:xfrm>
            <a:off x="6419088" y="53858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读者可能更多鼓励，帖主更多回应；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高评论量也可能来自少数人的反复往来。</a:t>
            </a:r>
            <a:endParaRPr lang="zh-CN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数据来源、清洗与分析方法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数据来源与清洗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课程100位作者样本；帖子发表于2020年11—12月（UTC），评论最晚至2021年8月。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9,532</a:t>
            </a:r>
            <a:endParaRPr lang="zh-CN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 · 100位作者</a:t>
            </a:r>
            <a:endParaRPr lang="zh-CN" sz="1550" dirty="0"/>
          </a:p>
        </p:txBody>
      </p:sp>
      <p:sp>
        <p:nvSpPr>
          <p:cNvPr id="9" name="Text 7"/>
          <p:cNvSpPr/>
          <p:nvPr/>
        </p:nvSpPr>
        <p:spPr>
          <a:xfrm>
            <a:off x="4370832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</a:t>
            </a:r>
            <a:endParaRPr lang="zh-CN" sz="3400" dirty="0"/>
          </a:p>
        </p:txBody>
      </p:sp>
      <p:sp>
        <p:nvSpPr>
          <p:cNvPr id="10" name="Text 8"/>
          <p:cNvSpPr/>
          <p:nvPr/>
        </p:nvSpPr>
        <p:spPr>
          <a:xfrm>
            <a:off x="4370832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去重后评论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1,323</a:t>
            </a:r>
            <a:endParaRPr lang="zh-CN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有采集到评论的帖子</a:t>
            </a:r>
            <a:endParaRPr lang="zh-CN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06324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核查发现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处理方式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分析含义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1,916行重复评论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按评论ID去重，无字段冲突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避免同一发言被重复计入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3,984帖缺可用正文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保留；文字计数设0并另作标记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不能把缺失当作真实无文字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8,286帖点赞高于记录浏览数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使用累计点赞，不计算点赞率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不解释为曝光转化效率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85800" y="5623560"/>
            <a:ext cx="10789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正文覆盖随媒体和作者而不同。主题结果仅代表2,470条有效正文、86位作者，</a:t>
            </a:r>
            <a:endParaRPr lang="zh-CN" sz="1700" dirty="0"/>
          </a:p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不能当作全部9,532帖的内容比例；没有采到，也不等于没有发生。</a:t>
            </a:r>
            <a:endParaRPr lang="zh-C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图片和视频帖点赞更高，整体分布同时存在长尾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两图为原始描述；右图显示各点赞区间的帖子数，区间宽度不同，不表示概率密度。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不同媒体的平均点赞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364224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点赞区间中的帖子数</a:t>
            </a:r>
            <a:endParaRPr lang="zh-CN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" y="2157984"/>
          <a:ext cx="5276088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63640" y="2157984"/>
          <a:ext cx="5340096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94944" y="4892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均值37.05  ·  中位数25  ·  95%分位109.45  ·  最高5,126</a:t>
            </a:r>
            <a:endParaRPr lang="zh-CN" sz="1800" dirty="0"/>
          </a:p>
        </p:txBody>
      </p:sp>
      <p:sp>
        <p:nvSpPr>
          <p:cNvPr id="12" name="Text 8"/>
          <p:cNvSpPr/>
          <p:nvPr/>
        </p:nvSpPr>
        <p:spPr>
          <a:xfrm>
            <a:off x="694944" y="55046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少量高赞帖拉高平均数，均值不能代表普通帖；媒体均值也相差约一个数量级。</a:t>
            </a:r>
            <a:endParaRPr lang="zh-CN" sz="1800" dirty="0"/>
          </a:p>
        </p:txBody>
      </p:sp>
      <p:sp>
        <p:nvSpPr>
          <p:cNvPr id="13" name="Text 9"/>
          <p:cNvSpPr/>
          <p:nvPr/>
        </p:nvSpPr>
        <p:spPr>
          <a:xfrm>
            <a:off x="694944" y="6025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媒体形式和点赞分布说明了反馈的基本差异；接着看有正文的帖子主要在写什么。</a:t>
            </a:r>
            <a:endParaRPr lang="zh-CN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帖子正文主题主要包括运动和生活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TF-IDF + NMF，主题数预先固定为5；名称依据词项与正文确定，不参考点赞。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22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28800"/>
          <a:ext cx="6537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792224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2,470帖 · 86位作者</a:t>
            </a:r>
            <a:endParaRPr lang="zh-CN" sz="2200" dirty="0"/>
          </a:p>
        </p:txBody>
      </p:sp>
      <p:sp>
        <p:nvSpPr>
          <p:cNvPr id="9" name="Text 6"/>
          <p:cNvSpPr/>
          <p:nvPr/>
        </p:nvSpPr>
        <p:spPr>
          <a:xfrm>
            <a:off x="7571232" y="2505456"/>
            <a:ext cx="4014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训练交流：运动、减脂、训练、拉伸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生活问候：人生、生活、早安、美好</a:t>
            </a:r>
            <a:endParaRPr lang="zh-CN" sz="1750" dirty="0"/>
          </a:p>
        </p:txBody>
      </p:sp>
      <p:sp>
        <p:nvSpPr>
          <p:cNvPr id="10" name="Text 7"/>
          <p:cNvSpPr/>
          <p:nvPr/>
        </p:nvSpPr>
        <p:spPr>
          <a:xfrm>
            <a:off x="7571232" y="3749040"/>
            <a:ext cx="40142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前两类合计88.5%。这批有效正文不仅讨论如何训练，也经常写感受、生活和问候，不能把健身社区里的文字都当成运动成绩记录。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76656" y="5852160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占比按每帖权重最大的主题归类。同一作者可写多个主题，内容量大也可能是某些人写得多。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常见内容，也可能是少数人的高频记录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两组沿用同一主题分类；作者等权先计算每人的主题比例，再对86位作者平均。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/ 22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10512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89520" y="18288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静蹲：3.4% → 0.6%</a:t>
            </a:r>
            <a:endParaRPr lang="zh-CN" sz="26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977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85条主导文档中，78条来自同一作者。按帖看是在统计这种记录出现了多少次；作者等权后，才减少了高产作者的重复贡献。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89520" y="4645152"/>
            <a:ext cx="39776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训练52.7% → 52.6%，生活35.8% → 38.2%。两条主要内容线仍在，变化集中在部分小主题。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685800" y="5998464"/>
            <a:ext cx="10835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训练和生活是两条主要内容线；部分小主题的份额，则会被少数作者的持续记录放大。</a:t>
            </a:r>
            <a:endParaRPr lang="zh-CN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RQ1的回答：这批帖子的内容和点赞怎样分布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范围：9,532帖；主题比例仅代表2,470条有效正文、86位作者。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媒体不同，收到的点赞并不均匀。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图片和视频帖平均约51、48赞，文字与无媒体约8、4赞。整体均值37.05高于中位数25，少量高赞把分布拉出长尾；单用平均数会高估普通帖子的反馈水平。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正文同时包含训练交流和生活分享，篇幅也受作者影响。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306824"/>
            <a:ext cx="10652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训练交流52.7%、生活问候35.8%，作者等权后仍是两条主线。静蹲却由3.4%降至0.6%，其中85帖有78帖来自一人：这种记录出现多，不等于很多作者都在写。</a:t>
            </a:r>
            <a:endParaRPr lang="zh-CN" sz="1900" dirty="0"/>
          </a:p>
        </p:txBody>
      </p:sp>
      <p:sp>
        <p:nvSpPr>
          <p:cNvPr id="11" name="Shape 9"/>
          <p:cNvSpPr/>
          <p:nvPr/>
        </p:nvSpPr>
        <p:spPr>
          <a:xfrm>
            <a:off x="676656" y="5596128"/>
            <a:ext cx="10936224" cy="58521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424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RQ2接着问：把媒体、作者与日期一起纳入比较后，文字或主题与点赞还有多大关联？</a:t>
            </a:r>
            <a:endParaRPr lang="zh-C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怎样把文字表达放进点赞比较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文字词表只识别字面线索，不是情绪量表；特征可重叠。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 / 22</a:t>
            </a:r>
            <a:endParaRPr lang="zh-CN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73936"/>
          <a:ext cx="6035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五项文字变量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定义与例子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 L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ln(1+清理后字符数)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 D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坚持、自律、目标、第N天等词表或模式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 S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大家、小伙伴、谢谢、一起等词表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 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开心、快乐、喜欢、哈哈等词表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 Q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全角或半角问号，出现记1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52303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除长度外，命中记1；一帖可同时命中多个词类。</a:t>
            </a:r>
            <a:endParaRPr lang="zh-CN" sz="1450" dirty="0"/>
          </a:p>
        </p:txBody>
      </p:sp>
      <p:sp>
        <p:nvSpPr>
          <p:cNvPr id="9" name="Text 6"/>
          <p:cNvSpPr/>
          <p:nvPr/>
        </p:nvSpPr>
        <p:spPr>
          <a:xfrm>
            <a:off x="7086600" y="18470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比较什么结果？</a:t>
            </a:r>
            <a:endParaRPr lang="zh-CN" sz="2000" dirty="0"/>
          </a:p>
        </p:txBody>
      </p:sp>
      <p:sp>
        <p:nvSpPr>
          <p:cNvPr id="10" name="Text 7"/>
          <p:cNvSpPr/>
          <p:nvPr/>
        </p:nvSpPr>
        <p:spPr>
          <a:xfrm>
            <a:off x="7086600" y="2377440"/>
            <a:ext cx="4434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点赞分布有长尾，因此模型采用 ln(1+点赞数)，减少少量极端高赞对比较的影响。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7086600" y="3886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怎样判断文字的额外关联？</a:t>
            </a:r>
            <a:endParaRPr lang="zh-CN" sz="2000" dirty="0"/>
          </a:p>
        </p:txBody>
      </p:sp>
      <p:sp>
        <p:nvSpPr>
          <p:cNvPr id="12" name="Text 9"/>
          <p:cNvSpPr/>
          <p:nvPr/>
        </p:nvSpPr>
        <p:spPr>
          <a:xfrm>
            <a:off x="7086600" y="4416552"/>
            <a:ext cx="4434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先看命中与未命中的均值及媒体构成，再同时调整作者、日期和发布情境，检查原始差异是否保留。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086600" y="55961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用词检验之后，再加入RQ1已经识别的主题权重，检查整篇内容是否补充点赞关联。</a:t>
            </a:r>
            <a:endParaRPr lang="zh-C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分组均值较高，但文字与媒体构成混在一起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变量已在第8页定义；组别与特征可重叠，分组均值尚未调整作者和发布情境。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 / 22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76072" y="182880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746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积极表达组的进一步比较</a:t>
            </a:r>
            <a:endParaRPr lang="zh-CN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359152"/>
          <a:ext cx="4050792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1234440"/>
                <a:gridCol w="150876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组别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图片/视频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574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94.9%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8,958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69.1%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589520" y="4288536"/>
            <a:ext cx="3968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57.29 vs 35.76 个赞，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同时伴随媒体构成差异。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命中组分布于64位作者，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未命中组覆盖100位作者。</a:t>
            </a:r>
            <a:endParaRPr lang="zh-CN" sz="1750" dirty="0"/>
          </a:p>
        </p:txBody>
      </p:sp>
      <p:sp>
        <p:nvSpPr>
          <p:cNvPr id="11" name="Text 7"/>
          <p:cNvSpPr/>
          <p:nvPr/>
        </p:nvSpPr>
        <p:spPr>
          <a:xfrm>
            <a:off x="667512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下一步：同时控制媒体、作者和日期，比较这些用词是否仍有额外关联。</a:t>
            </a:r>
            <a:endParaRPr lang="zh-C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用作者与日期固定效应，进一步改善比较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主分析为OLS；N=9,532、100位作者，标准误按作者聚类，五项核心系数采用BH校正。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/ 22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700784"/>
            <a:ext cx="10972800" cy="8595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938528"/>
            <a:ext cx="105887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M3：ln(1 + 点赞数) = β′X + γ′C + α作者 + δ日期 + ε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X：长度、自律、社交、积极、问号。C：正文可用、话题、表情数、课程分享，以及媒体、业务类型、时段。</a:t>
            </a:r>
            <a:endParaRPr lang="zh-CN" sz="15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47872"/>
          <a:ext cx="1097280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4645152"/>
                <a:gridCol w="1097280"/>
                <a:gridCol w="393192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调整范围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R²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积极表达系数 / 原始p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M1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已记录作者属性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0.563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−0.050 / 0.285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M2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−0.087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 主模型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作者、日期固定效应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0.688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568756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加入作者固定效应后拟合度提高，提示作者差异值得考虑；积极表达在M1中就已为负。</a:t>
            </a:r>
            <a:endParaRPr lang="zh-CN" sz="1750" dirty="0"/>
          </a:p>
        </p:txBody>
      </p:sp>
      <p:sp>
        <p:nvSpPr>
          <p:cNvPr id="12" name="Text 9"/>
          <p:cNvSpPr/>
          <p:nvPr/>
        </p:nvSpPr>
        <p:spPr>
          <a:xfrm>
            <a:off x="685800" y="6144768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8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这里比较的是调整后的对数结果，不能把与原始均值的差别单独归因于某一个控制项。</a:t>
            </a:r>
            <a:endParaRPr lang="zh-CN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M3没有保留原始用词优势，单项线索也需要校正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表中为M3的作者聚类推断；95%区间与p为原始值，BH q同时考虑五项核心检验。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 / 22</a:t>
            </a:r>
            <a:endParaRPr lang="zh-CN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10512"/>
          <a:ext cx="7589520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941832"/>
                <a:gridCol w="2596896"/>
                <a:gridCol w="969264"/>
                <a:gridCol w="108813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文字特征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长度 ln(1+字数)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[−0.008, 0.064]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0.130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[−0.293, 0.054]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0.176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[−0.131, 0.122]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[−0.100, 0.316]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0.307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430768" y="1847088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积极表达：β = −0.086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8430768" y="288036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原始p = 0.016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BH q = 0.079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8430768" y="4032504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单项区间不跨0，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但五项一起校正后，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证据未达到5%标准。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67512" y="52852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五项文字线索仅增加0.065个百分点R²，联合检验 p = 0.130。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57698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原始均值优势没有在调整后的比较中保留；这不足以推出“积极用词降低点赞”。</a:t>
            </a:r>
            <a:endParaRPr lang="zh-CN" sz="1700" dirty="0"/>
          </a:p>
        </p:txBody>
      </p:sp>
      <p:sp>
        <p:nvSpPr>
          <p:cNvPr id="13" name="Text 10"/>
          <p:cNvSpPr/>
          <p:nvPr/>
        </p:nvSpPr>
        <p:spPr>
          <a:xfrm>
            <a:off x="667512" y="6199632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还要核查：负向方向是否依赖缺失正文、极端高赞帖或某一位作者？</a:t>
            </a:r>
            <a:endParaRPr lang="zh-CN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换样本和模型后，积极表达的方向是否改变？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聚焦积极表达；区间和p为各设定原始值，不代替M3的BH主分析结论。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22</a:t>
            </a:r>
            <a:endParaRPr lang="zh-CN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847088"/>
          <a:ext cx="7772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914400"/>
                <a:gridCol w="2606040"/>
                <a:gridCol w="10515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设定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N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M3主模型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仅可见正文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5,548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−0.090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[−0.164, −0.015]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去最高1%点赞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9,436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[−0.152, −0.012]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作者等权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−0.128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[−0.219, −0.036]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0.007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PPML计数模型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−0.135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[−0.299, 0.028]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732520" y="1874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方向不依赖一种样本处理</a:t>
            </a:r>
            <a:endParaRPr lang="zh-CN" sz="2000" dirty="0"/>
          </a:p>
        </p:txBody>
      </p:sp>
      <p:sp>
        <p:nvSpPr>
          <p:cNvPr id="9" name="Text 6"/>
          <p:cNvSpPr/>
          <p:nvPr/>
        </p:nvSpPr>
        <p:spPr>
          <a:xfrm>
            <a:off x="8732520" y="240487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可见正文、去高赞、作者等权后均为负；100次逐作者剔除也全部为负。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8732520" y="3767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计数尺度上仍不精确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8732520" y="429768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PPML区间跨0，不能把方向一致升级成已验证的稳定负效应。</a:t>
            </a:r>
            <a:endParaRPr lang="zh-CN" sz="1650" dirty="0"/>
          </a:p>
        </p:txBody>
      </p:sp>
      <p:sp>
        <p:nvSpPr>
          <p:cNvPr id="12" name="Text 9"/>
          <p:cNvSpPr/>
          <p:nvPr/>
        </p:nvSpPr>
        <p:spPr>
          <a:xfrm>
            <a:off x="676656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逐作者剔除系数范围：[−0.100, −0.074]。PPML拟合 E[点赞 | 条件] = exp(线性项)。</a:t>
            </a:r>
            <a:endParaRPr lang="zh-CN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6080760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沿用RQ1已经识别的主题权重，检验它们能否补充指定用词以外的点赞关联。</a:t>
            </a:r>
            <a:endParaRPr lang="zh-CN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主题权重能否补充用词以外的点赞关联？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同一子样本N=2,470、86位作者；按作者聚类。回归使用连续主题权重，不是主导主题虚拟变量。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 / 22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0972800" cy="6309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56232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主题模型：M3原有线性项 + Σ θₖwₖ（省去“运动与训练交流”权重作为参照）</a:t>
            </a:r>
            <a:endParaRPr lang="zh-CN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670048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3474720"/>
                <a:gridCol w="1463040"/>
                <a:gridCol w="155448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相对训练交流的主题权重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系数θ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靠墙静蹲记录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−0.315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[−0.636, 0.005]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0.054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骑行里程记录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[−0.523, 0.558]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跑步与训练打卡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−0.471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[−1.048, 0.105]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生活感悟与问候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[−0.278, −0.010]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0.035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4944" y="5175504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生活问候权重相对训练交流增加10个百分点时，“1+点赞”的条件几何均值点估计约低1.4%。</a:t>
            </a:r>
            <a:endParaRPr lang="zh-CN" sz="1700" dirty="0"/>
          </a:p>
        </p:txBody>
      </p:sp>
      <p:sp>
        <p:nvSpPr>
          <p:cNvPr id="11" name="Text 8"/>
          <p:cNvSpPr/>
          <p:nvPr/>
        </p:nvSpPr>
        <p:spPr>
          <a:xfrm>
            <a:off x="694944" y="5705856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但其原始p = 0.035、BH q = 0.107；四项主题联合 p = 0.166，尚不能把点估计当成稳定的主题反馈排序。</a:t>
            </a:r>
            <a:endParaRPr lang="zh-CN" sz="1650" dirty="0"/>
          </a:p>
        </p:txBody>
      </p:sp>
      <p:sp>
        <p:nvSpPr>
          <p:cNvPr id="12" name="Text 9"/>
          <p:cNvSpPr/>
          <p:nvPr/>
        </p:nvSpPr>
        <p:spPr>
          <a:xfrm>
            <a:off x="694944" y="6272784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2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权重范围0–1，系数按100个百分点计；区间未计入主题估计本身的不确定性。</a:t>
            </a:r>
            <a:endParaRPr lang="zh-CN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RQ2的回答：用词和主题与点赞的关联有多稳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结果为观察性关联；词典与主题只覆盖部分文字信息，缺少真实曝光等条件。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46504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原始用词差异同时带着媒体与作者差异。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积极表达命中组的图片/视频占比94.9%，未命中组69.1%。M3调整后积极表达系数为−0.086、BH q=0.079；五项文字线索仅新增0.065个百分点R²，联合p=0.130。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13232" y="3648456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换样本后的方向较一致，主题也没有补出稳定优势。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652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积极表达在多种处理下均为负，但PPML区间跨0；主题权重联合p=0.166。现有记录对这些用词和主题的额外点赞关联，仍缺少足够稳定的证据；这不等于证明文字内容普遍无效。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577840"/>
            <a:ext cx="10936224" cy="612648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33288"/>
            <a:ext cx="10561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RQ3转向另一种反馈：评论里，用户说了什么，留言怎样被回应，又由多少人参与？</a:t>
            </a:r>
            <a:endParaRPr lang="zh-CN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评论长度、词频与发言者角色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词类命中率以各角色全部发言为分母，可重叠；角色按所在帖子确定。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15 / 22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65376"/>
          <a:ext cx="6492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18196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评论长度中位数：6字符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7498080" y="2807208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“加油”612条 / 431人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“谢谢”359条 / 53人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4041648"/>
            <a:ext cx="4069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“加油”的使用面更广，“谢谢”的重复使用更集中。再按角色看，读者更常赞许，帖主更常感谢；只看词频，会把参与广度和重复回话混在一起。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676656" y="592531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所以下一步把根评论与帖主回复配对：鼓励是否更易被回复，回复里又怎样表达？</a:t>
            </a:r>
            <a:endParaRPr lang="zh-CN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鼓励留言是否更容易得到回应？感谢与回复覆盖不同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描述性对照，未作显著性或因果检验；未观察到回复，不等于实际没有回复。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 / 22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591056"/>
            <a:ext cx="10972800" cy="694944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1064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配对规则：6,609条外来根评论；从留言发出起7天内，查找明确指向该条留言的帖主直接回复。</a:t>
            </a:r>
            <a:endParaRPr lang="zh-CN" sz="1450" dirty="0"/>
          </a:p>
          <a:p>
            <a:pPr indent="0" marL="0">
              <a:buNone/>
            </a:pPr>
            <a:r>
              <a:rPr lang="zh-CN" altLang="en-US" sz="14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根评论指直接发在帖子下、未指定回复对象的留言；有回复时，只取最早一条。</a:t>
            </a:r>
            <a:endParaRPr lang="zh-CN" sz="1450" dirty="0"/>
          </a:p>
        </p:txBody>
      </p:sp>
      <p:sp>
        <p:nvSpPr>
          <p:cNvPr id="9" name="Text 7"/>
          <p:cNvSpPr/>
          <p:nvPr/>
        </p:nvSpPr>
        <p:spPr>
          <a:xfrm>
            <a:off x="676656" y="24231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多少留言观察到7天内直接回复？</a:t>
            </a:r>
            <a:endParaRPr lang="zh-CN" sz="18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已回复记录中，最早回复多少含感谢？</a:t>
            </a:r>
            <a:endParaRPr lang="zh-CN" sz="1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2880360"/>
          <a:ext cx="530352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327648" y="2880360"/>
          <a:ext cx="530352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749808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分母：各组全部外来根评论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513 / 1,180；3,055 / 5,429</a:t>
            </a:r>
            <a:endParaRPr lang="zh-CN" sz="1370" dirty="0"/>
          </a:p>
        </p:txBody>
      </p:sp>
      <p:sp>
        <p:nvSpPr>
          <p:cNvPr id="14" name="Text 10"/>
          <p:cNvSpPr/>
          <p:nvPr/>
        </p:nvSpPr>
        <p:spPr>
          <a:xfrm>
            <a:off x="6483096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分母：已观察到直接回复的记录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137 / 513；195 / 3,055</a:t>
            </a:r>
            <a:endParaRPr lang="zh-CN" sz="1370" dirty="0"/>
          </a:p>
        </p:txBody>
      </p:sp>
      <p:sp>
        <p:nvSpPr>
          <p:cNvPr id="15" name="Text 11"/>
          <p:cNvSpPr/>
          <p:nvPr/>
        </p:nvSpPr>
        <p:spPr>
          <a:xfrm>
            <a:off x="694944" y="5477256"/>
            <a:ext cx="10835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鼓励组的观测回复覆盖低12.8个百分点；但在已回复记录中，感谢词占比高20.3个百分点。</a:t>
            </a:r>
            <a:endParaRPr lang="zh-CN" sz="1750" dirty="0"/>
          </a:p>
        </p:txBody>
      </p:sp>
      <p:sp>
        <p:nvSpPr>
          <p:cNvPr id="16" name="Text 12"/>
          <p:cNvSpPr/>
          <p:nvPr/>
        </p:nvSpPr>
        <p:spPr>
          <a:xfrm>
            <a:off x="694944" y="5934456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回复时更常致谢，不等于鼓励更容易被回。作者和留言情境可能不同；接下来看看谁在接话。</a:t>
            </a:r>
            <a:endParaRPr lang="zh-CN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评论关系网络：间接相连广，直接联系仍稀疏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节点为账号；根评论者→帖主，明确回复者→被回复用户；同向多次互动累加为边权。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 / 22</a:t>
            </a:r>
            <a:endParaRPr lang="zh-CN" sz="1000" dirty="0"/>
          </a:p>
        </p:txBody>
      </p:sp>
      <p:pic>
        <p:nvPicPr>
          <p:cNvPr id="7" name="Image 0" descr="/Users/lchen/Projects/FDU-Homeworks/social-media-net-analysis/projects/group/figures/06_commen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74520"/>
            <a:ext cx="6327648" cy="3508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96328" y="178308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2,932个有边账号 · 4,069条有向边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7196328" y="2779776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排除84次自我互动后，11,511次事件合并成有向边；图中省略箭头，金色为样本帖作者。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7196328" y="39502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共同面向帖主留言，就能把许多账号间接连起。忽略方向后，94.4%处于最大连通部分；密度0.0473%，直接往来仍局限于少量账号配对。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196328" y="55138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这张图回答了账号怎样被连起来。谁在回复谁，下一页再把明确回复单独取出比较。</a:t>
            </a:r>
            <a:endParaRPr lang="zh-CN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回话主要围绕帖主展开，用户彼此回复较少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分母为4,902次非自我明确回复，排除6,609条根评论；89%不是全部评论的回复率。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 / 22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92808"/>
          <a:ext cx="6492240" cy="3529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16368" y="1819656"/>
            <a:ext cx="4069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4,361次 · 89.0%</a:t>
            </a:r>
            <a:endParaRPr lang="zh-CN" sz="2900" dirty="0"/>
          </a:p>
        </p:txBody>
      </p:sp>
      <p:sp>
        <p:nvSpPr>
          <p:cNvPr id="9" name="Text 6"/>
          <p:cNvSpPr/>
          <p:nvPr/>
        </p:nvSpPr>
        <p:spPr>
          <a:xfrm>
            <a:off x="7516368" y="2779776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读者面向帖主留言后，明确回话大多由帖主发出。其他用户彼此回复只有97次，占2.0%。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16368" y="4325112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因此，这批评论更常表现为“向帖主留言—帖主回应”，其他参与者相互回复的份额很小。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5907024"/>
            <a:ext cx="10835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还需要分清：围绕一个账号有很多发言，究竟来自更多人，还是已有发送者反复出现？</a:t>
            </a:r>
            <a:endParaRPr lang="zh-CN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高互动量可能来自接触面广，或少数人反复往来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次数为收到的非自我互动事件，人数为不同发送者；“非样本帖作者”不等于从不发帖。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前10位账号接收了54.0%的互动。判断这种集中意味着什么，需把次数和人数放在一起。</a:t>
            </a:r>
            <a:endParaRPr lang="zh-CN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487168"/>
          <a:ext cx="10972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737360"/>
                <a:gridCol w="1691640"/>
                <a:gridCol w="4800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匿名账号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样本帖作者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接收事件次数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不同发送者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这段记录中的突出形态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U1528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53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已有发送者反复留言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U0948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1,275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1,091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收到更多不同账号的留言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U0112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180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与极少数账号集中往来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94944" y="5175504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U1528与U0948接收次数接近，前者只有53位发送者，后者有1,091位。相同“声量”背后，可以是很不一样的参与范围。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694944" y="5806440"/>
            <a:ext cx="10835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U0112的180次只来自4人。看评论区有多热闹，不能只数留言，还要看有多少人在参与。</a:t>
            </a:r>
            <a:endParaRPr lang="zh-CN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RQ3的回答：评论主要怎样形成往来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评论与网络均基于已采集记录；未观察到回复不等于实际没有回复。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 / 22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读者更常鼓励，帖主更常感谢；逐条配对后，含义更清楚。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直接配对进一步说明：鼓励组已回复记录中的感谢占比更高，但观测回复覆盖反而较低。回复怎样表达，与多少留言得到回应，需要分开判断。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这些发言主要围绕帖主组织，热闹的来源也不一样。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3986784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89%的明确回复由帖主发给其他用户，用户相互回复仅2%。接收次数接近的账号，可以来自53人或1,091人；所以留言量既可能反映广泛参与，也可能是已有发送者反复出现。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385816"/>
            <a:ext cx="10936224" cy="822960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50408"/>
            <a:ext cx="1053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看评论区是否热闹，既要看留言有没有得到回应，也要看这些往来涉及多少人。</a:t>
            </a:r>
            <a:endParaRPr lang="zh-CN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共同局限与后续改进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研究结论与局限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研究局限：哪些判断还不能由这批记录回答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下一步是补齐记录和统一观察窗口；若检验表达或回复做法的效果，需要另行设计实验。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21 / 22</a:t>
            </a:r>
            <a:endParaRPr lang="zh-CN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92224"/>
          <a:ext cx="10972800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4736592"/>
                <a:gridCol w="3438144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限制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它怎样影响结论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下一步需要什么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100位作者，抽样机制不明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不能把样本内容比例和回复结构直接推广到全Keep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更清楚的抽样框与作者覆盖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正文、评论覆盖不全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主题与网络代表不同子样本；未采到不等于未发生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补齐正文、评论、图像和视频内容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曝光、粉丝与采集时点缺失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累计点赞仍受未观测差异影响，固定效应不等于因果识别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统一发帖后7天，并记录实际曝光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词典与主题只是内容的部分表征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不能据用词判断情绪；主题区间未计入模型估计不确定性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语义复核、重复抽样与独立验证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4944" y="58795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后续先统一观察窗口，完整记录内容、参与人数和实际回复，再检验具体做法能否改变反馈。</a:t>
            </a:r>
            <a:endParaRPr lang="zh-CN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· Credit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22 / 22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/ Credit</a:t>
            </a:r>
            <a:endParaRPr lang="zh-CN" sz="3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41832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问题的提出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数据清洗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RQ1：内容与点赞的分布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董依心（dyx）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6492240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RQ2：文字、主题与点赞的关联</a:t>
            </a:r>
            <a:endParaRPr lang="zh-CN" sz="2050" dirty="0"/>
          </a:p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RQ3：评论中的回应与参与</a:t>
            </a:r>
            <a:endParaRPr lang="zh-CN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社交媒体网络分析课程小组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Keep社区内容表达与互动反馈分析</dc:title>
  <dc:subject>八章结构与RQ逐项分析；全部为正文</dc:subject>
  <dc:creator>陈霖、董依心</dc:creator>
  <cp:lastModifiedBy>陈霖、董依心</cp:lastModifiedBy>
  <cp:revision>1</cp:revision>
  <dcterms:created xsi:type="dcterms:W3CDTF">2026-10-28T05:48:44Z</dcterms:created>
  <dcterms:modified xsi:type="dcterms:W3CDTF">2026-10-28T05:48:44Z</dcterms:modified>
</cp:coreProperties>
</file>