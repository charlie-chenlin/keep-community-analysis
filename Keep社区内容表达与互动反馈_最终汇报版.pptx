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5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6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7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charts/chart10.xml" ContentType="application/vnd.openxmlformats-officedocument.drawingml.chart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charts/chart11.xml" ContentType="application/vnd.openxmlformats-officedocument.drawingml.chart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01 研究背景、意义与研究问题" id="{c8d4f533-a0ef-bd6e-d181-7106025d7db5}">
          <p14:sldIdLst>
            <p14:sldId id="257"/>
          </p14:sldIdLst>
        </p14:section>
        <p14:section name="02 数据来源、清洗与分析方法" id="{7697509d-b999-c82e-3de4-0dbf1eab0176}">
          <p14:sldIdLst>
            <p14:sldId id="258"/>
          </p14:sldIdLst>
        </p14:section>
        <p14:section name="03 数据覆盖与描述统计" id="{a935ec84-ad1b-bc45-1d69-aafc66f37dc8}">
          <p14:sldIdLst>
            <p14:sldId id="259"/>
            <p14:sldId id="260"/>
            <p14:sldId id="261"/>
            <p14:sldId id="262"/>
            <p14:sldId id="263"/>
          </p14:sldIdLst>
        </p14:section>
        <p14:section name="04 文字表达与点赞的关联" id="{0144e7ad-39b2-dc28-04bf-b82e677a538c}">
          <p14:sldIdLst>
            <p14:sldId id="264"/>
            <p14:sldId id="265"/>
            <p14:sldId id="266"/>
            <p14:sldId id="267"/>
            <p14:sldId id="268"/>
          </p14:sldIdLst>
        </p14:section>
        <p14:section name="05 帖子主题与点赞的关联" id="{930e1d2e-132b-d927-fdee-d32d913f3893}">
          <p14:sldIdLst>
            <p14:sldId id="269"/>
            <p14:sldId id="270"/>
          </p14:sldIdLst>
        </p14:section>
        <p14:section name="06 评论的主要内容" id="{4c6067ea-c9e0-4556-110f-7263acd82849}">
          <p14:sldIdLst>
            <p14:sldId id="271"/>
            <p14:sldId id="272"/>
            <p14:sldId id="273"/>
          </p14:sldIdLst>
        </p14:section>
        <p14:section name="07 评论区的网络结构" id="{c1093fc9-6422-6990-688e-e010b0ebab36}">
          <p14:sldIdLst>
            <p14:sldId id="274"/>
            <p14:sldId id="275"/>
            <p14:sldId id="276"/>
            <p14:sldId id="277"/>
            <p14:sldId id="278"/>
          </p14:sldIdLst>
        </p14:section>
        <p14:section name="08 研究结论与局限" id="{29edfec1-230a-06b1-c08a-f3273aad69a5}">
          <p14:sldIdLst>
            <p14:sldId id="279"/>
          </p14:sldIdLst>
        </p14:section>
        <p14:section name="Default-1" id="{f6f68327-9ec7-412c-4ea0-75d436f92dea}">
          <p14:sldIdLst>
            <p14:sldId id="28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可见正文覆盖率</c:v>
                </c:pt>
              </c:strCache>
            </c:strRef>
          </c:tx>
          <c:spPr>
            <a:solidFill>
              <a:srgbClr val="245C4F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0332F"/>
                    </a:solidFill>
                    <a:latin typeface="Arial Unicode M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图片</c:v>
                  </c:pt>
                  <c:pt idx="1">
                    <c:v>视频</c:v>
                  </c:pt>
                  <c:pt idx="2">
                    <c:v>纯文字</c:v>
                  </c:pt>
                  <c:pt idx="3">
                    <c:v>无媒体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75.9758204</c:v>
                </c:pt>
                <c:pt idx="1">
                  <c:v>89.1350211</c:v>
                </c:pt>
                <c:pt idx="2">
                  <c:v>100</c:v>
                </c:pt>
                <c:pt idx="3">
                  <c:v>0.1203369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20332F"/>
                  </a:solidFill>
                  <a:latin typeface="Arial Unicode M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20332F"/>
                </a:solidFill>
                <a:latin typeface="Arial Unicode M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E7ECE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65756F"/>
                </a:solidFill>
                <a:latin typeface="Arial Unicode M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平均点赞</c:v>
                </c:pt>
              </c:strCache>
            </c:strRef>
          </c:tx>
          <c:spPr>
            <a:solidFill>
              <a:srgbClr val="245C4F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0332F"/>
                    </a:solidFill>
                    <a:latin typeface="Arial Unicode M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图片</c:v>
                  </c:pt>
                  <c:pt idx="1">
                    <c:v>视频</c:v>
                  </c:pt>
                  <c:pt idx="2">
                    <c:v>纯文字</c:v>
                  </c:pt>
                  <c:pt idx="3">
                    <c:v>无媒体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51.03</c:v>
                </c:pt>
                <c:pt idx="1">
                  <c:v>48.05</c:v>
                </c:pt>
                <c:pt idx="2">
                  <c:v>7.94</c:v>
                </c:pt>
                <c:pt idx="3">
                  <c:v>3.91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200" u="none">
                  <a:solidFill>
                    <a:srgbClr val="20332F"/>
                  </a:solidFill>
                  <a:latin typeface="Arial Unicode M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0332F"/>
                </a:solidFill>
                <a:latin typeface="Arial Unicode M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  <c:min val="0"/>
        </c:scaling>
        <c:delete val="0"/>
        <c:axPos val="l"/>
        <c:majorGridlines>
          <c:spPr>
            <a:ln w="12700" cap="flat">
              <a:solidFill>
                <a:srgbClr val="E7ECE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65756F"/>
                </a:solidFill>
                <a:latin typeface="Arial Unicode M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帖子数</c:v>
                </c:pt>
              </c:strCache>
            </c:strRef>
          </c:tx>
          <c:spPr>
            <a:solidFill>
              <a:srgbClr val="245C4F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0332F"/>
                    </a:solidFill>
                    <a:latin typeface="Arial Unicode MS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0</c:v>
                  </c:pt>
                  <c:pt idx="1">
                    <c:v>1–4</c:v>
                  </c:pt>
                  <c:pt idx="2">
                    <c:v>5–9</c:v>
                  </c:pt>
                  <c:pt idx="3">
                    <c:v>10–24</c:v>
                  </c:pt>
                  <c:pt idx="4">
                    <c:v>25–49</c:v>
                  </c:pt>
                  <c:pt idx="5">
                    <c:v>50–99</c:v>
                  </c:pt>
                  <c:pt idx="6">
                    <c:v>100–199</c:v>
                  </c:pt>
                  <c:pt idx="7">
                    <c:v>200–499</c:v>
                  </c:pt>
                  <c:pt idx="8">
                    <c:v>500+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361</c:v>
                </c:pt>
                <c:pt idx="1">
                  <c:v>2298</c:v>
                </c:pt>
                <c:pt idx="2">
                  <c:v>977</c:v>
                </c:pt>
                <c:pt idx="3">
                  <c:v>1089</c:v>
                </c:pt>
                <c:pt idx="4">
                  <c:v>2203</c:v>
                </c:pt>
                <c:pt idx="5">
                  <c:v>2019</c:v>
                </c:pt>
                <c:pt idx="6">
                  <c:v>438</c:v>
                </c:pt>
                <c:pt idx="7">
                  <c:v>141</c:v>
                </c:pt>
                <c:pt idx="8">
                  <c:v>6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20332F"/>
                  </a:solidFill>
                  <a:latin typeface="Arial Unicode M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20332F"/>
                </a:solidFill>
                <a:latin typeface="Arial Unicode M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500"/>
          <c:min val="0"/>
        </c:scaling>
        <c:delete val="0"/>
        <c:axPos val="l"/>
        <c:majorGridlines>
          <c:spPr>
            <a:ln w="12700" cap="flat">
              <a:solidFill>
                <a:srgbClr val="E7ECE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65756F"/>
                </a:solidFill>
                <a:latin typeface="Arial Unicode M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主导主题占比</c:v>
                </c:pt>
              </c:strCache>
            </c:strRef>
          </c:tx>
          <c:spPr>
            <a:solidFill>
              <a:srgbClr val="245C4F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0332F"/>
                    </a:solidFill>
                    <a:latin typeface="Arial Unicode M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运动与训练交流</c:v>
                  </c:pt>
                  <c:pt idx="1">
                    <c:v>生活感悟与问候</c:v>
                  </c:pt>
                  <c:pt idx="2">
                    <c:v>跑步与训练打卡</c:v>
                  </c:pt>
                  <c:pt idx="3">
                    <c:v>靠墙静蹲记录</c:v>
                  </c:pt>
                  <c:pt idx="4">
                    <c:v>骑行里程记录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52.71255060728745</c:v>
                </c:pt>
                <c:pt idx="1">
                  <c:v>35.82995951417004</c:v>
                </c:pt>
                <c:pt idx="2">
                  <c:v>4.574898785425101</c:v>
                </c:pt>
                <c:pt idx="3">
                  <c:v>3.4412955465587043</c:v>
                </c:pt>
                <c:pt idx="4">
                  <c:v>3.4412955465587043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20332F"/>
                  </a:solidFill>
                  <a:latin typeface="Arial Unicode M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50" b="0" i="0" u="none" strike="noStrike">
                <a:solidFill>
                  <a:srgbClr val="20332F"/>
                </a:solidFill>
                <a:latin typeface="Arial Unicode M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  <c:min val="0"/>
        </c:scaling>
        <c:delete val="0"/>
        <c:axPos val="b"/>
        <c:majorGridlines>
          <c:spPr>
            <a:ln w="12700" cap="flat">
              <a:solidFill>
                <a:srgbClr val="E7ECE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65756F"/>
                </a:solidFill>
                <a:latin typeface="Arial Unicode M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按帖子统计</c:v>
                </c:pt>
              </c:strCache>
            </c:strRef>
          </c:tx>
          <c:spPr>
            <a:solidFill>
              <a:srgbClr val="245C4F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0332F"/>
                    </a:solidFill>
                    <a:latin typeface="Arial Unicode M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运动与训练交流</c:v>
                  </c:pt>
                  <c:pt idx="1">
                    <c:v>生活感悟与问候</c:v>
                  </c:pt>
                  <c:pt idx="2">
                    <c:v>跑步与训练打卡</c:v>
                  </c:pt>
                  <c:pt idx="3">
                    <c:v>靠墙静蹲记录</c:v>
                  </c:pt>
                  <c:pt idx="4">
                    <c:v>骑行里程记录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52.71255060728745</c:v>
                </c:pt>
                <c:pt idx="1">
                  <c:v>35.82995951417004</c:v>
                </c:pt>
                <c:pt idx="2">
                  <c:v>4.574898785425101</c:v>
                </c:pt>
                <c:pt idx="3">
                  <c:v>3.4412955465587043</c:v>
                </c:pt>
                <c:pt idx="4">
                  <c:v>3.4412955465587043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每位作者等权</c:v>
                </c:pt>
              </c:strCache>
            </c:strRef>
          </c:tx>
          <c:spPr>
            <a:solidFill>
              <a:srgbClr val="B97339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0332F"/>
                    </a:solidFill>
                    <a:latin typeface="Arial Unicode M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运动与训练交流</c:v>
                  </c:pt>
                  <c:pt idx="1">
                    <c:v>生活感悟与问候</c:v>
                  </c:pt>
                  <c:pt idx="2">
                    <c:v>跑步与训练打卡</c:v>
                  </c:pt>
                  <c:pt idx="3">
                    <c:v>靠墙静蹲记录</c:v>
                  </c:pt>
                  <c:pt idx="4">
                    <c:v>骑行里程记录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52.63472333887843</c:v>
                </c:pt>
                <c:pt idx="1">
                  <c:v>38.15643148325583</c:v>
                </c:pt>
                <c:pt idx="2">
                  <c:v>5.679415469687451</c:v>
                </c:pt>
                <c:pt idx="3">
                  <c:v>0.6178214221439395</c:v>
                </c:pt>
                <c:pt idx="4">
                  <c:v>2.911608286034348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20332F"/>
                  </a:solidFill>
                  <a:latin typeface="Arial Unicode M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80" b="0" i="0" u="none" strike="noStrike">
                <a:solidFill>
                  <a:srgbClr val="20332F"/>
                </a:solidFill>
                <a:latin typeface="Arial Unicode M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  <c:min val="0"/>
        </c:scaling>
        <c:delete val="0"/>
        <c:axPos val="b"/>
        <c:majorGridlines>
          <c:spPr>
            <a:ln w="12700" cap="flat">
              <a:solidFill>
                <a:srgbClr val="E7ECE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65756F"/>
                </a:solidFill>
                <a:latin typeface="Arial Unicode M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50">
              <a:latin typeface="Arial Unicode MS"/>
              <a:cs typeface="Arial Unicode MS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命中</c:v>
                </c:pt>
              </c:strCache>
            </c:strRef>
          </c:tx>
          <c:spPr>
            <a:solidFill>
              <a:srgbClr val="245C4F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0332F"/>
                    </a:solidFill>
                    <a:latin typeface="Arial Unicode M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自律 / 目标</c:v>
                  </c:pt>
                  <c:pt idx="1">
                    <c:v>社交 / 互助</c:v>
                  </c:pt>
                  <c:pt idx="2">
                    <c:v>积极表达</c:v>
                  </c:pt>
                  <c:pt idx="3">
                    <c:v>问号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63.672748004561</c:v>
                </c:pt>
                <c:pt idx="1">
                  <c:v>89.95597484276729</c:v>
                </c:pt>
                <c:pt idx="2">
                  <c:v>57.285714285714285</c:v>
                </c:pt>
                <c:pt idx="3">
                  <c:v>111.152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未命中</c:v>
                </c:pt>
              </c:strCache>
            </c:strRef>
          </c:tx>
          <c:spPr>
            <a:solidFill>
              <a:srgbClr val="AFBCB5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0332F"/>
                    </a:solidFill>
                    <a:latin typeface="Arial Unicode M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自律 / 目标</c:v>
                  </c:pt>
                  <c:pt idx="1">
                    <c:v>社交 / 互助</c:v>
                  </c:pt>
                  <c:pt idx="2">
                    <c:v>积极表达</c:v>
                  </c:pt>
                  <c:pt idx="3">
                    <c:v>问号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34.35586366262276</c:v>
                </c:pt>
                <c:pt idx="1">
                  <c:v>36.155766563533554</c:v>
                </c:pt>
                <c:pt idx="2">
                  <c:v>35.75675373967403</c:v>
                </c:pt>
                <c:pt idx="3">
                  <c:v>36.06856596151802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20332F"/>
                  </a:solidFill>
                  <a:latin typeface="Arial Unicode M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0332F"/>
                </a:solidFill>
                <a:latin typeface="Arial Unicode M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30"/>
          <c:min val="0"/>
        </c:scaling>
        <c:delete val="0"/>
        <c:axPos val="l"/>
        <c:majorGridlines>
          <c:spPr>
            <a:ln w="12700" cap="flat">
              <a:solidFill>
                <a:srgbClr val="E7ECE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65756F"/>
                </a:solidFill>
                <a:latin typeface="Arial Unicode M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50">
              <a:latin typeface="Arial Unicode MS"/>
              <a:cs typeface="Arial Unicode MS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其他用户（7,192条）</c:v>
                </c:pt>
              </c:strCache>
            </c:strRef>
          </c:tx>
          <c:spPr>
            <a:solidFill>
              <a:srgbClr val="245C4F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0332F"/>
                    </a:solidFill>
                    <a:latin typeface="Arial Unicode M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鼓励 / 赞许</c:v>
                  </c:pt>
                  <c:pt idx="1">
                    <c:v>感谢</c:v>
                  </c:pt>
                  <c:pt idx="2">
                    <c:v>问候</c:v>
                  </c:pt>
                  <c:pt idx="3">
                    <c:v>问号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16.879866518353726</c:v>
                </c:pt>
                <c:pt idx="1">
                  <c:v>0.5839822024471636</c:v>
                </c:pt>
                <c:pt idx="2">
                  <c:v>4.365962180200222</c:v>
                </c:pt>
                <c:pt idx="3">
                  <c:v>4.14349276974416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帖主（4,403条）</c:v>
                </c:pt>
              </c:strCache>
            </c:strRef>
          </c:tx>
          <c:spPr>
            <a:solidFill>
              <a:srgbClr val="B97339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0332F"/>
                    </a:solidFill>
                    <a:latin typeface="Arial Unicode M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鼓励 / 赞许</c:v>
                  </c:pt>
                  <c:pt idx="1">
                    <c:v>感谢</c:v>
                  </c:pt>
                  <c:pt idx="2">
                    <c:v>问候</c:v>
                  </c:pt>
                  <c:pt idx="3">
                    <c:v>问号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4.519645696116284</c:v>
                </c:pt>
                <c:pt idx="1">
                  <c:v>7.880990233931411</c:v>
                </c:pt>
                <c:pt idx="2">
                  <c:v>5.382693617987735</c:v>
                </c:pt>
                <c:pt idx="3">
                  <c:v>2.9298205768794006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20332F"/>
                  </a:solidFill>
                  <a:latin typeface="Arial Unicode M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50" b="0" i="0" u="none" strike="noStrike">
                <a:solidFill>
                  <a:srgbClr val="20332F"/>
                </a:solidFill>
                <a:latin typeface="Arial Unicode M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0"/>
          <c:min val="0"/>
        </c:scaling>
        <c:delete val="0"/>
        <c:axPos val="l"/>
        <c:majorGridlines>
          <c:spPr>
            <a:ln w="12700" cap="flat">
              <a:solidFill>
                <a:srgbClr val="E7ECE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65756F"/>
                </a:solidFill>
                <a:latin typeface="Arial Unicode M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50">
              <a:latin typeface="Arial Unicode MS"/>
              <a:cs typeface="Arial Unicode MS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观测回复覆盖</c:v>
                </c:pt>
              </c:strCache>
            </c:strRef>
          </c:tx>
          <c:spPr>
            <a:solidFill>
              <a:srgbClr val="245C4F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0332F"/>
                    </a:solidFill>
                    <a:latin typeface="Arial Unicode M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鼓励 / 赞许</c:v>
                  </c:pt>
                  <c:pt idx="1">
                    <c:v>未命中该词类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43.4745763</c:v>
                </c:pt>
                <c:pt idx="1">
                  <c:v>56.2718733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20332F"/>
                  </a:solidFill>
                  <a:latin typeface="Arial Unicode M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0332F"/>
                </a:solidFill>
                <a:latin typeface="Arial Unicode M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  <c:min val="0"/>
        </c:scaling>
        <c:delete val="0"/>
        <c:axPos val="b"/>
        <c:majorGridlines>
          <c:spPr>
            <a:ln w="12700" cap="flat">
              <a:solidFill>
                <a:srgbClr val="E7ECE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65756F"/>
                </a:solidFill>
                <a:latin typeface="Arial Unicode M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首回含感谢</c:v>
                </c:pt>
              </c:strCache>
            </c:strRef>
          </c:tx>
          <c:spPr>
            <a:solidFill>
              <a:srgbClr val="B97339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0332F"/>
                    </a:solidFill>
                    <a:latin typeface="Arial Unicode M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鼓励 / 赞许</c:v>
                  </c:pt>
                  <c:pt idx="1">
                    <c:v>未命中该词类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26.705653</c:v>
                </c:pt>
                <c:pt idx="1">
                  <c:v>6.3829787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20332F"/>
                  </a:solidFill>
                  <a:latin typeface="Arial Unicode M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0332F"/>
                </a:solidFill>
                <a:latin typeface="Arial Unicode M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  <c:min val="0"/>
        </c:scaling>
        <c:delete val="0"/>
        <c:axPos val="b"/>
        <c:majorGridlines>
          <c:spPr>
            <a:ln w="12700" cap="flat">
              <a:solidFill>
                <a:srgbClr val="E7ECE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65756F"/>
                </a:solidFill>
                <a:latin typeface="Arial Unicode M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明确回复构成</c:v>
                </c:pt>
              </c:strCache>
            </c:strRef>
          </c:tx>
          <c:spPr>
            <a:solidFill>
              <a:srgbClr val="245C4F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0332F"/>
                    </a:solidFill>
                    <a:latin typeface="Arial Unicode M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帖主 → 其他用户</c:v>
                  </c:pt>
                  <c:pt idx="1">
                    <c:v>其他用户 → 帖主</c:v>
                  </c:pt>
                  <c:pt idx="2">
                    <c:v>其他用户 → 其他用户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88.96368829049368</c:v>
                </c:pt>
                <c:pt idx="1">
                  <c:v>9.057527539779683</c:v>
                </c:pt>
                <c:pt idx="2">
                  <c:v>1.9787841697266422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20332F"/>
                  </a:solidFill>
                  <a:latin typeface="Arial Unicode M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50" b="0" i="0" u="none" strike="noStrike">
                <a:solidFill>
                  <a:srgbClr val="20332F"/>
                </a:solidFill>
                <a:latin typeface="Arial Unicode M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b"/>
        <c:majorGridlines>
          <c:spPr>
            <a:ln w="12700" cap="flat">
              <a:solidFill>
                <a:srgbClr val="E7ECE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65756F"/>
                </a:solidFill>
                <a:latin typeface="Arial Unicode M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累计评论占比</c:v>
                </c:pt>
              </c:strCache>
            </c:strRef>
          </c:tx>
          <c:spPr>
            <a:solidFill>
              <a:srgbClr val="245C4F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0332F"/>
                    </a:solidFill>
                    <a:latin typeface="Arial Unicode M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发帖后24小时内</c:v>
                  </c:pt>
                  <c:pt idx="1">
                    <c:v>发帖后7天内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64.5</c:v>
                </c:pt>
                <c:pt idx="1">
                  <c:v>82.2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20332F"/>
                  </a:solidFill>
                  <a:latin typeface="Arial Unicode M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350" b="0" i="0" u="none" strike="noStrike">
                <a:solidFill>
                  <a:srgbClr val="20332F"/>
                </a:solidFill>
                <a:latin typeface="Arial Unicode M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b"/>
        <c:majorGridlines>
          <c:spPr>
            <a:ln w="12700" cap="flat">
              <a:solidFill>
                <a:srgbClr val="E7ECE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65756F"/>
                </a:solidFill>
                <a:latin typeface="Arial Unicode M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讲述预算15秒；压缩版10秒
我们围绕三个问题汇报：帖子和点赞怎样分布，文字与主题是否对应反馈差异，以及评论由谁回应、怎样往来。按三个问题依次展开，每一部分讲完即收束回答。
讲述重点：提出研究对象与三条问题线。
来源：课程小组汇报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讲述预算35秒；压缩版30秒
总问题是，健身社区里什么内容受到关注，人们怎样交流。Keep既有训练打卡，也有生活分享，因此不能只看某个词或总评论量。我们拆为三个问题：RQ1描述样本内容和点赞分布；RQ2检验文字、主题与点赞的关联；RQ3看评论内容、回复方向和参与范围。右栏是可能的解释，后文通过数据判断是否成立；页眉会持续标出正在回答的RQ。
讲述重点：总问题→三项RQ→对应预期，不提前把预期当结论。
来源：原报告§1；同伴版研究设计页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讲述预算25秒；压缩版20秒
样本有9,532帖、100位作者，评论去重后11,595条，只覆盖1,323帖。重复评论删重，正文缺失保留并标记。由于大量点赞高于记录浏览数，我们只分析累计点赞。这里最重要的判断是：没有采到正文或评论，不等于用户没有写或没有收到评论。
讲述重点：规模与三项处理，避免逐格念表。
来源：summary.json；原报告§2—3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讲述预算25秒；压缩版20秒
RQ1先确认我们实际看到了哪些内容。正文覆盖不是均匀的：图片约76%、视频89%，无媒体帖几乎没有可见正文。作者正文覆盖率中位数84.3%，还有五位作者完全没有可见正文。所以后面的内容主题代表正文较完整的记录，不能当成所有帖子的内容比例。在这个范围内，先看媒体和点赞怎样分布，再看有效正文主要在写什么。
讲述重点：先定描述范围，再进入媒体与点赞分布，不展开评论或回归。
来源：extension_coverage_media.csv；extension_summary.json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讲述预算35秒；压缩版25秒
图片和视频帖平均约51和48个赞，文字与无媒体约8和4个。整体分布中，大量帖子在低区间，少量高赞拖出长尾：均值37，中位数25，最高超过五千。因此描述普通帖不能只报平均数，还要同时看中位数与尾部。媒体和反馈的分布已经看到，接着进入正文内容，看这些帖子主要讨论什么。
讲述重点：只回答分布，不提前讲控制模型。
来源：media_summary.csv；descriptive_statistics.csv；既有post_features分布汇总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讲述预算35秒；压缩版25秒
有效正文提取了五类主题，训练交流占52.7%，生活感悟和问候占35.8%，合计88.5%。所以这批Keep文字不只有打卡和运动成绩，也有大量日常表达。这里按每帖权重最大的主题统计篇幅，一人可以贡献很多帖。要判断某种内容是否普遍，还要看它是不是被少数高产作者放大。
讲述重点：先解释两大主题的真实内容，再引出作者等权。
来源：extension_topics.csv；extension_summary.json；topic_labels.json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讲述预算30秒；压缩版20秒
静蹲按帖子统计占3.4%，让每位作者等权后只剩0.6%。85帖里78帖来自一人，所以这里的常见更多反映一位作者的持续记录。训练和生活两大主题换权重后仍占主要份额。这一步让RQ1的内容分布更准确：既看到训练与生活并存，也分清一种主题是很多人都在写，还是少数人反复记录。
讲述重点：把作者权重作为内容分布的校准，完成RQ1的描述。
来源：supplemental_topic_author_weighting.csv；extension_topics.csv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讲述预算30秒；压缩版25秒
RQ1的回答是两点。反馈上，图片和视频均值较高，整体点赞有长尾，中位数25比均值37更接近一般帖子的位置。内容上，训练和生活共同构成主要篇幅，作者等权后格局仍在；部分小主题却是少数作者持续记录放大的。分布已经说明媒体和作者值得留意。RQ2进一步问，把这些条件纳入比较后，文字和主题与点赞的关联还能保留多少。
讲述重点：在本题结束时给完整描述性回答，再转入关联问题。
来源：样本、媒体分布、主题与作者权重结果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讲述预算35秒；压缩版25秒
进入RQ2，先定义文字线索。长度取一加字数的对数，自律、社交、积极表达和问号按固定规则命中记一，维度可以重叠。结果变量采用一加点赞的对数，对应RQ1看到的长尾。我们先比较原始均值及媒体构成，再调整作者和发布情境；用词检验完成后，再加入RQ1已经识别的主题权重，检验整篇内容能否补充关联。
讲述重点：本页只建立RQ2的变量、结果和比较顺序。
来源：text_dictionary.json；analyze.py；extend_analysis.py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讲述预算30秒；压缩版25秒
四类表达的命中组原始均值都更高。进一步看积极表达，命中组57.29个赞，未命中35.76，但图片或视频占比也从69.1%升到94.9%。两组涉及的作者范围同样不同。这是一个实际的构成差异，不只是抽象地担心混杂。下一步需要把文字、媒体、作者与日期一起放入模型，追问文字线索是否还提供额外解释。
讲述重点：先给媒体构成证据，再自然引出下一页控制模型。
来源：text_features_summary.csv；既有post_features媒体构成汇总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讲述预算40秒；压缩版30秒
这页写出具体方程。M3以一加点赞数的对数为结果，X是五项文字线索，C是已记录情境，另加作者和日期固定效应。作者效应让比较更多利用同一作者不同帖子间的变化。M1到M2的拟合度由0.563升到0.685，说明作者差异有助于拟合。但积极表达在M1中就已为负，不能把原始均值与M3的差别单独归因于加入作者效应。下一页的系数、区间和显著性都对应M3。
讲述重点：读方程的组成，明确下一页是哪一个模型的推断。
来源：analyze.py formula()/models()；model_fit.csv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讲述预算45秒；压缩版35秒
这是M3的完整五项结果。积极表达系数负0.086，原始区间不跨零，p为0.016；但五项一起做BH校正后，q为0.079，未达到5%标准。这两个判断并不矛盾：前者看单项，后者考虑同时尝试多项线索。五项新增解释度仅0.065个百分点，联合p为0.130。我们能说原始用词优势没有保留，不能说积极用词导致点赞下降。接着排查这个负向方向是否由缺失、极端值或单个作者主导。
讲述重点：解释p与q的区别、整组新增解释，以及为什么继续做敏感性分析。
来源：regression_coefficients.csv M3；summary.json models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讲述预算35秒；压缩版25秒
可见正文、去高赞、作者等权后的积极表达系数均为负，逐作者剔除也全部为负，方向不完全依赖一种样本处理。但PPML直接拟合点赞计数，区间跨零；敏感性检验也不能替代主模型的BH判断。词典仍只抓住指定字眼。现在沿用RQ1已经识别的主题权重，直接问整篇内容是否能补充点赞关联。
讲述重点：从用词的敏感性检查转到主题关联，不返回内容分布。
来源：regression_coefficients.csv；model_fit.csv；extension_author_influence_summary.csv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讲述预算45秒；压缩版35秒
在M3原有项之外增加四项连续主题权重，以训练交流为参照。生活问候相对训练增加十个百分点，点估计对应一加点赞的条件几何均值约低1.4%；但校正后q为0.107，主题联合p为0.166。宽区间和校正结果不足以支持稳定的主题点赞排序。把它与前面的用词结果合起来，才能完成RQ2关于文字和主题关联的回答。
讲述重点：只检验主题与点赞的关联，不复述RQ1的主题份额。
来源：extension_topic_regression.csv；extend_analysis.py；extension_summary.json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讲述预算35秒；压缩版25秒
RQ2从原始用词均值出发，先看到媒体和作者构成差异，再用M3调整比较。积极表达的原始高赞优势没有保留，但BH校正后也不足以确认稳定负向差异。敏感性样本方向虽一致，PPML区间仍跨零；加入主题权重后，联合检验也未给出明确的额外关联。合起来，现有证据不足以支持这些词语和主题有稳定点赞优势，不能扩大成文字普遍无效。RQ3接下来研究评论这种更具体的反馈。
讲述重点：把用词、敏感性和主题作为同一关联问题的连续证据。
来源：M3、敏感性与连续主题权重回归结果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讲述预算30秒；压缩版25秒
评论中位长度只有六个字符。“加油”有612条、431人，“谢谢”359条却只有53人：前者使用面更广，后者重复使用更集中。再按角色看，读者更常赞许，帖主更常感谢。只看词频，会把参与广度和重复回话混在一起。但这些总体分布还没定位某条留言的回应，所以下一步按回复对象配对，分别看留言有没有被回，以及回复里写了什么。
讲述重点：解释人数怎样改变对高频词的理解，再引出具体配对。
来源：comment_text_features.csv；comment_text_terms.csv；comment_text_summary.json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讲述预算25秒；压缩版20秒
对6,609条外来根评论，我们分别统计直接回复和线程参与。直接回复必须明确指向这条根评论，且在七天内，观察到54%。线程参与不限七天，只要帖主在同一留言串回过话就算，比例57%。两种时间范围不同，不能直接相减解释。下一页采用左侧较严格规则，每条根评论只看最早一条帖主直接回复。
讲述重点：简短交代两种口径，明确下一页沿用哪一种。
来源：supplemental_direct_reply_language.csv；extension_summary.json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讲述预算35秒；压缩版30秒
先看左图，鼓励组观察到七天内直接回复的比例是43.5%，低于未命中组56.3%，相差12.8个百分点。右图只看已经有回复的记录，鼓励组的首回含感谢为26.7%，高于6.4%，相差20.3个百分点。因此感谢更常见，不能当成更容易被回复的证据。这是描述性对照，作者、情境和记录覆盖仍可能不同。下面把回复放回账号关系，看看是否形成了参与者之间的广泛交谈。
讲述重点：明确两个问题、两种分母和两项差值，再给结论。
来源：supplemental_direct_reply_language.csv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讲述预算30秒；压缩版25秒
网络把根评论连到帖主，把明确回复连到被回复账号，同向多次互动累加次数。排除自我互动后，11,511次事件形成4,069条边、2,932个账号。共同面向帖主留言，就能把许多账号间接连起：忽略方向后94.4%处于最大连通部分。但密度只有0.0473%，直接往来仍局限于少量账号配对。这说明账号怎样连在一起，谁在回复谁则要把明确回复单独取出比较。
讲述重点：说足网络的结构结论，再限定它尚未回答的回复方向。
来源：summary.json network；figures/06_comment_network.png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讲述预算25秒；压缩版20秒
明确回复中，帖主回复其他用户占89%，其他用户彼此回复只有2%。这让前页网络有了具体解释：常见活动是读者向帖主留言，再由帖主回应，横向接话较少。这里89%是回复事件的构成，不是所有留言的被回率。接着我们再问，围绕一个账号出现很多发言，是否就意味着参与面很广。
讲述重点：用回复方向解释上一页网络，再引出次数与人数。
来源：extension_comment_roles.csv；summary.json network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讲述预算30秒；压缩版25秒
U1528收到1,378次，只有53位发送者；U0948收到1,275次，却来自1,091人。前者的高量更多包含已有发送者反复出现，后者收到更广泛的参与。U0112的180次只来自4人，也说明总次数不能替代人数。这些次数没有区分留言发生的早晚，接着看它们集中在发帖后哪个时段，以及首回速度遗漏了哪些记录。
讲述重点：从接收总量转入留言发生与回应的时间。
来源：network_nodes.csv；summary.json network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讲述预算25秒；压缩版20秒
64.5%的评论在发帖后24小时内，82.2%在七天内，互动集中于发布早期。已观察到帖主参与的线程里，根评论到首回的中位间隔是2.05小时。但它排除了未观察到帖主参与的线程，不能代表全部留言的等待。评价回应是否及时，应该先分清有没有回、再看回得多快；只看首回速度，会漏掉没有观察到回应的那部分留言。
讲述重点：把时序解释落到速度统计遗漏了谁。
来源：extension_summary.json comments；extension_comment_timing.csv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讲述预算35秒；压缩版25秒
RQ3把语言、逐条回应和账号关系接在一起。读者更常鼓励，帖主更常感谢，但配对后可见，回复更常感谢不代表鼓励更容易被回。网络中的回话主要由帖主承担；同样多的发言又可以来自完全不同的人数，次数和参与范围要分开。最后，评论大多发生在发布早期，回应速度却只统计已接话线程。这样才能同时理解谁在说、谁在回、多少人参与，以及哪些留言没有进入速度统计。
讲述重点：只收束RQ3的回应过程，不再回头重复RQ1与RQ2。
来源：评论语言、直接配对、账号网络、参与人数与时序结果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讲述预算30秒；压缩版25秒
最后明确这批记录回答不到哪里。样本只有100位作者且抽样机制不明，不能外推全平台；正文和评论覆盖不全，各分析代表的范围不同。缺少真实曝光和统一采集时点，也意味着回归仍然是关联。词典和主题还只抓住部分内容。后续应先统一发帖后七天的观察窗口，补齐内容、独立参与者与回复记录；如果要判断具体表达或回复做法的效果，需要另外设计验证。
讲述重点：说明限制怎样影响判断，再给出与限制对应的改进。
来源：原报告§9.3—9.4；数据与模型口径核查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讲述预算10秒；压缩版10秒
本次分工：陈霖负责问题提出、数据清洗和RQ1的回答；董依心负责RQ2与RQ3的回答。
讲述重点：按实际分工署名，不增加未经确认的贡献。
来源：用户确认的实际分工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chart" Target="..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..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..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..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..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chart" Target="../charts/chart8.xml"/><Relationship Id="rId2" Type="http://schemas.openxmlformats.org/officeDocument/2006/relationships/chart" Target="../charts/chart9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chart" Target="../charts/chart10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chart" Target="../charts/chart1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6483096"/>
            <a:ext cx="10387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900" dirty="0">
                <a:solidFill>
                  <a:srgbClr val="BDD3C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社交媒体网络分析 · 课程小组汇报</a:t>
            </a:r>
            <a:endParaRPr lang="zh-CN" sz="900" dirty="0"/>
          </a:p>
        </p:txBody>
      </p:sp>
      <p:sp>
        <p:nvSpPr>
          <p:cNvPr id="3" name="Text 1"/>
          <p:cNvSpPr/>
          <p:nvPr/>
        </p:nvSpPr>
        <p:spPr>
          <a:xfrm>
            <a:off x="10963656" y="6464808"/>
            <a:ext cx="704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BDD3C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01 / 25</a:t>
            </a:r>
            <a:endParaRPr lang="zh-CN" sz="1000" dirty="0"/>
          </a:p>
        </p:txBody>
      </p:sp>
      <p:sp>
        <p:nvSpPr>
          <p:cNvPr id="4" name="Text 2"/>
          <p:cNvSpPr/>
          <p:nvPr/>
        </p:nvSpPr>
        <p:spPr>
          <a:xfrm>
            <a:off x="685800" y="640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500" dirty="0">
                <a:solidFill>
                  <a:srgbClr val="C3D9CE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Keep 社区</a:t>
            </a:r>
            <a:endParaRPr lang="zh-CN" sz="2500" dirty="0"/>
          </a:p>
        </p:txBody>
      </p:sp>
      <p:sp>
        <p:nvSpPr>
          <p:cNvPr id="5" name="Text 3"/>
          <p:cNvSpPr/>
          <p:nvPr/>
        </p:nvSpPr>
        <p:spPr>
          <a:xfrm>
            <a:off x="685800" y="1572768"/>
            <a:ext cx="97840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40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内容表达与</a:t>
            </a:r>
            <a:endParaRPr lang="zh-CN" sz="4000" dirty="0"/>
          </a:p>
          <a:p>
            <a:pPr indent="0" marL="0">
              <a:buNone/>
            </a:pPr>
            <a:r>
              <a:rPr lang="zh-CN" altLang="en-US" sz="40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互动反馈分析</a:t>
            </a:r>
            <a:endParaRPr lang="zh-CN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3767328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400" dirty="0">
                <a:solidFill>
                  <a:srgbClr val="DCEAE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哪些内容获得反馈，评论又如何形成往来？</a:t>
            </a:r>
            <a:endParaRPr lang="zh-CN" sz="2400" dirty="0"/>
          </a:p>
        </p:txBody>
      </p:sp>
      <p:sp>
        <p:nvSpPr>
          <p:cNvPr id="7" name="Text 5"/>
          <p:cNvSpPr/>
          <p:nvPr/>
        </p:nvSpPr>
        <p:spPr>
          <a:xfrm>
            <a:off x="731520" y="5449824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100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陈霖  ·  董依心</a:t>
            </a:r>
            <a:endParaRPr lang="zh-CN" sz="2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743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3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研究设计与数据</a:t>
            </a:r>
            <a:endParaRPr lang="zh-CN" sz="1300" dirty="0"/>
          </a:p>
        </p:txBody>
      </p:sp>
      <p:sp>
        <p:nvSpPr>
          <p:cNvPr id="3" name="Text 1"/>
          <p:cNvSpPr/>
          <p:nvPr/>
        </p:nvSpPr>
        <p:spPr>
          <a:xfrm>
            <a:off x="8339328" y="274320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1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研究背景、意义与研究问题</a:t>
            </a:r>
            <a:endParaRPr lang="zh-CN" sz="1100" dirty="0"/>
          </a:p>
        </p:txBody>
      </p:sp>
      <p:sp>
        <p:nvSpPr>
          <p:cNvPr id="4" name="Text 2"/>
          <p:cNvSpPr/>
          <p:nvPr/>
        </p:nvSpPr>
        <p:spPr>
          <a:xfrm>
            <a:off x="530352" y="804672"/>
            <a:ext cx="111099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800" b="1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研究背景、问题与预期</a:t>
            </a:r>
            <a:endParaRPr lang="zh-CN" sz="2800" dirty="0"/>
          </a:p>
        </p:txBody>
      </p:sp>
      <p:sp>
        <p:nvSpPr>
          <p:cNvPr id="5" name="Text 3"/>
          <p:cNvSpPr/>
          <p:nvPr/>
        </p:nvSpPr>
        <p:spPr>
          <a:xfrm>
            <a:off x="530352" y="6483096"/>
            <a:ext cx="10387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9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预期是待检验的可能解释，后文按相同RQ编号逐项回答。</a:t>
            </a:r>
            <a:endParaRPr lang="zh-CN" sz="900" dirty="0"/>
          </a:p>
        </p:txBody>
      </p:sp>
      <p:sp>
        <p:nvSpPr>
          <p:cNvPr id="6" name="Text 4"/>
          <p:cNvSpPr/>
          <p:nvPr/>
        </p:nvSpPr>
        <p:spPr>
          <a:xfrm>
            <a:off x="10963656" y="6464808"/>
            <a:ext cx="704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02 / 25</a:t>
            </a:r>
            <a:endParaRPr lang="zh-CN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627632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5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健身社区里，什么内容受到关注，人们又怎样交流？</a:t>
            </a:r>
            <a:endParaRPr lang="zh-CN" sz="2500" dirty="0"/>
          </a:p>
        </p:txBody>
      </p:sp>
      <p:sp>
        <p:nvSpPr>
          <p:cNvPr id="8" name="Text 6"/>
          <p:cNvSpPr/>
          <p:nvPr/>
        </p:nvSpPr>
        <p:spPr>
          <a:xfrm>
            <a:off x="658368" y="2221992"/>
            <a:ext cx="1078992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75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Keep既承载训练与打卡，也包含经验和生活分享。点赞是可见反馈，</a:t>
            </a:r>
            <a:endParaRPr lang="zh-CN" sz="1750" dirty="0"/>
          </a:p>
          <a:p>
            <a:pPr indent="0" marL="0">
              <a:buNone/>
            </a:pPr>
            <a:r>
              <a:rPr lang="zh-CN" altLang="en-US" sz="175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评论则记录了谁在留言、谁在接话；理解反馈需要把内容和参与者一起看。</a:t>
            </a:r>
            <a:endParaRPr lang="zh-CN" sz="1750" dirty="0"/>
          </a:p>
        </p:txBody>
      </p:sp>
      <p:sp>
        <p:nvSpPr>
          <p:cNvPr id="9" name="Text 7"/>
          <p:cNvSpPr/>
          <p:nvPr/>
        </p:nvSpPr>
        <p:spPr>
          <a:xfrm>
            <a:off x="795528" y="3017520"/>
            <a:ext cx="5120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6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三个具体问题</a:t>
            </a:r>
            <a:endParaRPr lang="zh-CN" sz="1600" dirty="0"/>
          </a:p>
        </p:txBody>
      </p:sp>
      <p:sp>
        <p:nvSpPr>
          <p:cNvPr id="10" name="Text 8"/>
          <p:cNvSpPr/>
          <p:nvPr/>
        </p:nvSpPr>
        <p:spPr>
          <a:xfrm>
            <a:off x="6419088" y="3017520"/>
            <a:ext cx="4937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6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对应预期：可能出现的结果</a:t>
            </a:r>
            <a:endParaRPr lang="zh-CN" sz="1600" dirty="0"/>
          </a:p>
        </p:txBody>
      </p:sp>
      <p:sp>
        <p:nvSpPr>
          <p:cNvPr id="11" name="Shape 9"/>
          <p:cNvSpPr/>
          <p:nvPr/>
        </p:nvSpPr>
        <p:spPr>
          <a:xfrm>
            <a:off x="640080" y="3502152"/>
            <a:ext cx="10927080" cy="813816"/>
          </a:xfrm>
          <a:prstGeom prst="rect">
            <a:avLst/>
          </a:prstGeom>
          <a:solidFill>
            <a:srgbClr val="EDF4F0"/>
          </a:solidFill>
          <a:ln w="12700">
            <a:solidFill>
              <a:srgbClr val="EDF4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5528" y="3657600"/>
            <a:ext cx="5349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750" b="1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RQ1  样本主要呈现什么内容，点赞怎样分布？</a:t>
            </a:r>
            <a:endParaRPr lang="zh-CN" sz="1750" dirty="0"/>
          </a:p>
        </p:txBody>
      </p:sp>
      <p:sp>
        <p:nvSpPr>
          <p:cNvPr id="13" name="Text 11"/>
          <p:cNvSpPr/>
          <p:nvPr/>
        </p:nvSpPr>
        <p:spPr>
          <a:xfrm>
            <a:off x="6419088" y="3611880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65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媒体反馈可能不同，高赞帖可能拉高均值；</a:t>
            </a:r>
            <a:endParaRPr lang="zh-CN" sz="1650" dirty="0"/>
          </a:p>
          <a:p>
            <a:pPr indent="0" marL="0">
              <a:buNone/>
            </a:pPr>
            <a:r>
              <a:rPr lang="zh-CN" altLang="en-US" sz="165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正文也可能同时包含运动与生活分享。</a:t>
            </a:r>
            <a:endParaRPr lang="zh-CN" sz="1650" dirty="0"/>
          </a:p>
        </p:txBody>
      </p:sp>
      <p:sp>
        <p:nvSpPr>
          <p:cNvPr id="14" name="Shape 12"/>
          <p:cNvSpPr/>
          <p:nvPr/>
        </p:nvSpPr>
        <p:spPr>
          <a:xfrm>
            <a:off x="640080" y="4389120"/>
            <a:ext cx="10927080" cy="813816"/>
          </a:xfrm>
          <a:prstGeom prst="rect">
            <a:avLst/>
          </a:prstGeom>
          <a:solidFill>
            <a:srgbClr val="F6F8F7"/>
          </a:solidFill>
          <a:ln w="12700">
            <a:solidFill>
              <a:srgbClr val="F6F8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5528" y="4544568"/>
            <a:ext cx="5349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750" b="1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RQ2  文字线索与主题是否与点赞有关？</a:t>
            </a:r>
            <a:endParaRPr lang="zh-CN" sz="1750" dirty="0"/>
          </a:p>
        </p:txBody>
      </p:sp>
      <p:sp>
        <p:nvSpPr>
          <p:cNvPr id="16" name="Text 14"/>
          <p:cNvSpPr/>
          <p:nvPr/>
        </p:nvSpPr>
        <p:spPr>
          <a:xfrm>
            <a:off x="6419088" y="4498848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65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自律、积极表达或提问可能对应较高点赞；</a:t>
            </a:r>
            <a:endParaRPr lang="zh-CN" sz="1650" dirty="0"/>
          </a:p>
          <a:p>
            <a:pPr indent="0" marL="0">
              <a:buNone/>
            </a:pPr>
            <a:r>
              <a:rPr lang="zh-CN" altLang="en-US" sz="165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调整作者与情境后，这些差异也可能减弱。</a:t>
            </a:r>
            <a:endParaRPr lang="zh-CN" sz="1650" dirty="0"/>
          </a:p>
        </p:txBody>
      </p:sp>
      <p:sp>
        <p:nvSpPr>
          <p:cNvPr id="17" name="Shape 15"/>
          <p:cNvSpPr/>
          <p:nvPr/>
        </p:nvSpPr>
        <p:spPr>
          <a:xfrm>
            <a:off x="640080" y="5276088"/>
            <a:ext cx="10927080" cy="813816"/>
          </a:xfrm>
          <a:prstGeom prst="rect">
            <a:avLst/>
          </a:prstGeom>
          <a:solidFill>
            <a:srgbClr val="EDF4F0"/>
          </a:solidFill>
          <a:ln w="12700">
            <a:solidFill>
              <a:srgbClr val="EDF4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95528" y="5431536"/>
            <a:ext cx="5349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750" b="1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RQ3  评论说什么，谁回应谁，参与面多广？</a:t>
            </a:r>
            <a:endParaRPr lang="zh-CN" sz="1750" dirty="0"/>
          </a:p>
        </p:txBody>
      </p:sp>
      <p:sp>
        <p:nvSpPr>
          <p:cNvPr id="19" name="Text 17"/>
          <p:cNvSpPr/>
          <p:nvPr/>
        </p:nvSpPr>
        <p:spPr>
          <a:xfrm>
            <a:off x="6419088" y="5385816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65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读者可能更多鼓励，帖主更多回应；</a:t>
            </a:r>
            <a:endParaRPr lang="zh-CN" sz="1650" dirty="0"/>
          </a:p>
          <a:p>
            <a:pPr indent="0" marL="0">
              <a:buNone/>
            </a:pPr>
            <a:r>
              <a:rPr lang="zh-CN" altLang="en-US" sz="165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高评论量也可能来自少数人的反复往来。</a:t>
            </a:r>
            <a:endParaRPr lang="zh-CN" sz="1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743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3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研究设计与数据</a:t>
            </a:r>
            <a:endParaRPr lang="zh-CN" sz="1300" dirty="0"/>
          </a:p>
        </p:txBody>
      </p:sp>
      <p:sp>
        <p:nvSpPr>
          <p:cNvPr id="3" name="Text 1"/>
          <p:cNvSpPr/>
          <p:nvPr/>
        </p:nvSpPr>
        <p:spPr>
          <a:xfrm>
            <a:off x="8339328" y="274320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1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数据来源、清洗与分析方法</a:t>
            </a:r>
            <a:endParaRPr lang="zh-CN" sz="1100" dirty="0"/>
          </a:p>
        </p:txBody>
      </p:sp>
      <p:sp>
        <p:nvSpPr>
          <p:cNvPr id="4" name="Text 2"/>
          <p:cNvSpPr/>
          <p:nvPr/>
        </p:nvSpPr>
        <p:spPr>
          <a:xfrm>
            <a:off x="530352" y="804672"/>
            <a:ext cx="111099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800" b="1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数据来源与清洗</a:t>
            </a:r>
            <a:endParaRPr lang="zh-CN" sz="2800" dirty="0"/>
          </a:p>
        </p:txBody>
      </p:sp>
      <p:sp>
        <p:nvSpPr>
          <p:cNvPr id="5" name="Text 3"/>
          <p:cNvSpPr/>
          <p:nvPr/>
        </p:nvSpPr>
        <p:spPr>
          <a:xfrm>
            <a:off x="530352" y="6483096"/>
            <a:ext cx="10387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9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课程100位作者样本；帖子发表于2020年11—12月（UTC），评论最晚至2021年8月。</a:t>
            </a:r>
            <a:endParaRPr lang="zh-CN" sz="900" dirty="0"/>
          </a:p>
        </p:txBody>
      </p:sp>
      <p:sp>
        <p:nvSpPr>
          <p:cNvPr id="6" name="Text 4"/>
          <p:cNvSpPr/>
          <p:nvPr/>
        </p:nvSpPr>
        <p:spPr>
          <a:xfrm>
            <a:off x="10963656" y="6464808"/>
            <a:ext cx="704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03 / 25</a:t>
            </a:r>
            <a:endParaRPr lang="zh-CN" sz="1000" dirty="0"/>
          </a:p>
        </p:txBody>
      </p:sp>
      <p:sp>
        <p:nvSpPr>
          <p:cNvPr id="7" name="Text 5"/>
          <p:cNvSpPr/>
          <p:nvPr/>
        </p:nvSpPr>
        <p:spPr>
          <a:xfrm>
            <a:off x="658368" y="1673352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34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9,532</a:t>
            </a:r>
            <a:endParaRPr lang="zh-CN" sz="3400" dirty="0"/>
          </a:p>
        </p:txBody>
      </p:sp>
      <p:sp>
        <p:nvSpPr>
          <p:cNvPr id="8" name="Text 6"/>
          <p:cNvSpPr/>
          <p:nvPr/>
        </p:nvSpPr>
        <p:spPr>
          <a:xfrm>
            <a:off x="658368" y="239572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55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帖子 · 100位作者</a:t>
            </a:r>
            <a:endParaRPr lang="zh-CN" sz="1550" dirty="0"/>
          </a:p>
        </p:txBody>
      </p:sp>
      <p:sp>
        <p:nvSpPr>
          <p:cNvPr id="9" name="Text 7"/>
          <p:cNvSpPr/>
          <p:nvPr/>
        </p:nvSpPr>
        <p:spPr>
          <a:xfrm>
            <a:off x="4370832" y="1673352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34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11,595</a:t>
            </a:r>
            <a:endParaRPr lang="zh-CN" sz="3400" dirty="0"/>
          </a:p>
        </p:txBody>
      </p:sp>
      <p:sp>
        <p:nvSpPr>
          <p:cNvPr id="10" name="Text 8"/>
          <p:cNvSpPr/>
          <p:nvPr/>
        </p:nvSpPr>
        <p:spPr>
          <a:xfrm>
            <a:off x="4370832" y="239572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55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去重后评论</a:t>
            </a:r>
            <a:endParaRPr lang="zh-CN" sz="1550" dirty="0"/>
          </a:p>
        </p:txBody>
      </p:sp>
      <p:sp>
        <p:nvSpPr>
          <p:cNvPr id="11" name="Text 9"/>
          <p:cNvSpPr/>
          <p:nvPr/>
        </p:nvSpPr>
        <p:spPr>
          <a:xfrm>
            <a:off x="8092440" y="1673352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34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1,323</a:t>
            </a:r>
            <a:endParaRPr lang="zh-CN" sz="3400" dirty="0"/>
          </a:p>
        </p:txBody>
      </p:sp>
      <p:sp>
        <p:nvSpPr>
          <p:cNvPr id="12" name="Text 10"/>
          <p:cNvSpPr/>
          <p:nvPr/>
        </p:nvSpPr>
        <p:spPr>
          <a:xfrm>
            <a:off x="8092440" y="239572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55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有采集到评论的帖子</a:t>
            </a:r>
            <a:endParaRPr lang="zh-CN" sz="15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" y="3063240"/>
          <a:ext cx="1097280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3657600"/>
                <a:gridCol w="411480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b="1" dirty="0">
                          <a:solidFill>
                            <a:srgbClr val="245C4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核查发现</a:t>
                      </a:r>
                      <a:endParaRPr lang="en-US" sz="15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b="1" dirty="0">
                          <a:solidFill>
                            <a:srgbClr val="245C4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处理方式</a:t>
                      </a:r>
                      <a:endParaRPr lang="en-US" sz="15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b="1" dirty="0">
                          <a:solidFill>
                            <a:srgbClr val="245C4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分析含义</a:t>
                      </a:r>
                      <a:endParaRPr lang="en-US" sz="15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1,916行重复评论</a:t>
                      </a:r>
                      <a:endParaRPr lang="en-US" sz="15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按评论ID去重，无字段冲突</a:t>
                      </a:r>
                      <a:endParaRPr lang="en-US" sz="15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避免同一发言被重复计入</a:t>
                      </a:r>
                      <a:endParaRPr lang="en-US" sz="15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3,984帖缺可用正文</a:t>
                      </a:r>
                      <a:endParaRPr lang="en-US" sz="15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保留；文字计数设0并另作标记</a:t>
                      </a:r>
                      <a:endParaRPr lang="en-US" sz="15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不能把缺失当作真实无文字</a:t>
                      </a:r>
                      <a:endParaRPr lang="en-US" sz="15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8,286帖点赞高于记录浏览数</a:t>
                      </a:r>
                      <a:endParaRPr lang="en-US" sz="15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使用累计点赞，不计算点赞率</a:t>
                      </a:r>
                      <a:endParaRPr lang="en-US" sz="15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不解释为曝光转化效率</a:t>
                      </a:r>
                      <a:endParaRPr lang="en-US" sz="15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 11"/>
          <p:cNvSpPr/>
          <p:nvPr/>
        </p:nvSpPr>
        <p:spPr>
          <a:xfrm>
            <a:off x="685800" y="5751576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0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先区分“记录没有采到”和“用户没有发生”，再比较反馈。</a:t>
            </a:r>
            <a:endParaRPr lang="zh-CN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743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3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RQ1  内容与点赞的分布</a:t>
            </a:r>
            <a:endParaRPr lang="zh-CN" sz="1300" dirty="0"/>
          </a:p>
        </p:txBody>
      </p:sp>
      <p:sp>
        <p:nvSpPr>
          <p:cNvPr id="3" name="Text 1"/>
          <p:cNvSpPr/>
          <p:nvPr/>
        </p:nvSpPr>
        <p:spPr>
          <a:xfrm>
            <a:off x="8339328" y="274320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1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数据覆盖与描述统计</a:t>
            </a:r>
            <a:endParaRPr lang="zh-CN" sz="1100" dirty="0"/>
          </a:p>
        </p:txBody>
      </p:sp>
      <p:sp>
        <p:nvSpPr>
          <p:cNvPr id="4" name="Text 2"/>
          <p:cNvSpPr/>
          <p:nvPr/>
        </p:nvSpPr>
        <p:spPr>
          <a:xfrm>
            <a:off x="530352" y="804672"/>
            <a:ext cx="111099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800" b="1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先明确哪些帖子和作者有可分析的正文</a:t>
            </a:r>
            <a:endParaRPr lang="zh-CN" sz="2800" dirty="0"/>
          </a:p>
        </p:txBody>
      </p:sp>
      <p:sp>
        <p:nvSpPr>
          <p:cNvPr id="5" name="Text 3"/>
          <p:cNvSpPr/>
          <p:nvPr/>
        </p:nvSpPr>
        <p:spPr>
          <a:xfrm>
            <a:off x="530352" y="6483096"/>
            <a:ext cx="10387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9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可见正文按原始正文有可见字符界定；主题分析另用清理后的有效正文。</a:t>
            </a:r>
            <a:endParaRPr lang="zh-CN" sz="900" dirty="0"/>
          </a:p>
        </p:txBody>
      </p:sp>
      <p:sp>
        <p:nvSpPr>
          <p:cNvPr id="6" name="Text 4"/>
          <p:cNvSpPr/>
          <p:nvPr/>
        </p:nvSpPr>
        <p:spPr>
          <a:xfrm>
            <a:off x="10963656" y="6464808"/>
            <a:ext cx="704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04 / 25</a:t>
            </a:r>
            <a:endParaRPr lang="zh-CN" sz="10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94360" y="1828800"/>
          <a:ext cx="6629400" cy="364845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7699248" y="1810512"/>
            <a:ext cx="3813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0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文本分析代表哪些记录？</a:t>
            </a:r>
            <a:endParaRPr lang="zh-CN" sz="2000" dirty="0"/>
          </a:p>
        </p:txBody>
      </p:sp>
      <p:sp>
        <p:nvSpPr>
          <p:cNvPr id="9" name="Text 6"/>
          <p:cNvSpPr/>
          <p:nvPr/>
        </p:nvSpPr>
        <p:spPr>
          <a:xfrm>
            <a:off x="7699248" y="2340864"/>
            <a:ext cx="381304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5,548帖有可见正文，清理后5,414帖非空；文本分析对记录较完整的媒体形式更充分。</a:t>
            </a:r>
            <a:endParaRPr lang="zh-CN" sz="1800" dirty="0"/>
          </a:p>
        </p:txBody>
      </p:sp>
      <p:sp>
        <p:nvSpPr>
          <p:cNvPr id="10" name="Text 7"/>
          <p:cNvSpPr/>
          <p:nvPr/>
        </p:nvSpPr>
        <p:spPr>
          <a:xfrm>
            <a:off x="7699248" y="3675888"/>
            <a:ext cx="3813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0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作者覆盖也不均匀</a:t>
            </a:r>
            <a:endParaRPr lang="zh-CN" sz="2000" dirty="0"/>
          </a:p>
        </p:txBody>
      </p:sp>
      <p:sp>
        <p:nvSpPr>
          <p:cNvPr id="11" name="Text 8"/>
          <p:cNvSpPr/>
          <p:nvPr/>
        </p:nvSpPr>
        <p:spPr>
          <a:xfrm>
            <a:off x="7699248" y="4206240"/>
            <a:ext cx="381304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作者正文覆盖率中位数84.3%，5位作者完全没有可见正文。主题结果主要代表正文记录较完整的作者。</a:t>
            </a:r>
            <a:endParaRPr lang="zh-CN" sz="1800" dirty="0"/>
          </a:p>
        </p:txBody>
      </p:sp>
      <p:sp>
        <p:nvSpPr>
          <p:cNvPr id="12" name="Text 9"/>
          <p:cNvSpPr/>
          <p:nvPr/>
        </p:nvSpPr>
        <p:spPr>
          <a:xfrm>
            <a:off x="667512" y="5861304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7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后续主题只针对2,470条有效正文，不能直接当作9,532帖或全平台的内容比例。</a:t>
            </a:r>
            <a:endParaRPr lang="zh-CN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743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3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RQ1  内容与点赞的分布</a:t>
            </a:r>
            <a:endParaRPr lang="zh-CN" sz="1300" dirty="0"/>
          </a:p>
        </p:txBody>
      </p:sp>
      <p:sp>
        <p:nvSpPr>
          <p:cNvPr id="3" name="Text 1"/>
          <p:cNvSpPr/>
          <p:nvPr/>
        </p:nvSpPr>
        <p:spPr>
          <a:xfrm>
            <a:off x="8339328" y="274320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1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数据覆盖与描述统计</a:t>
            </a:r>
            <a:endParaRPr lang="zh-CN" sz="1100" dirty="0"/>
          </a:p>
        </p:txBody>
      </p:sp>
      <p:sp>
        <p:nvSpPr>
          <p:cNvPr id="4" name="Text 2"/>
          <p:cNvSpPr/>
          <p:nvPr/>
        </p:nvSpPr>
        <p:spPr>
          <a:xfrm>
            <a:off x="530352" y="804672"/>
            <a:ext cx="111099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800" b="1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图片和视频帖点赞更高，整体分布同时存在长尾</a:t>
            </a:r>
            <a:endParaRPr lang="zh-CN" sz="2800" dirty="0"/>
          </a:p>
        </p:txBody>
      </p:sp>
      <p:sp>
        <p:nvSpPr>
          <p:cNvPr id="5" name="Text 3"/>
          <p:cNvSpPr/>
          <p:nvPr/>
        </p:nvSpPr>
        <p:spPr>
          <a:xfrm>
            <a:off x="530352" y="6483096"/>
            <a:ext cx="10387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9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两图为原始描述；右图显示各点赞区间的帖子数，区间宽度不同，不表示概率密度。</a:t>
            </a:r>
            <a:endParaRPr lang="zh-CN" sz="900" dirty="0"/>
          </a:p>
        </p:txBody>
      </p:sp>
      <p:sp>
        <p:nvSpPr>
          <p:cNvPr id="6" name="Text 4"/>
          <p:cNvSpPr/>
          <p:nvPr/>
        </p:nvSpPr>
        <p:spPr>
          <a:xfrm>
            <a:off x="10963656" y="6464808"/>
            <a:ext cx="704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05 / 25</a:t>
            </a:r>
            <a:endParaRPr lang="zh-CN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1691640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8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不同媒体的平均点赞</a:t>
            </a:r>
            <a:endParaRPr lang="zh-CN" sz="1800" dirty="0"/>
          </a:p>
        </p:txBody>
      </p:sp>
      <p:sp>
        <p:nvSpPr>
          <p:cNvPr id="8" name="Text 6"/>
          <p:cNvSpPr/>
          <p:nvPr/>
        </p:nvSpPr>
        <p:spPr>
          <a:xfrm>
            <a:off x="6364224" y="1691640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8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点赞区间中的帖子数</a:t>
            </a:r>
            <a:endParaRPr lang="zh-CN" sz="18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603504" y="2157984"/>
          <a:ext cx="5276088" cy="252374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0" name="Chart 1" descr=""/>
          <p:cNvGraphicFramePr/>
          <p:nvPr/>
        </p:nvGraphicFramePr>
        <p:xfrm>
          <a:off x="6263640" y="2157984"/>
          <a:ext cx="5340096" cy="252374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Text 7"/>
          <p:cNvSpPr/>
          <p:nvPr/>
        </p:nvSpPr>
        <p:spPr>
          <a:xfrm>
            <a:off x="694944" y="4892040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800" b="1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均值37.05  ·  中位数25  ·  95%分位109.45  ·  最高5,126</a:t>
            </a:r>
            <a:endParaRPr lang="zh-CN" sz="1800" dirty="0"/>
          </a:p>
        </p:txBody>
      </p:sp>
      <p:sp>
        <p:nvSpPr>
          <p:cNvPr id="12" name="Text 8"/>
          <p:cNvSpPr/>
          <p:nvPr/>
        </p:nvSpPr>
        <p:spPr>
          <a:xfrm>
            <a:off x="694944" y="5504688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8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少量高赞帖拉高平均数，均值不能代表普通帖；媒体均值也相差约一个数量级。</a:t>
            </a:r>
            <a:endParaRPr lang="zh-CN" sz="1800" dirty="0"/>
          </a:p>
        </p:txBody>
      </p:sp>
      <p:sp>
        <p:nvSpPr>
          <p:cNvPr id="13" name="Text 9"/>
          <p:cNvSpPr/>
          <p:nvPr/>
        </p:nvSpPr>
        <p:spPr>
          <a:xfrm>
            <a:off x="694944" y="6025896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55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媒体形式和点赞分布说明了反馈的基本差异；接着看有正文的帖子主要在写什么。</a:t>
            </a:r>
            <a:endParaRPr lang="zh-CN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743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3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RQ1  内容与点赞的分布</a:t>
            </a:r>
            <a:endParaRPr lang="zh-CN" sz="1300" dirty="0"/>
          </a:p>
        </p:txBody>
      </p:sp>
      <p:sp>
        <p:nvSpPr>
          <p:cNvPr id="3" name="Text 1"/>
          <p:cNvSpPr/>
          <p:nvPr/>
        </p:nvSpPr>
        <p:spPr>
          <a:xfrm>
            <a:off x="8339328" y="274320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1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帖子主题与作者构成</a:t>
            </a:r>
            <a:endParaRPr lang="zh-CN" sz="1100" dirty="0"/>
          </a:p>
        </p:txBody>
      </p:sp>
      <p:sp>
        <p:nvSpPr>
          <p:cNvPr id="4" name="Text 2"/>
          <p:cNvSpPr/>
          <p:nvPr/>
        </p:nvSpPr>
        <p:spPr>
          <a:xfrm>
            <a:off x="530352" y="804672"/>
            <a:ext cx="111099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800" b="1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帖子正文主题主要包括运动和生活</a:t>
            </a:r>
            <a:endParaRPr lang="zh-CN" sz="2800" dirty="0"/>
          </a:p>
        </p:txBody>
      </p:sp>
      <p:sp>
        <p:nvSpPr>
          <p:cNvPr id="5" name="Text 3"/>
          <p:cNvSpPr/>
          <p:nvPr/>
        </p:nvSpPr>
        <p:spPr>
          <a:xfrm>
            <a:off x="530352" y="6483096"/>
            <a:ext cx="10387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9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TF-IDF + NMF，主题数预先固定为5；名称依据词项与正文确定，不参考点赞。</a:t>
            </a:r>
            <a:endParaRPr lang="zh-CN" sz="900" dirty="0"/>
          </a:p>
        </p:txBody>
      </p:sp>
      <p:sp>
        <p:nvSpPr>
          <p:cNvPr id="6" name="Text 4"/>
          <p:cNvSpPr/>
          <p:nvPr/>
        </p:nvSpPr>
        <p:spPr>
          <a:xfrm>
            <a:off x="10963656" y="6464808"/>
            <a:ext cx="704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06 / 25</a:t>
            </a:r>
            <a:endParaRPr lang="zh-CN" sz="10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85216" y="1828800"/>
          <a:ext cx="6537960" cy="3886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7571232" y="1792224"/>
            <a:ext cx="40233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2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2,470帖 · 86位作者</a:t>
            </a:r>
            <a:endParaRPr lang="zh-CN" sz="2200" dirty="0"/>
          </a:p>
        </p:txBody>
      </p:sp>
      <p:sp>
        <p:nvSpPr>
          <p:cNvPr id="9" name="Text 6"/>
          <p:cNvSpPr/>
          <p:nvPr/>
        </p:nvSpPr>
        <p:spPr>
          <a:xfrm>
            <a:off x="7571232" y="2505456"/>
            <a:ext cx="401421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75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训练交流：运动、减脂、训练、拉伸</a:t>
            </a:r>
            <a:endParaRPr lang="zh-CN" sz="1750" dirty="0"/>
          </a:p>
          <a:p>
            <a:pPr indent="0" marL="0">
              <a:buNone/>
            </a:pPr>
            <a:r>
              <a:rPr lang="zh-CN" altLang="en-US" sz="175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生活问候：人生、生活、早安、美好</a:t>
            </a:r>
            <a:endParaRPr lang="zh-CN" sz="1750" dirty="0"/>
          </a:p>
        </p:txBody>
      </p:sp>
      <p:sp>
        <p:nvSpPr>
          <p:cNvPr id="10" name="Text 7"/>
          <p:cNvSpPr/>
          <p:nvPr/>
        </p:nvSpPr>
        <p:spPr>
          <a:xfrm>
            <a:off x="7571232" y="3749040"/>
            <a:ext cx="4014216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前两类合计88.5%。这批有效正文不仅讨论如何训练，也经常写感受、生活和问候，不能把健身社区里的文字都当成运动成绩记录。</a:t>
            </a:r>
            <a:endParaRPr lang="zh-CN" sz="1800" dirty="0"/>
          </a:p>
        </p:txBody>
      </p:sp>
      <p:sp>
        <p:nvSpPr>
          <p:cNvPr id="11" name="Text 8"/>
          <p:cNvSpPr/>
          <p:nvPr/>
        </p:nvSpPr>
        <p:spPr>
          <a:xfrm>
            <a:off x="676656" y="5852160"/>
            <a:ext cx="10881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7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占比按每帖权重最大的主题归类。同一作者可写多个主题，内容量大也可能是某些人写得多。</a:t>
            </a:r>
            <a:endParaRPr lang="zh-CN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743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3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RQ1  内容与点赞的分布</a:t>
            </a:r>
            <a:endParaRPr lang="zh-CN" sz="1300" dirty="0"/>
          </a:p>
        </p:txBody>
      </p:sp>
      <p:sp>
        <p:nvSpPr>
          <p:cNvPr id="3" name="Text 1"/>
          <p:cNvSpPr/>
          <p:nvPr/>
        </p:nvSpPr>
        <p:spPr>
          <a:xfrm>
            <a:off x="8339328" y="274320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1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帖子主题与作者构成</a:t>
            </a:r>
            <a:endParaRPr lang="zh-CN" sz="1100" dirty="0"/>
          </a:p>
        </p:txBody>
      </p:sp>
      <p:sp>
        <p:nvSpPr>
          <p:cNvPr id="4" name="Text 2"/>
          <p:cNvSpPr/>
          <p:nvPr/>
        </p:nvSpPr>
        <p:spPr>
          <a:xfrm>
            <a:off x="530352" y="804672"/>
            <a:ext cx="111099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800" b="1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常见内容，也可能是少数人的高频记录</a:t>
            </a:r>
            <a:endParaRPr lang="zh-CN" sz="2800" dirty="0"/>
          </a:p>
        </p:txBody>
      </p:sp>
      <p:sp>
        <p:nvSpPr>
          <p:cNvPr id="5" name="Text 3"/>
          <p:cNvSpPr/>
          <p:nvPr/>
        </p:nvSpPr>
        <p:spPr>
          <a:xfrm>
            <a:off x="530352" y="6483096"/>
            <a:ext cx="10387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9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两组沿用同一主题分类；作者等权先计算每人的主题比例，再对86位作者平均。</a:t>
            </a:r>
            <a:endParaRPr lang="zh-CN" sz="900" dirty="0"/>
          </a:p>
        </p:txBody>
      </p:sp>
      <p:sp>
        <p:nvSpPr>
          <p:cNvPr id="6" name="Text 4"/>
          <p:cNvSpPr/>
          <p:nvPr/>
        </p:nvSpPr>
        <p:spPr>
          <a:xfrm>
            <a:off x="10963656" y="6464808"/>
            <a:ext cx="704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07 / 25</a:t>
            </a:r>
            <a:endParaRPr lang="zh-CN" sz="10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85216" y="1810512"/>
          <a:ext cx="6583680" cy="4069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7589520" y="1828800"/>
            <a:ext cx="3977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600" b="1" dirty="0">
                <a:solidFill>
                  <a:srgbClr val="B97339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静蹲：3.4% → 0.6%</a:t>
            </a:r>
            <a:endParaRPr lang="zh-CN" sz="2600" dirty="0"/>
          </a:p>
        </p:txBody>
      </p:sp>
      <p:sp>
        <p:nvSpPr>
          <p:cNvPr id="9" name="Text 6"/>
          <p:cNvSpPr/>
          <p:nvPr/>
        </p:nvSpPr>
        <p:spPr>
          <a:xfrm>
            <a:off x="7589520" y="2697480"/>
            <a:ext cx="3977640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85条主导文档中，78条来自同一作者。按帖看是在统计这种记录出现了多少次；作者等权后，才减少了高产作者的重复贡献。</a:t>
            </a:r>
            <a:endParaRPr lang="zh-CN" sz="1800" dirty="0"/>
          </a:p>
        </p:txBody>
      </p:sp>
      <p:sp>
        <p:nvSpPr>
          <p:cNvPr id="10" name="Text 7"/>
          <p:cNvSpPr/>
          <p:nvPr/>
        </p:nvSpPr>
        <p:spPr>
          <a:xfrm>
            <a:off x="7589520" y="4645152"/>
            <a:ext cx="397764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75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训练52.7% → 52.6%，生活35.8% → 38.2%。两条主要内容线仍在，变化集中在部分小主题。</a:t>
            </a:r>
            <a:endParaRPr lang="zh-CN" sz="1750" dirty="0"/>
          </a:p>
        </p:txBody>
      </p:sp>
      <p:sp>
        <p:nvSpPr>
          <p:cNvPr id="11" name="Text 8"/>
          <p:cNvSpPr/>
          <p:nvPr/>
        </p:nvSpPr>
        <p:spPr>
          <a:xfrm>
            <a:off x="685800" y="5998464"/>
            <a:ext cx="108356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7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训练和生活是两条主要内容线；部分小主题的份额，则会被少数作者的持续记录放大。</a:t>
            </a:r>
            <a:endParaRPr lang="zh-CN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73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743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300" b="1" dirty="0">
                <a:solidFill>
                  <a:srgbClr val="C5D9D0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RQ1  内容与点赞的分布</a:t>
            </a:r>
            <a:endParaRPr lang="zh-CN" sz="1300" dirty="0"/>
          </a:p>
        </p:txBody>
      </p:sp>
      <p:sp>
        <p:nvSpPr>
          <p:cNvPr id="3" name="Text 1"/>
          <p:cNvSpPr/>
          <p:nvPr/>
        </p:nvSpPr>
        <p:spPr>
          <a:xfrm>
            <a:off x="8339328" y="274320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100" dirty="0">
                <a:solidFill>
                  <a:srgbClr val="C5D9D0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数据覆盖与描述统计</a:t>
            </a:r>
            <a:endParaRPr lang="zh-CN" sz="1100" dirty="0"/>
          </a:p>
        </p:txBody>
      </p:sp>
      <p:sp>
        <p:nvSpPr>
          <p:cNvPr id="4" name="Text 2"/>
          <p:cNvSpPr/>
          <p:nvPr/>
        </p:nvSpPr>
        <p:spPr>
          <a:xfrm>
            <a:off x="530352" y="804672"/>
            <a:ext cx="111099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8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RQ1的回答：这批帖子的内容和点赞怎样分布</a:t>
            </a:r>
            <a:endParaRPr lang="zh-CN" sz="2800" dirty="0"/>
          </a:p>
        </p:txBody>
      </p:sp>
      <p:sp>
        <p:nvSpPr>
          <p:cNvPr id="5" name="Text 3"/>
          <p:cNvSpPr/>
          <p:nvPr/>
        </p:nvSpPr>
        <p:spPr>
          <a:xfrm>
            <a:off x="530352" y="6483096"/>
            <a:ext cx="10387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900" dirty="0">
                <a:solidFill>
                  <a:srgbClr val="BDD3C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范围：9,532帖；主题比例仅代表2,470条有效正文、86位作者。</a:t>
            </a:r>
            <a:endParaRPr lang="zh-CN" sz="900" dirty="0"/>
          </a:p>
        </p:txBody>
      </p:sp>
      <p:sp>
        <p:nvSpPr>
          <p:cNvPr id="6" name="Text 4"/>
          <p:cNvSpPr/>
          <p:nvPr/>
        </p:nvSpPr>
        <p:spPr>
          <a:xfrm>
            <a:off x="10963656" y="6464808"/>
            <a:ext cx="704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BDD3C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08 / 25</a:t>
            </a:r>
            <a:endParaRPr lang="zh-CN" sz="1000" dirty="0"/>
          </a:p>
        </p:txBody>
      </p:sp>
      <p:sp>
        <p:nvSpPr>
          <p:cNvPr id="7" name="Text 5"/>
          <p:cNvSpPr/>
          <p:nvPr/>
        </p:nvSpPr>
        <p:spPr>
          <a:xfrm>
            <a:off x="713232" y="1755648"/>
            <a:ext cx="10698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5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媒体不同，收到的点赞并不均匀。</a:t>
            </a:r>
            <a:endParaRPr lang="zh-CN" sz="2500" dirty="0"/>
          </a:p>
        </p:txBody>
      </p:sp>
      <p:sp>
        <p:nvSpPr>
          <p:cNvPr id="8" name="Text 6"/>
          <p:cNvSpPr/>
          <p:nvPr/>
        </p:nvSpPr>
        <p:spPr>
          <a:xfrm>
            <a:off x="731520" y="2377440"/>
            <a:ext cx="10652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900" dirty="0">
                <a:solidFill>
                  <a:srgbClr val="DFEAE3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图片和视频帖平均约51、48赞，文字与无媒体约8、4赞。整体均值37.05高于中位数25，少量高赞把分布拉出长尾；单用平均数会高估普通帖子的反馈水平。</a:t>
            </a:r>
            <a:endParaRPr lang="zh-CN" sz="1900" dirty="0"/>
          </a:p>
        </p:txBody>
      </p:sp>
      <p:sp>
        <p:nvSpPr>
          <p:cNvPr id="9" name="Text 7"/>
          <p:cNvSpPr/>
          <p:nvPr/>
        </p:nvSpPr>
        <p:spPr>
          <a:xfrm>
            <a:off x="713232" y="3675888"/>
            <a:ext cx="10698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4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正文同时包含训练交流和生活分享，篇幅也受作者影响。</a:t>
            </a:r>
            <a:endParaRPr lang="zh-CN" sz="2400" dirty="0"/>
          </a:p>
        </p:txBody>
      </p:sp>
      <p:sp>
        <p:nvSpPr>
          <p:cNvPr id="10" name="Text 8"/>
          <p:cNvSpPr/>
          <p:nvPr/>
        </p:nvSpPr>
        <p:spPr>
          <a:xfrm>
            <a:off x="731520" y="4306824"/>
            <a:ext cx="106527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900" dirty="0">
                <a:solidFill>
                  <a:srgbClr val="DFEAE3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训练交流52.7%、生活问候35.8%，作者等权后仍是两条主线。静蹲却由3.4%降至0.6%，其中85帖有78帖来自一人：这种记录出现多，不等于很多作者都在写。</a:t>
            </a:r>
            <a:endParaRPr lang="zh-CN" sz="1900" dirty="0"/>
          </a:p>
        </p:txBody>
      </p:sp>
      <p:sp>
        <p:nvSpPr>
          <p:cNvPr id="11" name="Shape 9"/>
          <p:cNvSpPr/>
          <p:nvPr/>
        </p:nvSpPr>
        <p:spPr>
          <a:xfrm>
            <a:off x="676656" y="5596128"/>
            <a:ext cx="10936224" cy="585216"/>
          </a:xfrm>
          <a:prstGeom prst="rect">
            <a:avLst/>
          </a:prstGeom>
          <a:solidFill>
            <a:srgbClr val="295347"/>
          </a:solidFill>
          <a:ln w="12700">
            <a:solidFill>
              <a:srgbClr val="29534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9536" y="5742432"/>
            <a:ext cx="10561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E3ECE6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RQ2接着问：把媒体、作者与日期一起纳入比较后，文字或主题与点赞还有多大关联？</a:t>
            </a:r>
            <a:endParaRPr lang="zh-CN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743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3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RQ2  文字、主题与点赞的关联</a:t>
            </a:r>
            <a:endParaRPr lang="zh-CN" sz="1300" dirty="0"/>
          </a:p>
        </p:txBody>
      </p:sp>
      <p:sp>
        <p:nvSpPr>
          <p:cNvPr id="3" name="Text 1"/>
          <p:cNvSpPr/>
          <p:nvPr/>
        </p:nvSpPr>
        <p:spPr>
          <a:xfrm>
            <a:off x="8339328" y="274320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1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文字表达与点赞的关联</a:t>
            </a:r>
            <a:endParaRPr lang="zh-CN" sz="1100" dirty="0"/>
          </a:p>
        </p:txBody>
      </p:sp>
      <p:sp>
        <p:nvSpPr>
          <p:cNvPr id="4" name="Text 2"/>
          <p:cNvSpPr/>
          <p:nvPr/>
        </p:nvSpPr>
        <p:spPr>
          <a:xfrm>
            <a:off x="530352" y="804672"/>
            <a:ext cx="111099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800" b="1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怎样把文字表达放进点赞比较</a:t>
            </a:r>
            <a:endParaRPr lang="zh-CN" sz="2800" dirty="0"/>
          </a:p>
        </p:txBody>
      </p:sp>
      <p:sp>
        <p:nvSpPr>
          <p:cNvPr id="5" name="Text 3"/>
          <p:cNvSpPr/>
          <p:nvPr/>
        </p:nvSpPr>
        <p:spPr>
          <a:xfrm>
            <a:off x="530352" y="6483096"/>
            <a:ext cx="10387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9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文字词表只识别字面线索，不是情绪量表；特征可重叠。</a:t>
            </a:r>
            <a:endParaRPr lang="zh-CN" sz="900" dirty="0"/>
          </a:p>
        </p:txBody>
      </p:sp>
      <p:sp>
        <p:nvSpPr>
          <p:cNvPr id="6" name="Text 4"/>
          <p:cNvSpPr/>
          <p:nvPr/>
        </p:nvSpPr>
        <p:spPr>
          <a:xfrm>
            <a:off x="10963656" y="6464808"/>
            <a:ext cx="704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09 / 25</a:t>
            </a:r>
            <a:endParaRPr lang="zh-CN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" y="1773936"/>
          <a:ext cx="60350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4206240"/>
              </a:tblGrid>
              <a:tr h="5394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b="1" dirty="0">
                          <a:solidFill>
                            <a:srgbClr val="245C4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五项文字变量</a:t>
                      </a:r>
                      <a:endParaRPr lang="en-US" sz="15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b="1" dirty="0">
                          <a:solidFill>
                            <a:srgbClr val="245C4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定义与例子</a:t>
                      </a:r>
                      <a:endParaRPr lang="en-US" sz="15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0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正文长度 L</a:t>
                      </a:r>
                      <a:endParaRPr lang="en-US" sz="15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ln(1+清理后字符数)</a:t>
                      </a:r>
                      <a:endParaRPr lang="en-US" sz="15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自律 / 目标 D</a:t>
                      </a:r>
                      <a:endParaRPr lang="en-US" sz="15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坚持、自律、目标、第N天等词表或模式</a:t>
                      </a:r>
                      <a:endParaRPr lang="en-US" sz="15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7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社交 / 互助 S</a:t>
                      </a:r>
                      <a:endParaRPr lang="en-US" sz="15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大家、小伙伴、谢谢、一起等词表</a:t>
                      </a:r>
                      <a:endParaRPr lang="en-US" sz="15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积极表达 P</a:t>
                      </a:r>
                      <a:endParaRPr lang="en-US" sz="15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开心、快乐、喜欢、哈哈等词表</a:t>
                      </a:r>
                      <a:endParaRPr lang="en-US" sz="15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7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问号 Q</a:t>
                      </a:r>
                      <a:endParaRPr lang="en-US" sz="15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全角或半角问号，出现记1</a:t>
                      </a:r>
                      <a:endParaRPr lang="en-US" sz="15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85800" y="5230368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45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除长度外，命中记1；一帖可同时命中多个词类。</a:t>
            </a:r>
            <a:endParaRPr lang="zh-CN" sz="1450" dirty="0"/>
          </a:p>
        </p:txBody>
      </p:sp>
      <p:sp>
        <p:nvSpPr>
          <p:cNvPr id="9" name="Text 6"/>
          <p:cNvSpPr/>
          <p:nvPr/>
        </p:nvSpPr>
        <p:spPr>
          <a:xfrm>
            <a:off x="7086600" y="1847088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0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比较什么结果？</a:t>
            </a:r>
            <a:endParaRPr lang="zh-CN" sz="2000" dirty="0"/>
          </a:p>
        </p:txBody>
      </p:sp>
      <p:sp>
        <p:nvSpPr>
          <p:cNvPr id="10" name="Text 7"/>
          <p:cNvSpPr/>
          <p:nvPr/>
        </p:nvSpPr>
        <p:spPr>
          <a:xfrm>
            <a:off x="7086600" y="2377440"/>
            <a:ext cx="44348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点赞分布有长尾，因此模型采用 ln(1+点赞数)，减少少量极端高赞对比较的影响。</a:t>
            </a:r>
            <a:endParaRPr lang="zh-CN" sz="1800" dirty="0"/>
          </a:p>
        </p:txBody>
      </p:sp>
      <p:sp>
        <p:nvSpPr>
          <p:cNvPr id="11" name="Text 8"/>
          <p:cNvSpPr/>
          <p:nvPr/>
        </p:nvSpPr>
        <p:spPr>
          <a:xfrm>
            <a:off x="7086600" y="3886200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0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怎样判断文字的额外关联？</a:t>
            </a:r>
            <a:endParaRPr lang="zh-CN" sz="2000" dirty="0"/>
          </a:p>
        </p:txBody>
      </p:sp>
      <p:sp>
        <p:nvSpPr>
          <p:cNvPr id="12" name="Text 9"/>
          <p:cNvSpPr/>
          <p:nvPr/>
        </p:nvSpPr>
        <p:spPr>
          <a:xfrm>
            <a:off x="7086600" y="4416552"/>
            <a:ext cx="44348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先看命中与未命中的均值及媒体构成，再同时调整作者、日期和发布情境，检查原始差异是否保留。</a:t>
            </a:r>
            <a:endParaRPr lang="zh-CN" sz="1800" dirty="0"/>
          </a:p>
        </p:txBody>
      </p:sp>
      <p:sp>
        <p:nvSpPr>
          <p:cNvPr id="13" name="Text 10"/>
          <p:cNvSpPr/>
          <p:nvPr/>
        </p:nvSpPr>
        <p:spPr>
          <a:xfrm>
            <a:off x="7086600" y="5596128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6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用词检验之后，再加入RQ1已经识别的主题权重，检查整篇内容是否补充点赞关联。</a:t>
            </a:r>
            <a:endParaRPr lang="zh-CN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743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3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RQ2  文字、主题与点赞的关联</a:t>
            </a:r>
            <a:endParaRPr lang="zh-CN" sz="1300" dirty="0"/>
          </a:p>
        </p:txBody>
      </p:sp>
      <p:sp>
        <p:nvSpPr>
          <p:cNvPr id="3" name="Text 1"/>
          <p:cNvSpPr/>
          <p:nvPr/>
        </p:nvSpPr>
        <p:spPr>
          <a:xfrm>
            <a:off x="8339328" y="274320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1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文字表达与点赞的关联</a:t>
            </a:r>
            <a:endParaRPr lang="zh-CN" sz="1100" dirty="0"/>
          </a:p>
        </p:txBody>
      </p:sp>
      <p:sp>
        <p:nvSpPr>
          <p:cNvPr id="4" name="Text 2"/>
          <p:cNvSpPr/>
          <p:nvPr/>
        </p:nvSpPr>
        <p:spPr>
          <a:xfrm>
            <a:off x="530352" y="804672"/>
            <a:ext cx="111099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800" b="1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分组均值较高，但文字与媒体构成混在一起</a:t>
            </a:r>
            <a:endParaRPr lang="zh-CN" sz="2800" dirty="0"/>
          </a:p>
        </p:txBody>
      </p:sp>
      <p:sp>
        <p:nvSpPr>
          <p:cNvPr id="5" name="Text 3"/>
          <p:cNvSpPr/>
          <p:nvPr/>
        </p:nvSpPr>
        <p:spPr>
          <a:xfrm>
            <a:off x="530352" y="6483096"/>
            <a:ext cx="10387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9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变量已在第9页定义；组别与特征可重叠，分组均值尚未调整作者和发布情境。</a:t>
            </a:r>
            <a:endParaRPr lang="zh-CN" sz="900" dirty="0"/>
          </a:p>
        </p:txBody>
      </p:sp>
      <p:sp>
        <p:nvSpPr>
          <p:cNvPr id="6" name="Text 4"/>
          <p:cNvSpPr/>
          <p:nvPr/>
        </p:nvSpPr>
        <p:spPr>
          <a:xfrm>
            <a:off x="10963656" y="6464808"/>
            <a:ext cx="704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10 / 25</a:t>
            </a:r>
            <a:endParaRPr lang="zh-CN" sz="10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76072" y="1828800"/>
          <a:ext cx="658368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7571232" y="1746504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0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积极表达组的进一步比较</a:t>
            </a:r>
            <a:endParaRPr lang="zh-CN" sz="2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543800" y="2359152"/>
          <a:ext cx="4050792" cy="914400"/>
        </p:xfrm>
        <a:graphic>
          <a:graphicData uri="http://schemas.openxmlformats.org/drawingml/2006/table">
            <a:tbl>
              <a:tblPr/>
              <a:tblGrid>
                <a:gridCol w="1307592"/>
                <a:gridCol w="1234440"/>
                <a:gridCol w="1508760"/>
              </a:tblGrid>
              <a:tr h="521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245C4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组别</a:t>
                      </a:r>
                      <a:endParaRPr lang="en-US" sz="14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245C4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帖数</a:t>
                      </a:r>
                      <a:endParaRPr lang="en-US" sz="14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245C4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图片/视频</a:t>
                      </a:r>
                      <a:endParaRPr lang="en-US" sz="14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0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命中</a:t>
                      </a:r>
                      <a:endParaRPr lang="en-US" sz="14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574</a:t>
                      </a:r>
                      <a:endParaRPr lang="en-US" sz="14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94.9%</a:t>
                      </a:r>
                      <a:endParaRPr lang="en-US" sz="14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未命中</a:t>
                      </a:r>
                      <a:endParaRPr lang="en-US" sz="14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8,958</a:t>
                      </a:r>
                      <a:endParaRPr lang="en-US" sz="14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69.1%</a:t>
                      </a:r>
                      <a:endParaRPr lang="en-US" sz="14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7"/>
                    </a:solidFill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7589520" y="4288536"/>
            <a:ext cx="396849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75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57.29 vs 35.76 个赞，</a:t>
            </a:r>
            <a:endParaRPr lang="zh-CN" sz="1750" dirty="0"/>
          </a:p>
          <a:p>
            <a:pPr indent="0" marL="0">
              <a:buNone/>
            </a:pPr>
            <a:r>
              <a:rPr lang="zh-CN" altLang="en-US" sz="175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同时伴随媒体构成差异。</a:t>
            </a:r>
            <a:endParaRPr lang="zh-CN" sz="1750" dirty="0"/>
          </a:p>
          <a:p>
            <a:pPr indent="0" marL="0">
              <a:buNone/>
            </a:pPr>
            <a:r>
              <a:rPr lang="zh-CN" altLang="en-US" sz="175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命中组分布于64位作者，</a:t>
            </a:r>
            <a:endParaRPr lang="zh-CN" sz="1750" dirty="0"/>
          </a:p>
          <a:p>
            <a:pPr indent="0" marL="0">
              <a:buNone/>
            </a:pPr>
            <a:r>
              <a:rPr lang="zh-CN" altLang="en-US" sz="175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未命中组覆盖100位作者。</a:t>
            </a:r>
            <a:endParaRPr lang="zh-CN" sz="1750" dirty="0"/>
          </a:p>
        </p:txBody>
      </p:sp>
      <p:sp>
        <p:nvSpPr>
          <p:cNvPr id="11" name="Text 7"/>
          <p:cNvSpPr/>
          <p:nvPr/>
        </p:nvSpPr>
        <p:spPr>
          <a:xfrm>
            <a:off x="667512" y="58978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800" b="1" dirty="0">
                <a:solidFill>
                  <a:srgbClr val="B97339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下一步：同时控制媒体、作者和日期，比较这些用词是否仍有额外关联。</a:t>
            </a:r>
            <a:endParaRPr lang="zh-CN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743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3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RQ2  文字、主题与点赞的关联</a:t>
            </a:r>
            <a:endParaRPr lang="zh-CN" sz="1300" dirty="0"/>
          </a:p>
        </p:txBody>
      </p:sp>
      <p:sp>
        <p:nvSpPr>
          <p:cNvPr id="3" name="Text 1"/>
          <p:cNvSpPr/>
          <p:nvPr/>
        </p:nvSpPr>
        <p:spPr>
          <a:xfrm>
            <a:off x="8339328" y="274320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1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文字表达与点赞的关联</a:t>
            </a:r>
            <a:endParaRPr lang="zh-CN" sz="1100" dirty="0"/>
          </a:p>
        </p:txBody>
      </p:sp>
      <p:sp>
        <p:nvSpPr>
          <p:cNvPr id="4" name="Text 2"/>
          <p:cNvSpPr/>
          <p:nvPr/>
        </p:nvSpPr>
        <p:spPr>
          <a:xfrm>
            <a:off x="530352" y="804672"/>
            <a:ext cx="111099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800" b="1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用作者与日期固定效应，进一步改善比较</a:t>
            </a:r>
            <a:endParaRPr lang="zh-CN" sz="2800" dirty="0"/>
          </a:p>
        </p:txBody>
      </p:sp>
      <p:sp>
        <p:nvSpPr>
          <p:cNvPr id="5" name="Text 3"/>
          <p:cNvSpPr/>
          <p:nvPr/>
        </p:nvSpPr>
        <p:spPr>
          <a:xfrm>
            <a:off x="530352" y="6483096"/>
            <a:ext cx="10387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9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主分析为OLS；N=9,532、100位作者，标准误按作者聚类，五项核心系数采用BH校正。</a:t>
            </a:r>
            <a:endParaRPr lang="zh-CN" sz="900" dirty="0"/>
          </a:p>
        </p:txBody>
      </p:sp>
      <p:sp>
        <p:nvSpPr>
          <p:cNvPr id="6" name="Text 4"/>
          <p:cNvSpPr/>
          <p:nvPr/>
        </p:nvSpPr>
        <p:spPr>
          <a:xfrm>
            <a:off x="10963656" y="6464808"/>
            <a:ext cx="704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11 / 25</a:t>
            </a:r>
            <a:endParaRPr lang="zh-CN" sz="1000" dirty="0"/>
          </a:p>
        </p:txBody>
      </p:sp>
      <p:sp>
        <p:nvSpPr>
          <p:cNvPr id="7" name="Shape 5"/>
          <p:cNvSpPr/>
          <p:nvPr/>
        </p:nvSpPr>
        <p:spPr>
          <a:xfrm>
            <a:off x="621792" y="1700784"/>
            <a:ext cx="10972800" cy="859536"/>
          </a:xfrm>
          <a:prstGeom prst="rect">
            <a:avLst/>
          </a:prstGeom>
          <a:solidFill>
            <a:srgbClr val="EDF4F0"/>
          </a:solidFill>
          <a:ln w="12700">
            <a:solidFill>
              <a:srgbClr val="EDF4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3816" y="1938528"/>
            <a:ext cx="1058875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3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M3：ln(1 + 点赞数) = β′X + γ′C + α作者 + δ日期 + ε</a:t>
            </a:r>
            <a:endParaRPr lang="zh-CN" sz="2300" dirty="0"/>
          </a:p>
        </p:txBody>
      </p:sp>
      <p:sp>
        <p:nvSpPr>
          <p:cNvPr id="9" name="Text 7"/>
          <p:cNvSpPr/>
          <p:nvPr/>
        </p:nvSpPr>
        <p:spPr>
          <a:xfrm>
            <a:off x="685800" y="2770632"/>
            <a:ext cx="10835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55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X：长度、自律、社交、积极、问号。C：正文可用、话题、表情数、课程分享，以及媒体、业务类型、时段。</a:t>
            </a:r>
            <a:endParaRPr lang="zh-CN" sz="15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" y="3547872"/>
          <a:ext cx="10972800" cy="914400"/>
        </p:xfrm>
        <a:graphic>
          <a:graphicData uri="http://schemas.openxmlformats.org/drawingml/2006/table">
            <a:tbl>
              <a:tblPr/>
              <a:tblGrid>
                <a:gridCol w="1298448"/>
                <a:gridCol w="4645152"/>
                <a:gridCol w="1097280"/>
                <a:gridCol w="3931920"/>
              </a:tblGrid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b="1" dirty="0">
                          <a:solidFill>
                            <a:srgbClr val="245C4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模型</a:t>
                      </a:r>
                      <a:endParaRPr lang="en-US" sz="15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b="1" dirty="0">
                          <a:solidFill>
                            <a:srgbClr val="245C4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调整范围</a:t>
                      </a:r>
                      <a:endParaRPr lang="en-US" sz="15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b="1" dirty="0">
                          <a:solidFill>
                            <a:srgbClr val="245C4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R²</a:t>
                      </a:r>
                      <a:endParaRPr lang="en-US" sz="15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b="1" dirty="0">
                          <a:solidFill>
                            <a:srgbClr val="245C4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积极表达系数 / 原始p</a:t>
                      </a:r>
                      <a:endParaRPr lang="en-US" sz="15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0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M1</a:t>
                      </a:r>
                      <a:endParaRPr lang="en-US" sz="15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X + C + 已记录作者属性</a:t>
                      </a:r>
                      <a:endParaRPr lang="en-US" sz="15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0.563</a:t>
                      </a:r>
                      <a:endParaRPr lang="en-US" sz="15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−0.050 / 0.285</a:t>
                      </a:r>
                      <a:endParaRPr lang="en-US" sz="15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M2</a:t>
                      </a:r>
                      <a:endParaRPr lang="en-US" sz="15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X + C + 作者固定效应</a:t>
                      </a:r>
                      <a:endParaRPr lang="en-US" sz="15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0.685</a:t>
                      </a:r>
                      <a:endParaRPr lang="en-US" sz="15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−0.087 / 0.016</a:t>
                      </a:r>
                      <a:endParaRPr lang="en-US" sz="15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7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M3 主模型</a:t>
                      </a:r>
                      <a:endParaRPr lang="en-US" sz="15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X + C + 作者、日期固定效应</a:t>
                      </a:r>
                      <a:endParaRPr lang="en-US" sz="15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0.688</a:t>
                      </a:r>
                      <a:endParaRPr lang="en-US" sz="15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−0.086 / 0.016</a:t>
                      </a:r>
                      <a:endParaRPr lang="en-US" sz="15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0E8"/>
                    </a:solidFill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685800" y="5687568"/>
            <a:ext cx="10835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75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加入作者固定效应后拟合度提高，提示作者差异值得考虑；积极表达在M1中就已为负。</a:t>
            </a:r>
            <a:endParaRPr lang="zh-CN" sz="1750" dirty="0"/>
          </a:p>
        </p:txBody>
      </p:sp>
      <p:sp>
        <p:nvSpPr>
          <p:cNvPr id="12" name="Text 9"/>
          <p:cNvSpPr/>
          <p:nvPr/>
        </p:nvSpPr>
        <p:spPr>
          <a:xfrm>
            <a:off x="685800" y="6144768"/>
            <a:ext cx="10835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28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这里比较的是调整后的对数结果，不能把与原始均值的差别单独归因于某一个控制项。</a:t>
            </a:r>
            <a:endParaRPr lang="zh-CN" sz="12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743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3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RQ2  文字、主题与点赞的关联</a:t>
            </a:r>
            <a:endParaRPr lang="zh-CN" sz="1300" dirty="0"/>
          </a:p>
        </p:txBody>
      </p:sp>
      <p:sp>
        <p:nvSpPr>
          <p:cNvPr id="3" name="Text 1"/>
          <p:cNvSpPr/>
          <p:nvPr/>
        </p:nvSpPr>
        <p:spPr>
          <a:xfrm>
            <a:off x="8339328" y="274320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1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文字表达与点赞的关联</a:t>
            </a:r>
            <a:endParaRPr lang="zh-CN" sz="1100" dirty="0"/>
          </a:p>
        </p:txBody>
      </p:sp>
      <p:sp>
        <p:nvSpPr>
          <p:cNvPr id="4" name="Text 2"/>
          <p:cNvSpPr/>
          <p:nvPr/>
        </p:nvSpPr>
        <p:spPr>
          <a:xfrm>
            <a:off x="530352" y="804672"/>
            <a:ext cx="111099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800" b="1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M3没有保留原始用词优势，单项线索也需要校正</a:t>
            </a:r>
            <a:endParaRPr lang="zh-CN" sz="2800" dirty="0"/>
          </a:p>
        </p:txBody>
      </p:sp>
      <p:sp>
        <p:nvSpPr>
          <p:cNvPr id="5" name="Text 3"/>
          <p:cNvSpPr/>
          <p:nvPr/>
        </p:nvSpPr>
        <p:spPr>
          <a:xfrm>
            <a:off x="530352" y="6483096"/>
            <a:ext cx="10387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9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表中为M3的作者聚类推断；95%区间与p为原始值，BH q同时考虑五项核心检验。</a:t>
            </a:r>
            <a:endParaRPr lang="zh-CN" sz="900" dirty="0"/>
          </a:p>
        </p:txBody>
      </p:sp>
      <p:sp>
        <p:nvSpPr>
          <p:cNvPr id="6" name="Text 4"/>
          <p:cNvSpPr/>
          <p:nvPr/>
        </p:nvSpPr>
        <p:spPr>
          <a:xfrm>
            <a:off x="10963656" y="6464808"/>
            <a:ext cx="704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12 / 25</a:t>
            </a:r>
            <a:endParaRPr lang="zh-CN" sz="1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3504" y="1810512"/>
          <a:ext cx="7589520" cy="914400"/>
        </p:xfrm>
        <a:graphic>
          <a:graphicData uri="http://schemas.openxmlformats.org/drawingml/2006/table">
            <a:tbl>
              <a:tblPr/>
              <a:tblGrid>
                <a:gridCol w="1993392"/>
                <a:gridCol w="941832"/>
                <a:gridCol w="2596896"/>
                <a:gridCol w="969264"/>
                <a:gridCol w="1088136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60" b="1" dirty="0">
                          <a:solidFill>
                            <a:srgbClr val="245C4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文字特征</a:t>
                      </a:r>
                      <a:endParaRPr lang="en-US" sz="146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60" b="1" dirty="0">
                          <a:solidFill>
                            <a:srgbClr val="245C4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系数β</a:t>
                      </a:r>
                      <a:endParaRPr lang="en-US" sz="146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60" b="1" dirty="0">
                          <a:solidFill>
                            <a:srgbClr val="245C4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原始95%区间</a:t>
                      </a:r>
                      <a:endParaRPr lang="en-US" sz="146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60" b="1" dirty="0">
                          <a:solidFill>
                            <a:srgbClr val="245C4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p</a:t>
                      </a:r>
                      <a:endParaRPr lang="en-US" sz="146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60" b="1" dirty="0">
                          <a:solidFill>
                            <a:srgbClr val="245C4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BH q</a:t>
                      </a:r>
                      <a:endParaRPr lang="en-US" sz="146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6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长度 ln(1+字数)</a:t>
                      </a:r>
                      <a:endParaRPr lang="en-US" sz="146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6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0.028</a:t>
                      </a:r>
                      <a:endParaRPr lang="en-US" sz="146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6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[−0.008, 0.064]</a:t>
                      </a:r>
                      <a:endParaRPr lang="en-US" sz="146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6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0.130</a:t>
                      </a:r>
                      <a:endParaRPr lang="en-US" sz="146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6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0.293</a:t>
                      </a:r>
                      <a:endParaRPr lang="en-US" sz="146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6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自律 / 目标</a:t>
                      </a:r>
                      <a:endParaRPr lang="en-US" sz="146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6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−0.119</a:t>
                      </a:r>
                      <a:endParaRPr lang="en-US" sz="146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6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[−0.293, 0.054]</a:t>
                      </a:r>
                      <a:endParaRPr lang="en-US" sz="146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6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0.176</a:t>
                      </a:r>
                      <a:endParaRPr lang="en-US" sz="146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6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0.293</a:t>
                      </a:r>
                      <a:endParaRPr lang="en-US" sz="146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6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社交 / 互助</a:t>
                      </a:r>
                      <a:endParaRPr lang="en-US" sz="146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6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−0.004</a:t>
                      </a:r>
                      <a:endParaRPr lang="en-US" sz="146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6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[−0.131, 0.122]</a:t>
                      </a:r>
                      <a:endParaRPr lang="en-US" sz="146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6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0.946</a:t>
                      </a:r>
                      <a:endParaRPr lang="en-US" sz="146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6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0.946</a:t>
                      </a:r>
                      <a:endParaRPr lang="en-US" sz="146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6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积极表达</a:t>
                      </a:r>
                      <a:endParaRPr lang="en-US" sz="146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6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−0.086</a:t>
                      </a:r>
                      <a:endParaRPr lang="en-US" sz="146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6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[−0.155, −0.016]</a:t>
                      </a:r>
                      <a:endParaRPr lang="en-US" sz="146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6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0.016</a:t>
                      </a:r>
                      <a:endParaRPr lang="en-US" sz="146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6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0.079</a:t>
                      </a:r>
                      <a:endParaRPr lang="en-US" sz="146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0E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6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问号</a:t>
                      </a:r>
                      <a:endParaRPr lang="en-US" sz="146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6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0.108</a:t>
                      </a:r>
                      <a:endParaRPr lang="en-US" sz="146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6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[−0.100, 0.316]</a:t>
                      </a:r>
                      <a:endParaRPr lang="en-US" sz="146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6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0.307</a:t>
                      </a:r>
                      <a:endParaRPr lang="en-US" sz="146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6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0.383</a:t>
                      </a:r>
                      <a:endParaRPr lang="en-US" sz="146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8430768" y="1847088"/>
            <a:ext cx="312724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100" b="1" dirty="0">
                <a:solidFill>
                  <a:srgbClr val="B97339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积极表达：β = −0.086</a:t>
            </a:r>
            <a:endParaRPr lang="zh-CN" sz="2100" dirty="0"/>
          </a:p>
        </p:txBody>
      </p:sp>
      <p:sp>
        <p:nvSpPr>
          <p:cNvPr id="9" name="Text 6"/>
          <p:cNvSpPr/>
          <p:nvPr/>
        </p:nvSpPr>
        <p:spPr>
          <a:xfrm>
            <a:off x="8430768" y="2880360"/>
            <a:ext cx="31272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10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原始p = 0.016</a:t>
            </a:r>
            <a:endParaRPr lang="zh-CN" sz="2100" dirty="0"/>
          </a:p>
          <a:p>
            <a:pPr indent="0" marL="0">
              <a:buNone/>
            </a:pPr>
            <a:r>
              <a:rPr lang="zh-CN" altLang="en-US" sz="210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BH q = 0.079</a:t>
            </a:r>
            <a:endParaRPr lang="zh-CN" sz="2100" dirty="0"/>
          </a:p>
        </p:txBody>
      </p:sp>
      <p:sp>
        <p:nvSpPr>
          <p:cNvPr id="10" name="Text 7"/>
          <p:cNvSpPr/>
          <p:nvPr/>
        </p:nvSpPr>
        <p:spPr>
          <a:xfrm>
            <a:off x="8430768" y="4032504"/>
            <a:ext cx="312724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单项区间不跨0，</a:t>
            </a:r>
            <a:endParaRPr lang="zh-CN" sz="1800" dirty="0"/>
          </a:p>
          <a:p>
            <a:pPr indent="0" marL="0">
              <a:buNone/>
            </a:pPr>
            <a:r>
              <a:rPr lang="zh-CN" altLang="en-US" sz="180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但五项一起校正后，</a:t>
            </a:r>
            <a:endParaRPr lang="zh-CN" sz="1800" dirty="0"/>
          </a:p>
          <a:p>
            <a:pPr indent="0" marL="0">
              <a:buNone/>
            </a:pPr>
            <a:r>
              <a:rPr lang="zh-CN" altLang="en-US" sz="180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证据未达到5%标准。</a:t>
            </a:r>
            <a:endParaRPr lang="zh-CN" sz="1800" dirty="0"/>
          </a:p>
        </p:txBody>
      </p:sp>
      <p:sp>
        <p:nvSpPr>
          <p:cNvPr id="11" name="Text 8"/>
          <p:cNvSpPr/>
          <p:nvPr/>
        </p:nvSpPr>
        <p:spPr>
          <a:xfrm>
            <a:off x="667512" y="528523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8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五项文字线索仅增加0.065个百分点R²，联合检验 p = 0.130。</a:t>
            </a:r>
            <a:endParaRPr lang="zh-CN" sz="1800" dirty="0"/>
          </a:p>
        </p:txBody>
      </p:sp>
      <p:sp>
        <p:nvSpPr>
          <p:cNvPr id="12" name="Text 9"/>
          <p:cNvSpPr/>
          <p:nvPr/>
        </p:nvSpPr>
        <p:spPr>
          <a:xfrm>
            <a:off x="667512" y="5769864"/>
            <a:ext cx="10881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原始均值优势没有在调整后的比较中保留；这不足以推出“积极用词降低点赞”。</a:t>
            </a:r>
            <a:endParaRPr lang="zh-CN" sz="1700" dirty="0"/>
          </a:p>
        </p:txBody>
      </p:sp>
      <p:sp>
        <p:nvSpPr>
          <p:cNvPr id="13" name="Text 10"/>
          <p:cNvSpPr/>
          <p:nvPr/>
        </p:nvSpPr>
        <p:spPr>
          <a:xfrm>
            <a:off x="667512" y="6199632"/>
            <a:ext cx="10881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25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还要核查：负向方向是否依赖缺失正文、极端高赞帖或某一位作者？</a:t>
            </a:r>
            <a:endParaRPr lang="zh-CN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743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3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RQ2  文字、主题与点赞的关联</a:t>
            </a:r>
            <a:endParaRPr lang="zh-CN" sz="1300" dirty="0"/>
          </a:p>
        </p:txBody>
      </p:sp>
      <p:sp>
        <p:nvSpPr>
          <p:cNvPr id="3" name="Text 1"/>
          <p:cNvSpPr/>
          <p:nvPr/>
        </p:nvSpPr>
        <p:spPr>
          <a:xfrm>
            <a:off x="8339328" y="274320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1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文字表达与点赞的关联</a:t>
            </a:r>
            <a:endParaRPr lang="zh-CN" sz="1100" dirty="0"/>
          </a:p>
        </p:txBody>
      </p:sp>
      <p:sp>
        <p:nvSpPr>
          <p:cNvPr id="4" name="Text 2"/>
          <p:cNvSpPr/>
          <p:nvPr/>
        </p:nvSpPr>
        <p:spPr>
          <a:xfrm>
            <a:off x="530352" y="804672"/>
            <a:ext cx="111099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800" b="1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换样本和模型后，积极表达的方向是否改变？</a:t>
            </a:r>
            <a:endParaRPr lang="zh-CN" sz="2800" dirty="0"/>
          </a:p>
        </p:txBody>
      </p:sp>
      <p:sp>
        <p:nvSpPr>
          <p:cNvPr id="5" name="Text 3"/>
          <p:cNvSpPr/>
          <p:nvPr/>
        </p:nvSpPr>
        <p:spPr>
          <a:xfrm>
            <a:off x="530352" y="6483096"/>
            <a:ext cx="10387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9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聚焦积极表达；区间和p为各设定原始值，不代替M3的BH主分析结论。</a:t>
            </a:r>
            <a:endParaRPr lang="zh-CN" sz="900" dirty="0"/>
          </a:p>
        </p:txBody>
      </p:sp>
      <p:sp>
        <p:nvSpPr>
          <p:cNvPr id="6" name="Text 4"/>
          <p:cNvSpPr/>
          <p:nvPr/>
        </p:nvSpPr>
        <p:spPr>
          <a:xfrm>
            <a:off x="10963656" y="6464808"/>
            <a:ext cx="704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13 / 25</a:t>
            </a:r>
            <a:endParaRPr lang="zh-CN" sz="1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" y="1847088"/>
          <a:ext cx="77724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005840"/>
                <a:gridCol w="914400"/>
                <a:gridCol w="2606040"/>
                <a:gridCol w="1051560"/>
              </a:tblGrid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245C4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设定</a:t>
                      </a:r>
                      <a:endParaRPr lang="en-US" sz="14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245C4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N</a:t>
                      </a:r>
                      <a:endParaRPr lang="en-US" sz="14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245C4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系数</a:t>
                      </a:r>
                      <a:endParaRPr lang="en-US" sz="14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245C4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原始95%区间</a:t>
                      </a:r>
                      <a:endParaRPr lang="en-US" sz="14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245C4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p</a:t>
                      </a:r>
                      <a:endParaRPr lang="en-US" sz="14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0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M3主模型</a:t>
                      </a:r>
                      <a:endParaRPr lang="en-US" sz="14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9,532</a:t>
                      </a:r>
                      <a:endParaRPr lang="en-US" sz="14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−0.086</a:t>
                      </a:r>
                      <a:endParaRPr lang="en-US" sz="14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[−0.155, −0.016]</a:t>
                      </a:r>
                      <a:endParaRPr lang="en-US" sz="14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0.016</a:t>
                      </a:r>
                      <a:endParaRPr lang="en-US" sz="14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仅可见正文</a:t>
                      </a:r>
                      <a:endParaRPr lang="en-US" sz="14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5,548</a:t>
                      </a:r>
                      <a:endParaRPr lang="en-US" sz="14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−0.090</a:t>
                      </a:r>
                      <a:endParaRPr lang="en-US" sz="14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[−0.164, −0.015]</a:t>
                      </a:r>
                      <a:endParaRPr lang="en-US" sz="14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0.019</a:t>
                      </a:r>
                      <a:endParaRPr lang="en-US" sz="14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7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去最高1%点赞</a:t>
                      </a:r>
                      <a:endParaRPr lang="en-US" sz="14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9,436</a:t>
                      </a:r>
                      <a:endParaRPr lang="en-US" sz="14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−0.082</a:t>
                      </a:r>
                      <a:endParaRPr lang="en-US" sz="14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[−0.152, −0.012]</a:t>
                      </a:r>
                      <a:endParaRPr lang="en-US" sz="14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0.022</a:t>
                      </a:r>
                      <a:endParaRPr lang="en-US" sz="14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作者等权</a:t>
                      </a:r>
                      <a:endParaRPr lang="en-US" sz="14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9,532</a:t>
                      </a:r>
                      <a:endParaRPr lang="en-US" sz="14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−0.128</a:t>
                      </a:r>
                      <a:endParaRPr lang="en-US" sz="14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[−0.219, −0.036]</a:t>
                      </a:r>
                      <a:endParaRPr lang="en-US" sz="14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0.007</a:t>
                      </a:r>
                      <a:endParaRPr lang="en-US" sz="14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7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PPML计数模型</a:t>
                      </a:r>
                      <a:endParaRPr lang="en-US" sz="14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9,532</a:t>
                      </a:r>
                      <a:endParaRPr lang="en-US" sz="14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−0.135</a:t>
                      </a:r>
                      <a:endParaRPr lang="en-US" sz="14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[−0.299, 0.028]</a:t>
                      </a:r>
                      <a:endParaRPr lang="en-US" sz="14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0.103</a:t>
                      </a:r>
                      <a:endParaRPr lang="en-US" sz="14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0E8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8732520" y="18745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0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方向不依赖一种样本处理</a:t>
            </a:r>
            <a:endParaRPr lang="zh-CN" sz="2000" dirty="0"/>
          </a:p>
        </p:txBody>
      </p:sp>
      <p:sp>
        <p:nvSpPr>
          <p:cNvPr id="9" name="Text 6"/>
          <p:cNvSpPr/>
          <p:nvPr/>
        </p:nvSpPr>
        <p:spPr>
          <a:xfrm>
            <a:off x="8732520" y="2404872"/>
            <a:ext cx="28346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65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可见正文、去高赞、作者等权后均为负；100次逐作者剔除也全部为负。</a:t>
            </a:r>
            <a:endParaRPr lang="zh-CN" sz="1650" dirty="0"/>
          </a:p>
        </p:txBody>
      </p:sp>
      <p:sp>
        <p:nvSpPr>
          <p:cNvPr id="10" name="Text 7"/>
          <p:cNvSpPr/>
          <p:nvPr/>
        </p:nvSpPr>
        <p:spPr>
          <a:xfrm>
            <a:off x="8732520" y="3767328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000" b="1" dirty="0">
                <a:solidFill>
                  <a:srgbClr val="B97339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计数尺度上仍不精确</a:t>
            </a:r>
            <a:endParaRPr lang="zh-CN" sz="2000" dirty="0"/>
          </a:p>
        </p:txBody>
      </p:sp>
      <p:sp>
        <p:nvSpPr>
          <p:cNvPr id="11" name="Text 8"/>
          <p:cNvSpPr/>
          <p:nvPr/>
        </p:nvSpPr>
        <p:spPr>
          <a:xfrm>
            <a:off x="8732520" y="4297680"/>
            <a:ext cx="28346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65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PPML区间跨0，不能把方向一致升级成已验证的稳定负效应。</a:t>
            </a:r>
            <a:endParaRPr lang="zh-CN" sz="1650" dirty="0"/>
          </a:p>
        </p:txBody>
      </p:sp>
      <p:sp>
        <p:nvSpPr>
          <p:cNvPr id="12" name="Text 9"/>
          <p:cNvSpPr/>
          <p:nvPr/>
        </p:nvSpPr>
        <p:spPr>
          <a:xfrm>
            <a:off x="676656" y="56235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55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逐作者剔除系数范围：[−0.100, −0.074]。PPML拟合 E[点赞 | 条件] = exp(线性项)。</a:t>
            </a:r>
            <a:endParaRPr lang="zh-CN" sz="1550" dirty="0"/>
          </a:p>
        </p:txBody>
      </p:sp>
      <p:sp>
        <p:nvSpPr>
          <p:cNvPr id="13" name="Text 10"/>
          <p:cNvSpPr/>
          <p:nvPr/>
        </p:nvSpPr>
        <p:spPr>
          <a:xfrm>
            <a:off x="676656" y="6080760"/>
            <a:ext cx="10881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65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沿用RQ1已经识别的主题权重，检验它们能否补充指定用词以外的点赞关联。</a:t>
            </a:r>
            <a:endParaRPr lang="zh-CN" sz="16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743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3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RQ2  文字、主题与点赞的关联</a:t>
            </a:r>
            <a:endParaRPr lang="zh-CN" sz="1300" dirty="0"/>
          </a:p>
        </p:txBody>
      </p:sp>
      <p:sp>
        <p:nvSpPr>
          <p:cNvPr id="3" name="Text 1"/>
          <p:cNvSpPr/>
          <p:nvPr/>
        </p:nvSpPr>
        <p:spPr>
          <a:xfrm>
            <a:off x="8339328" y="274320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1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帖子主题与点赞的关联</a:t>
            </a:r>
            <a:endParaRPr lang="zh-CN" sz="1100" dirty="0"/>
          </a:p>
        </p:txBody>
      </p:sp>
      <p:sp>
        <p:nvSpPr>
          <p:cNvPr id="4" name="Text 2"/>
          <p:cNvSpPr/>
          <p:nvPr/>
        </p:nvSpPr>
        <p:spPr>
          <a:xfrm>
            <a:off x="530352" y="804672"/>
            <a:ext cx="111099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800" b="1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主题权重能否补充用词以外的点赞关联？</a:t>
            </a:r>
            <a:endParaRPr lang="zh-CN" sz="2800" dirty="0"/>
          </a:p>
        </p:txBody>
      </p:sp>
      <p:sp>
        <p:nvSpPr>
          <p:cNvPr id="5" name="Text 3"/>
          <p:cNvSpPr/>
          <p:nvPr/>
        </p:nvSpPr>
        <p:spPr>
          <a:xfrm>
            <a:off x="530352" y="6483096"/>
            <a:ext cx="10387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9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同一子样本N=2,470、86位作者；按作者聚类。回归使用连续主题权重，不是主导主题虚拟变量。</a:t>
            </a:r>
            <a:endParaRPr lang="zh-CN" sz="900" dirty="0"/>
          </a:p>
        </p:txBody>
      </p:sp>
      <p:sp>
        <p:nvSpPr>
          <p:cNvPr id="6" name="Text 4"/>
          <p:cNvSpPr/>
          <p:nvPr/>
        </p:nvSpPr>
        <p:spPr>
          <a:xfrm>
            <a:off x="10963656" y="6464808"/>
            <a:ext cx="704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14 / 25</a:t>
            </a:r>
            <a:endParaRPr lang="zh-CN" sz="1000" dirty="0"/>
          </a:p>
        </p:txBody>
      </p:sp>
      <p:sp>
        <p:nvSpPr>
          <p:cNvPr id="7" name="Shape 5"/>
          <p:cNvSpPr/>
          <p:nvPr/>
        </p:nvSpPr>
        <p:spPr>
          <a:xfrm>
            <a:off x="621792" y="1673352"/>
            <a:ext cx="10972800" cy="630936"/>
          </a:xfrm>
          <a:prstGeom prst="rect">
            <a:avLst/>
          </a:prstGeom>
          <a:solidFill>
            <a:srgbClr val="EDF4F0"/>
          </a:solidFill>
          <a:ln w="12700">
            <a:solidFill>
              <a:srgbClr val="EDF4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" y="1856232"/>
            <a:ext cx="10634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8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主题模型：M3原有线性项 + Σ θₖwₖ（省去“运动与训练交流”权重作为参照）</a:t>
            </a:r>
            <a:endParaRPr lang="zh-CN" sz="18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" y="2670048"/>
          <a:ext cx="1097280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1371600"/>
                <a:gridCol w="3474720"/>
                <a:gridCol w="1463040"/>
                <a:gridCol w="1554480"/>
              </a:tblGrid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45C4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相对训练交流的主题权重</a:t>
                      </a:r>
                      <a:endParaRPr lang="en-US" sz="16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45C4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系数θ</a:t>
                      </a:r>
                      <a:endParaRPr lang="en-US" sz="16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45C4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原始95%区间</a:t>
                      </a:r>
                      <a:endParaRPr lang="en-US" sz="16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45C4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p</a:t>
                      </a:r>
                      <a:endParaRPr lang="en-US" sz="16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45C4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BH q</a:t>
                      </a:r>
                      <a:endParaRPr lang="en-US" sz="16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0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靠墙静蹲记录</a:t>
                      </a:r>
                      <a:endParaRPr lang="en-US" sz="16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−0.315</a:t>
                      </a:r>
                      <a:endParaRPr lang="en-US" sz="16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[−0.636, 0.005]</a:t>
                      </a:r>
                      <a:endParaRPr lang="en-US" sz="16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0.054</a:t>
                      </a:r>
                      <a:endParaRPr lang="en-US" sz="16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0.107</a:t>
                      </a:r>
                      <a:endParaRPr lang="en-US" sz="16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骑行里程记录</a:t>
                      </a:r>
                      <a:endParaRPr lang="en-US" sz="16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0.018</a:t>
                      </a:r>
                      <a:endParaRPr lang="en-US" sz="16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[−0.523, 0.558]</a:t>
                      </a:r>
                      <a:endParaRPr lang="en-US" sz="16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0.948</a:t>
                      </a:r>
                      <a:endParaRPr lang="en-US" sz="16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0.948</a:t>
                      </a:r>
                      <a:endParaRPr lang="en-US" sz="16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7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跑步与训练打卡</a:t>
                      </a:r>
                      <a:endParaRPr lang="en-US" sz="16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−0.471</a:t>
                      </a:r>
                      <a:endParaRPr lang="en-US" sz="16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[−1.048, 0.105]</a:t>
                      </a:r>
                      <a:endParaRPr lang="en-US" sz="16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0.108</a:t>
                      </a:r>
                      <a:endParaRPr lang="en-US" sz="16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0.144</a:t>
                      </a:r>
                      <a:endParaRPr lang="en-US" sz="16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生活感悟与问候</a:t>
                      </a:r>
                      <a:endParaRPr lang="en-US" sz="16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−0.144</a:t>
                      </a:r>
                      <a:endParaRPr lang="en-US" sz="16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[−0.278, −0.010]</a:t>
                      </a:r>
                      <a:endParaRPr lang="en-US" sz="16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0.035</a:t>
                      </a:r>
                      <a:endParaRPr lang="en-US" sz="16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0.107</a:t>
                      </a:r>
                      <a:endParaRPr lang="en-US" sz="16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0E8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694944" y="5175504"/>
            <a:ext cx="108173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生活问候权重相对训练交流增加10个百分点时，“1+点赞”的条件几何均值点估计约低1.4%。</a:t>
            </a:r>
            <a:endParaRPr lang="zh-CN" sz="1700" dirty="0"/>
          </a:p>
        </p:txBody>
      </p:sp>
      <p:sp>
        <p:nvSpPr>
          <p:cNvPr id="11" name="Text 8"/>
          <p:cNvSpPr/>
          <p:nvPr/>
        </p:nvSpPr>
        <p:spPr>
          <a:xfrm>
            <a:off x="694944" y="5705856"/>
            <a:ext cx="108173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650" b="1" dirty="0">
                <a:solidFill>
                  <a:srgbClr val="B97339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但其原始p = 0.035、BH q = 0.107；四项主题联合 p = 0.166，尚不能把点估计当成稳定的主题反馈排序。</a:t>
            </a:r>
            <a:endParaRPr lang="zh-CN" sz="1650" dirty="0"/>
          </a:p>
        </p:txBody>
      </p:sp>
      <p:sp>
        <p:nvSpPr>
          <p:cNvPr id="12" name="Text 9"/>
          <p:cNvSpPr/>
          <p:nvPr/>
        </p:nvSpPr>
        <p:spPr>
          <a:xfrm>
            <a:off x="694944" y="6272784"/>
            <a:ext cx="10817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12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权重范围0–1，系数按100个百分点计；区间未计入主题估计本身的不确定性。</a:t>
            </a:r>
            <a:endParaRPr lang="zh-CN" sz="112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73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743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300" b="1" dirty="0">
                <a:solidFill>
                  <a:srgbClr val="C5D9D0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RQ2  文字、主题与点赞的关联</a:t>
            </a:r>
            <a:endParaRPr lang="zh-CN" sz="1300" dirty="0"/>
          </a:p>
        </p:txBody>
      </p:sp>
      <p:sp>
        <p:nvSpPr>
          <p:cNvPr id="3" name="Text 1"/>
          <p:cNvSpPr/>
          <p:nvPr/>
        </p:nvSpPr>
        <p:spPr>
          <a:xfrm>
            <a:off x="8339328" y="274320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100" dirty="0">
                <a:solidFill>
                  <a:srgbClr val="C5D9D0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帖子主题与点赞的关联</a:t>
            </a:r>
            <a:endParaRPr lang="zh-CN" sz="1100" dirty="0"/>
          </a:p>
        </p:txBody>
      </p:sp>
      <p:sp>
        <p:nvSpPr>
          <p:cNvPr id="4" name="Text 2"/>
          <p:cNvSpPr/>
          <p:nvPr/>
        </p:nvSpPr>
        <p:spPr>
          <a:xfrm>
            <a:off x="530352" y="804672"/>
            <a:ext cx="111099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8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RQ2的回答：用词和主题与点赞的关联有多稳</a:t>
            </a:r>
            <a:endParaRPr lang="zh-CN" sz="2800" dirty="0"/>
          </a:p>
        </p:txBody>
      </p:sp>
      <p:sp>
        <p:nvSpPr>
          <p:cNvPr id="5" name="Text 3"/>
          <p:cNvSpPr/>
          <p:nvPr/>
        </p:nvSpPr>
        <p:spPr>
          <a:xfrm>
            <a:off x="530352" y="6483096"/>
            <a:ext cx="10387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900" dirty="0">
                <a:solidFill>
                  <a:srgbClr val="BDD3C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结果为观察性关联；词典与主题只覆盖部分文字信息，缺少真实曝光等条件。</a:t>
            </a:r>
            <a:endParaRPr lang="zh-CN" sz="900" dirty="0"/>
          </a:p>
        </p:txBody>
      </p:sp>
      <p:sp>
        <p:nvSpPr>
          <p:cNvPr id="6" name="Text 4"/>
          <p:cNvSpPr/>
          <p:nvPr/>
        </p:nvSpPr>
        <p:spPr>
          <a:xfrm>
            <a:off x="10963656" y="6464808"/>
            <a:ext cx="704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BDD3C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15 / 25</a:t>
            </a:r>
            <a:endParaRPr lang="zh-CN" sz="1000" dirty="0"/>
          </a:p>
        </p:txBody>
      </p:sp>
      <p:sp>
        <p:nvSpPr>
          <p:cNvPr id="7" name="Text 5"/>
          <p:cNvSpPr/>
          <p:nvPr/>
        </p:nvSpPr>
        <p:spPr>
          <a:xfrm>
            <a:off x="713232" y="1746504"/>
            <a:ext cx="10698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4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原始用词差异同时带着媒体与作者差异。</a:t>
            </a:r>
            <a:endParaRPr lang="zh-CN" sz="2400" dirty="0"/>
          </a:p>
        </p:txBody>
      </p:sp>
      <p:sp>
        <p:nvSpPr>
          <p:cNvPr id="8" name="Text 6"/>
          <p:cNvSpPr/>
          <p:nvPr/>
        </p:nvSpPr>
        <p:spPr>
          <a:xfrm>
            <a:off x="731520" y="2359152"/>
            <a:ext cx="10652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850" dirty="0">
                <a:solidFill>
                  <a:srgbClr val="DFEAE3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积极表达命中组的图片/视频占比94.9%，未命中组69.1%。M3调整后积极表达系数为−0.086、BH q=0.079；五项文字线索仅新增0.065个百分点R²，联合p=0.130。</a:t>
            </a:r>
            <a:endParaRPr lang="zh-CN" sz="1850" dirty="0"/>
          </a:p>
        </p:txBody>
      </p:sp>
      <p:sp>
        <p:nvSpPr>
          <p:cNvPr id="9" name="Text 7"/>
          <p:cNvSpPr/>
          <p:nvPr/>
        </p:nvSpPr>
        <p:spPr>
          <a:xfrm>
            <a:off x="713232" y="3648456"/>
            <a:ext cx="10698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4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换样本后的方向较一致，主题也没有补出稳定优势。</a:t>
            </a:r>
            <a:endParaRPr lang="zh-CN" sz="2400" dirty="0"/>
          </a:p>
        </p:txBody>
      </p:sp>
      <p:sp>
        <p:nvSpPr>
          <p:cNvPr id="10" name="Text 8"/>
          <p:cNvSpPr/>
          <p:nvPr/>
        </p:nvSpPr>
        <p:spPr>
          <a:xfrm>
            <a:off x="731520" y="4251960"/>
            <a:ext cx="1065276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850" dirty="0">
                <a:solidFill>
                  <a:srgbClr val="DFEAE3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积极表达在多种处理下均为负，但PPML区间跨0；主题权重联合p=0.166。现有记录对这些用词和主题的额外点赞关联，仍缺少足够稳定的证据；这不等于证明文字内容普遍无效。</a:t>
            </a:r>
            <a:endParaRPr lang="zh-CN" sz="1850" dirty="0"/>
          </a:p>
        </p:txBody>
      </p:sp>
      <p:sp>
        <p:nvSpPr>
          <p:cNvPr id="11" name="Shape 9"/>
          <p:cNvSpPr/>
          <p:nvPr/>
        </p:nvSpPr>
        <p:spPr>
          <a:xfrm>
            <a:off x="676656" y="5577840"/>
            <a:ext cx="10936224" cy="612648"/>
          </a:xfrm>
          <a:prstGeom prst="rect">
            <a:avLst/>
          </a:prstGeom>
          <a:solidFill>
            <a:srgbClr val="295347"/>
          </a:solidFill>
          <a:ln w="12700">
            <a:solidFill>
              <a:srgbClr val="29534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9536" y="5733288"/>
            <a:ext cx="10561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E3ECE6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RQ3转向另一种反馈：评论里，用户说了什么，留言怎样被回应，又由多少人参与？</a:t>
            </a:r>
            <a:endParaRPr lang="zh-CN" sz="1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743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3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RQ3  评论中的回应与参与</a:t>
            </a:r>
            <a:endParaRPr lang="zh-CN" sz="1300" dirty="0"/>
          </a:p>
        </p:txBody>
      </p:sp>
      <p:sp>
        <p:nvSpPr>
          <p:cNvPr id="3" name="Text 1"/>
          <p:cNvSpPr/>
          <p:nvPr/>
        </p:nvSpPr>
        <p:spPr>
          <a:xfrm>
            <a:off x="8339328" y="274320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1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评论的主要内容</a:t>
            </a:r>
            <a:endParaRPr lang="zh-CN" sz="1100" dirty="0"/>
          </a:p>
        </p:txBody>
      </p:sp>
      <p:sp>
        <p:nvSpPr>
          <p:cNvPr id="4" name="Text 2"/>
          <p:cNvSpPr/>
          <p:nvPr/>
        </p:nvSpPr>
        <p:spPr>
          <a:xfrm>
            <a:off x="530352" y="804672"/>
            <a:ext cx="111099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800" b="1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评论长度、词频与发言者角色</a:t>
            </a:r>
            <a:endParaRPr lang="zh-CN" sz="2800" dirty="0"/>
          </a:p>
        </p:txBody>
      </p:sp>
      <p:sp>
        <p:nvSpPr>
          <p:cNvPr id="5" name="Text 3"/>
          <p:cNvSpPr/>
          <p:nvPr/>
        </p:nvSpPr>
        <p:spPr>
          <a:xfrm>
            <a:off x="530352" y="6483096"/>
            <a:ext cx="10387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9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词类命中率以各角色全部发言为分母，可重叠；角色按所在帖子确定。</a:t>
            </a:r>
            <a:endParaRPr lang="zh-CN" sz="900" dirty="0"/>
          </a:p>
        </p:txBody>
      </p:sp>
      <p:sp>
        <p:nvSpPr>
          <p:cNvPr id="6" name="Text 4"/>
          <p:cNvSpPr/>
          <p:nvPr/>
        </p:nvSpPr>
        <p:spPr>
          <a:xfrm>
            <a:off x="10963656" y="6464808"/>
            <a:ext cx="704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16 / 25</a:t>
            </a:r>
            <a:endParaRPr lang="zh-CN" sz="10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85216" y="1865376"/>
          <a:ext cx="6492240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7498080" y="1819656"/>
            <a:ext cx="4069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4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评论长度中位数：6字符</a:t>
            </a:r>
            <a:endParaRPr lang="zh-CN" sz="2400" dirty="0"/>
          </a:p>
        </p:txBody>
      </p:sp>
      <p:sp>
        <p:nvSpPr>
          <p:cNvPr id="9" name="Text 6"/>
          <p:cNvSpPr/>
          <p:nvPr/>
        </p:nvSpPr>
        <p:spPr>
          <a:xfrm>
            <a:off x="7498080" y="2807208"/>
            <a:ext cx="40690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“加油”612条 / 431人</a:t>
            </a:r>
            <a:endParaRPr lang="zh-CN" sz="1800" dirty="0"/>
          </a:p>
          <a:p>
            <a:pPr indent="0" marL="0">
              <a:buNone/>
            </a:pPr>
            <a:r>
              <a:rPr lang="zh-CN" altLang="en-US" sz="180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“谢谢”359条 / 53人</a:t>
            </a:r>
            <a:endParaRPr lang="zh-CN" sz="1800" dirty="0"/>
          </a:p>
        </p:txBody>
      </p:sp>
      <p:sp>
        <p:nvSpPr>
          <p:cNvPr id="10" name="Text 7"/>
          <p:cNvSpPr/>
          <p:nvPr/>
        </p:nvSpPr>
        <p:spPr>
          <a:xfrm>
            <a:off x="7498080" y="4041648"/>
            <a:ext cx="406908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75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“加油”的使用面更广，“谢谢”的重复使用更集中。再按角色看，读者更常赞许，帖主更常感谢；只看词频，会把参与广度和重复回话混在一起。</a:t>
            </a:r>
            <a:endParaRPr lang="zh-CN" sz="1750" dirty="0"/>
          </a:p>
        </p:txBody>
      </p:sp>
      <p:sp>
        <p:nvSpPr>
          <p:cNvPr id="11" name="Text 8"/>
          <p:cNvSpPr/>
          <p:nvPr/>
        </p:nvSpPr>
        <p:spPr>
          <a:xfrm>
            <a:off x="676656" y="5925312"/>
            <a:ext cx="10881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75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所以下一步把根评论与帖主回复配对：鼓励是否更易被回复，回复里又怎样表达？</a:t>
            </a:r>
            <a:endParaRPr lang="zh-CN" sz="1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743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3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RQ3  评论中的回应与参与</a:t>
            </a:r>
            <a:endParaRPr lang="zh-CN" sz="1300" dirty="0"/>
          </a:p>
        </p:txBody>
      </p:sp>
      <p:sp>
        <p:nvSpPr>
          <p:cNvPr id="3" name="Text 1"/>
          <p:cNvSpPr/>
          <p:nvPr/>
        </p:nvSpPr>
        <p:spPr>
          <a:xfrm>
            <a:off x="8339328" y="274320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1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评论的主要内容</a:t>
            </a:r>
            <a:endParaRPr lang="zh-CN" sz="1100" dirty="0"/>
          </a:p>
        </p:txBody>
      </p:sp>
      <p:sp>
        <p:nvSpPr>
          <p:cNvPr id="4" name="Text 2"/>
          <p:cNvSpPr/>
          <p:nvPr/>
        </p:nvSpPr>
        <p:spPr>
          <a:xfrm>
            <a:off x="530352" y="804672"/>
            <a:ext cx="111099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800" b="1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先分清：直接回这条留言，还是在留言串里接话</a:t>
            </a:r>
            <a:endParaRPr lang="zh-CN" sz="2800" dirty="0"/>
          </a:p>
        </p:txBody>
      </p:sp>
      <p:sp>
        <p:nvSpPr>
          <p:cNvPr id="5" name="Text 3"/>
          <p:cNvSpPr/>
          <p:nvPr/>
        </p:nvSpPr>
        <p:spPr>
          <a:xfrm>
            <a:off x="530352" y="6483096"/>
            <a:ext cx="10387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9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两个比例来自同一批6,609条根评论，但统计的回复范围与时间不同。</a:t>
            </a:r>
            <a:endParaRPr lang="zh-CN" sz="900" dirty="0"/>
          </a:p>
        </p:txBody>
      </p:sp>
      <p:sp>
        <p:nvSpPr>
          <p:cNvPr id="6" name="Text 4"/>
          <p:cNvSpPr/>
          <p:nvPr/>
        </p:nvSpPr>
        <p:spPr>
          <a:xfrm>
            <a:off x="10963656" y="6464808"/>
            <a:ext cx="704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17 / 25</a:t>
            </a:r>
            <a:endParaRPr lang="zh-CN" sz="1000" dirty="0"/>
          </a:p>
        </p:txBody>
      </p:sp>
      <p:sp>
        <p:nvSpPr>
          <p:cNvPr id="7" name="Text 5"/>
          <p:cNvSpPr/>
          <p:nvPr/>
        </p:nvSpPr>
        <p:spPr>
          <a:xfrm>
            <a:off x="676656" y="1682496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根评论：其他用户直接发在帖子下、没有指定回复对象的留言。</a:t>
            </a:r>
            <a:endParaRPr lang="zh-CN" sz="1800" dirty="0"/>
          </a:p>
        </p:txBody>
      </p:sp>
      <p:sp>
        <p:nvSpPr>
          <p:cNvPr id="8" name="Text 6"/>
          <p:cNvSpPr/>
          <p:nvPr/>
        </p:nvSpPr>
        <p:spPr>
          <a:xfrm>
            <a:off x="667512" y="235000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2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直接回复根评论</a:t>
            </a:r>
            <a:endParaRPr lang="zh-CN" sz="2200" dirty="0"/>
          </a:p>
        </p:txBody>
      </p:sp>
      <p:sp>
        <p:nvSpPr>
          <p:cNvPr id="9" name="Shape 7"/>
          <p:cNvSpPr/>
          <p:nvPr/>
        </p:nvSpPr>
        <p:spPr>
          <a:xfrm>
            <a:off x="667512" y="2990088"/>
            <a:ext cx="5120640" cy="713232"/>
          </a:xfrm>
          <a:prstGeom prst="rect">
            <a:avLst/>
          </a:prstGeom>
          <a:solidFill>
            <a:srgbClr val="EDF4F0"/>
          </a:solidFill>
          <a:ln w="12700">
            <a:solidFill>
              <a:srgbClr val="EDF4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32104" y="3182112"/>
            <a:ext cx="7772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800" b="1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帖主</a:t>
            </a:r>
            <a:endParaRPr lang="zh-CN" sz="1800" dirty="0"/>
          </a:p>
        </p:txBody>
      </p:sp>
      <p:sp>
        <p:nvSpPr>
          <p:cNvPr id="11" name="Shape 9"/>
          <p:cNvSpPr/>
          <p:nvPr/>
        </p:nvSpPr>
        <p:spPr>
          <a:xfrm>
            <a:off x="1709928" y="3337560"/>
            <a:ext cx="658368" cy="0"/>
          </a:xfrm>
          <a:prstGeom prst="line">
            <a:avLst/>
          </a:prstGeom>
          <a:noFill/>
          <a:ln w="20320">
            <a:solidFill>
              <a:srgbClr val="245C4F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2514600" y="3182112"/>
            <a:ext cx="30998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65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这条根评论</a:t>
            </a:r>
            <a:endParaRPr lang="zh-CN" sz="1650" dirty="0"/>
          </a:p>
        </p:txBody>
      </p:sp>
      <p:sp>
        <p:nvSpPr>
          <p:cNvPr id="13" name="Text 11"/>
          <p:cNvSpPr/>
          <p:nvPr/>
        </p:nvSpPr>
        <p:spPr>
          <a:xfrm>
            <a:off x="694944" y="4032504"/>
            <a:ext cx="5065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7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根评论发出后7天内</a:t>
            </a:r>
            <a:endParaRPr lang="zh-CN" sz="1700" dirty="0"/>
          </a:p>
        </p:txBody>
      </p:sp>
      <p:sp>
        <p:nvSpPr>
          <p:cNvPr id="14" name="Text 12"/>
          <p:cNvSpPr/>
          <p:nvPr/>
        </p:nvSpPr>
        <p:spPr>
          <a:xfrm>
            <a:off x="694944" y="4681728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34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54.0%</a:t>
            </a:r>
            <a:endParaRPr lang="zh-CN" sz="3400" dirty="0"/>
          </a:p>
        </p:txBody>
      </p:sp>
      <p:sp>
        <p:nvSpPr>
          <p:cNvPr id="15" name="Text 13"/>
          <p:cNvSpPr/>
          <p:nvPr/>
        </p:nvSpPr>
        <p:spPr>
          <a:xfrm>
            <a:off x="3273552" y="48920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60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3,568 / 6,609条</a:t>
            </a:r>
            <a:endParaRPr lang="zh-CN" sz="1600" dirty="0"/>
          </a:p>
        </p:txBody>
      </p:sp>
      <p:sp>
        <p:nvSpPr>
          <p:cNvPr id="16" name="Text 14"/>
          <p:cNvSpPr/>
          <p:nvPr/>
        </p:nvSpPr>
        <p:spPr>
          <a:xfrm>
            <a:off x="6382512" y="235000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200" b="1" dirty="0">
                <a:solidFill>
                  <a:srgbClr val="B97339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帖主参与留言串</a:t>
            </a:r>
            <a:endParaRPr lang="zh-CN" sz="2200" dirty="0"/>
          </a:p>
        </p:txBody>
      </p:sp>
      <p:sp>
        <p:nvSpPr>
          <p:cNvPr id="17" name="Shape 15"/>
          <p:cNvSpPr/>
          <p:nvPr/>
        </p:nvSpPr>
        <p:spPr>
          <a:xfrm>
            <a:off x="6382512" y="2990088"/>
            <a:ext cx="5120640" cy="713232"/>
          </a:xfrm>
          <a:prstGeom prst="rect">
            <a:avLst/>
          </a:prstGeom>
          <a:solidFill>
            <a:srgbClr val="F8F0E8"/>
          </a:solidFill>
          <a:ln w="12700">
            <a:solidFill>
              <a:srgbClr val="F8F0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47104" y="3182112"/>
            <a:ext cx="7772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800" b="1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帖主</a:t>
            </a:r>
            <a:endParaRPr lang="zh-CN" sz="1800" dirty="0"/>
          </a:p>
        </p:txBody>
      </p:sp>
      <p:sp>
        <p:nvSpPr>
          <p:cNvPr id="19" name="Shape 17"/>
          <p:cNvSpPr/>
          <p:nvPr/>
        </p:nvSpPr>
        <p:spPr>
          <a:xfrm>
            <a:off x="7424928" y="3337560"/>
            <a:ext cx="658368" cy="0"/>
          </a:xfrm>
          <a:prstGeom prst="line">
            <a:avLst/>
          </a:prstGeom>
          <a:noFill/>
          <a:ln w="20320">
            <a:solidFill>
              <a:srgbClr val="B97339"/>
            </a:solidFill>
            <a:prstDash val="solid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8229600" y="3182112"/>
            <a:ext cx="30998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65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根评论或同串其他留言</a:t>
            </a:r>
            <a:endParaRPr lang="zh-CN" sz="1650" dirty="0"/>
          </a:p>
        </p:txBody>
      </p:sp>
      <p:sp>
        <p:nvSpPr>
          <p:cNvPr id="21" name="Text 19"/>
          <p:cNvSpPr/>
          <p:nvPr/>
        </p:nvSpPr>
        <p:spPr>
          <a:xfrm>
            <a:off x="6409944" y="4032504"/>
            <a:ext cx="5065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700" b="1" dirty="0">
                <a:solidFill>
                  <a:srgbClr val="B97339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不限7天，查看已采集的整串</a:t>
            </a:r>
            <a:endParaRPr lang="zh-CN" sz="1700" dirty="0"/>
          </a:p>
        </p:txBody>
      </p:sp>
      <p:sp>
        <p:nvSpPr>
          <p:cNvPr id="22" name="Text 20"/>
          <p:cNvSpPr/>
          <p:nvPr/>
        </p:nvSpPr>
        <p:spPr>
          <a:xfrm>
            <a:off x="6409944" y="4681728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3400" b="1" dirty="0">
                <a:solidFill>
                  <a:srgbClr val="B97339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57.0%</a:t>
            </a:r>
            <a:endParaRPr lang="zh-CN" sz="3400" dirty="0"/>
          </a:p>
        </p:txBody>
      </p:sp>
      <p:sp>
        <p:nvSpPr>
          <p:cNvPr id="23" name="Text 21"/>
          <p:cNvSpPr/>
          <p:nvPr/>
        </p:nvSpPr>
        <p:spPr>
          <a:xfrm>
            <a:off x="8988552" y="48920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60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3,770 / 6,609条</a:t>
            </a:r>
            <a:endParaRPr lang="zh-CN" sz="1600" dirty="0"/>
          </a:p>
        </p:txBody>
      </p:sp>
      <p:sp>
        <p:nvSpPr>
          <p:cNvPr id="24" name="Text 22"/>
          <p:cNvSpPr/>
          <p:nvPr/>
        </p:nvSpPr>
        <p:spPr>
          <a:xfrm>
            <a:off x="694944" y="5696712"/>
            <a:ext cx="108356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8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后面的鼓励留言比较采用左侧规则：每条根评论只取最早观测到的帖主直接回复。</a:t>
            </a:r>
            <a:endParaRPr lang="zh-CN" sz="1800" dirty="0"/>
          </a:p>
        </p:txBody>
      </p:sp>
      <p:sp>
        <p:nvSpPr>
          <p:cNvPr id="25" name="Text 23"/>
          <p:cNvSpPr/>
          <p:nvPr/>
        </p:nvSpPr>
        <p:spPr>
          <a:xfrm>
            <a:off x="694944" y="6199632"/>
            <a:ext cx="10835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25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未观察到回复，不等于实际没有回复；57%与54%的差额也不能直接解释为“回复别人”的比例。</a:t>
            </a:r>
            <a:endParaRPr lang="zh-CN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743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3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RQ3  评论中的回应与参与</a:t>
            </a:r>
            <a:endParaRPr lang="zh-CN" sz="1300" dirty="0"/>
          </a:p>
        </p:txBody>
      </p:sp>
      <p:sp>
        <p:nvSpPr>
          <p:cNvPr id="3" name="Text 1"/>
          <p:cNvSpPr/>
          <p:nvPr/>
        </p:nvSpPr>
        <p:spPr>
          <a:xfrm>
            <a:off x="8339328" y="274320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1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评论的主要内容</a:t>
            </a:r>
            <a:endParaRPr lang="zh-CN" sz="1100" dirty="0"/>
          </a:p>
        </p:txBody>
      </p:sp>
      <p:sp>
        <p:nvSpPr>
          <p:cNvPr id="4" name="Text 2"/>
          <p:cNvSpPr/>
          <p:nvPr/>
        </p:nvSpPr>
        <p:spPr>
          <a:xfrm>
            <a:off x="530352" y="804672"/>
            <a:ext cx="111099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800" b="1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鼓励留言是否更容易得到回应？感谢与回复覆盖不同</a:t>
            </a:r>
            <a:endParaRPr lang="zh-CN" sz="2800" dirty="0"/>
          </a:p>
        </p:txBody>
      </p:sp>
      <p:sp>
        <p:nvSpPr>
          <p:cNvPr id="5" name="Text 3"/>
          <p:cNvSpPr/>
          <p:nvPr/>
        </p:nvSpPr>
        <p:spPr>
          <a:xfrm>
            <a:off x="530352" y="6483096"/>
            <a:ext cx="10387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9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这是描述性组间对照；现有分析未对该差异作显著性或因果检验。</a:t>
            </a:r>
            <a:endParaRPr lang="zh-CN" sz="900" dirty="0"/>
          </a:p>
        </p:txBody>
      </p:sp>
      <p:sp>
        <p:nvSpPr>
          <p:cNvPr id="6" name="Text 4"/>
          <p:cNvSpPr/>
          <p:nvPr/>
        </p:nvSpPr>
        <p:spPr>
          <a:xfrm>
            <a:off x="10963656" y="6464808"/>
            <a:ext cx="704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18 / 25</a:t>
            </a:r>
            <a:endParaRPr lang="zh-CN" sz="1000" dirty="0"/>
          </a:p>
        </p:txBody>
      </p:sp>
      <p:sp>
        <p:nvSpPr>
          <p:cNvPr id="7" name="Text 5"/>
          <p:cNvSpPr/>
          <p:nvPr/>
        </p:nvSpPr>
        <p:spPr>
          <a:xfrm>
            <a:off x="676656" y="1728216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85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多少留言观察到7天内直接回复？</a:t>
            </a:r>
            <a:endParaRPr lang="zh-CN" sz="1850" dirty="0"/>
          </a:p>
        </p:txBody>
      </p:sp>
      <p:sp>
        <p:nvSpPr>
          <p:cNvPr id="8" name="Text 6"/>
          <p:cNvSpPr/>
          <p:nvPr/>
        </p:nvSpPr>
        <p:spPr>
          <a:xfrm>
            <a:off x="6400800" y="1728216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850" b="1" dirty="0">
                <a:solidFill>
                  <a:srgbClr val="B97339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已回复记录中，最早回复多少含感谢？</a:t>
            </a:r>
            <a:endParaRPr lang="zh-CN" sz="185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594360" y="2267712"/>
          <a:ext cx="5303520" cy="229514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0" name="Chart 1" descr=""/>
          <p:cNvGraphicFramePr/>
          <p:nvPr/>
        </p:nvGraphicFramePr>
        <p:xfrm>
          <a:off x="6327648" y="2267712"/>
          <a:ext cx="5303520" cy="229514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Text 7"/>
          <p:cNvSpPr/>
          <p:nvPr/>
        </p:nvSpPr>
        <p:spPr>
          <a:xfrm>
            <a:off x="749808" y="4690872"/>
            <a:ext cx="5029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37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分母：全部根评论</a:t>
            </a:r>
            <a:endParaRPr lang="zh-CN" sz="1370" dirty="0"/>
          </a:p>
          <a:p>
            <a:pPr indent="0" marL="0">
              <a:buNone/>
            </a:pPr>
            <a:r>
              <a:rPr lang="zh-CN" altLang="en-US" sz="137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513 / 1,180；3,055 / 5,429</a:t>
            </a:r>
            <a:endParaRPr lang="zh-CN" sz="1370" dirty="0"/>
          </a:p>
        </p:txBody>
      </p:sp>
      <p:sp>
        <p:nvSpPr>
          <p:cNvPr id="12" name="Text 8"/>
          <p:cNvSpPr/>
          <p:nvPr/>
        </p:nvSpPr>
        <p:spPr>
          <a:xfrm>
            <a:off x="6483096" y="4690872"/>
            <a:ext cx="5029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37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分母：已观察到直接回复的记录</a:t>
            </a:r>
            <a:endParaRPr lang="zh-CN" sz="1370" dirty="0"/>
          </a:p>
          <a:p>
            <a:pPr indent="0" marL="0">
              <a:buNone/>
            </a:pPr>
            <a:r>
              <a:rPr lang="zh-CN" altLang="en-US" sz="137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137 / 513；195 / 3,055</a:t>
            </a:r>
            <a:endParaRPr lang="zh-CN" sz="1370" dirty="0"/>
          </a:p>
        </p:txBody>
      </p:sp>
      <p:sp>
        <p:nvSpPr>
          <p:cNvPr id="13" name="Text 9"/>
          <p:cNvSpPr/>
          <p:nvPr/>
        </p:nvSpPr>
        <p:spPr>
          <a:xfrm>
            <a:off x="694944" y="5477256"/>
            <a:ext cx="108356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750" b="1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鼓励组的观测回复覆盖低12.8个百分点；但在已回复记录中，感谢词占比高20.3个百分点。</a:t>
            </a:r>
            <a:endParaRPr lang="zh-CN" sz="1750" dirty="0"/>
          </a:p>
        </p:txBody>
      </p:sp>
      <p:sp>
        <p:nvSpPr>
          <p:cNvPr id="14" name="Text 10"/>
          <p:cNvSpPr/>
          <p:nvPr/>
        </p:nvSpPr>
        <p:spPr>
          <a:xfrm>
            <a:off x="694944" y="5934456"/>
            <a:ext cx="10835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650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这批记录支持“回复时更常致谢”，不能据此说“鼓励更容易被回”。作者和留言情境可能不同，接着看这些回复是怎样组织起来的。</a:t>
            </a:r>
            <a:endParaRPr lang="zh-CN" sz="16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743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3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RQ3  评论中的回应与参与</a:t>
            </a:r>
            <a:endParaRPr lang="zh-CN" sz="1300" dirty="0"/>
          </a:p>
        </p:txBody>
      </p:sp>
      <p:sp>
        <p:nvSpPr>
          <p:cNvPr id="3" name="Text 1"/>
          <p:cNvSpPr/>
          <p:nvPr/>
        </p:nvSpPr>
        <p:spPr>
          <a:xfrm>
            <a:off x="8339328" y="274320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1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评论区的网络结构</a:t>
            </a:r>
            <a:endParaRPr lang="zh-CN" sz="1100" dirty="0"/>
          </a:p>
        </p:txBody>
      </p:sp>
      <p:sp>
        <p:nvSpPr>
          <p:cNvPr id="4" name="Text 2"/>
          <p:cNvSpPr/>
          <p:nvPr/>
        </p:nvSpPr>
        <p:spPr>
          <a:xfrm>
            <a:off x="530352" y="804672"/>
            <a:ext cx="111099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800" b="1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评论关系网络：间接相连广，直接联系仍稀疏</a:t>
            </a:r>
            <a:endParaRPr lang="zh-CN" sz="2800" dirty="0"/>
          </a:p>
        </p:txBody>
      </p:sp>
      <p:sp>
        <p:nvSpPr>
          <p:cNvPr id="5" name="Text 3"/>
          <p:cNvSpPr/>
          <p:nvPr/>
        </p:nvSpPr>
        <p:spPr>
          <a:xfrm>
            <a:off x="530352" y="6483096"/>
            <a:ext cx="10387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9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节点为账号；根评论者→帖主，明确回复者→被回复用户；同向多次互动累加为边权。</a:t>
            </a:r>
            <a:endParaRPr lang="zh-CN" sz="900" dirty="0"/>
          </a:p>
        </p:txBody>
      </p:sp>
      <p:sp>
        <p:nvSpPr>
          <p:cNvPr id="6" name="Text 4"/>
          <p:cNvSpPr/>
          <p:nvPr/>
        </p:nvSpPr>
        <p:spPr>
          <a:xfrm>
            <a:off x="10963656" y="6464808"/>
            <a:ext cx="704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19 / 25</a:t>
            </a:r>
            <a:endParaRPr lang="zh-CN" sz="1000" dirty="0"/>
          </a:p>
        </p:txBody>
      </p:sp>
      <p:pic>
        <p:nvPicPr>
          <p:cNvPr id="7" name="Image 0" descr="/Users/lchen/Projects/FDU-Homeworks/social-media-net-analysis/projects/group/figures/06_comment_netwo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" y="1874520"/>
            <a:ext cx="6327648" cy="35086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196328" y="1783080"/>
            <a:ext cx="4389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1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2,932个有边账号 · 4,069条有向边</a:t>
            </a:r>
            <a:endParaRPr lang="zh-CN" sz="2100" dirty="0"/>
          </a:p>
        </p:txBody>
      </p:sp>
      <p:sp>
        <p:nvSpPr>
          <p:cNvPr id="9" name="Text 6"/>
          <p:cNvSpPr/>
          <p:nvPr/>
        </p:nvSpPr>
        <p:spPr>
          <a:xfrm>
            <a:off x="7196328" y="2779776"/>
            <a:ext cx="438912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65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排除84次自我互动后，11,511次事件合并成有向边；图中省略箭头，金色为样本帖作者。</a:t>
            </a:r>
            <a:endParaRPr lang="zh-CN" sz="1650" dirty="0"/>
          </a:p>
        </p:txBody>
      </p:sp>
      <p:sp>
        <p:nvSpPr>
          <p:cNvPr id="10" name="Text 7"/>
          <p:cNvSpPr/>
          <p:nvPr/>
        </p:nvSpPr>
        <p:spPr>
          <a:xfrm>
            <a:off x="7196328" y="3950208"/>
            <a:ext cx="4389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75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共同面向帖主留言，就能把许多账号间接连起。忽略方向后，94.4%处于最大连通部分；密度0.0473%，直接往来仍局限于少量账号配对。</a:t>
            </a:r>
            <a:endParaRPr lang="zh-CN" sz="1750" dirty="0"/>
          </a:p>
        </p:txBody>
      </p:sp>
      <p:sp>
        <p:nvSpPr>
          <p:cNvPr id="11" name="Text 8"/>
          <p:cNvSpPr/>
          <p:nvPr/>
        </p:nvSpPr>
        <p:spPr>
          <a:xfrm>
            <a:off x="7196328" y="551383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7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这张图回答了账号怎样被连起来。谁在回复谁，下一页再把明确回复单独取出比较。</a:t>
            </a:r>
            <a:endParaRPr lang="zh-CN" sz="17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743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3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RQ3  评论中的回应与参与</a:t>
            </a:r>
            <a:endParaRPr lang="zh-CN" sz="1300" dirty="0"/>
          </a:p>
        </p:txBody>
      </p:sp>
      <p:sp>
        <p:nvSpPr>
          <p:cNvPr id="3" name="Text 1"/>
          <p:cNvSpPr/>
          <p:nvPr/>
        </p:nvSpPr>
        <p:spPr>
          <a:xfrm>
            <a:off x="8339328" y="274320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1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评论区的网络结构</a:t>
            </a:r>
            <a:endParaRPr lang="zh-CN" sz="1100" dirty="0"/>
          </a:p>
        </p:txBody>
      </p:sp>
      <p:sp>
        <p:nvSpPr>
          <p:cNvPr id="4" name="Text 2"/>
          <p:cNvSpPr/>
          <p:nvPr/>
        </p:nvSpPr>
        <p:spPr>
          <a:xfrm>
            <a:off x="530352" y="804672"/>
            <a:ext cx="111099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800" b="1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回话主要围绕帖主展开，用户彼此回复较少</a:t>
            </a:r>
            <a:endParaRPr lang="zh-CN" sz="2800" dirty="0"/>
          </a:p>
        </p:txBody>
      </p:sp>
      <p:sp>
        <p:nvSpPr>
          <p:cNvPr id="5" name="Text 3"/>
          <p:cNvSpPr/>
          <p:nvPr/>
        </p:nvSpPr>
        <p:spPr>
          <a:xfrm>
            <a:off x="530352" y="6483096"/>
            <a:ext cx="10387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9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分母为4,902次非自我明确回复，排除6,609条根评论；89%不是全部评论的回复率。</a:t>
            </a:r>
            <a:endParaRPr lang="zh-CN" sz="900" dirty="0"/>
          </a:p>
        </p:txBody>
      </p:sp>
      <p:sp>
        <p:nvSpPr>
          <p:cNvPr id="6" name="Text 4"/>
          <p:cNvSpPr/>
          <p:nvPr/>
        </p:nvSpPr>
        <p:spPr>
          <a:xfrm>
            <a:off x="10963656" y="6464808"/>
            <a:ext cx="704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20 / 25</a:t>
            </a:r>
            <a:endParaRPr lang="zh-CN" sz="10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85216" y="1892808"/>
          <a:ext cx="6492240" cy="352958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7516368" y="1819656"/>
            <a:ext cx="406908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9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4,361次 · 89.0%</a:t>
            </a:r>
            <a:endParaRPr lang="zh-CN" sz="2900" dirty="0"/>
          </a:p>
        </p:txBody>
      </p:sp>
      <p:sp>
        <p:nvSpPr>
          <p:cNvPr id="9" name="Text 6"/>
          <p:cNvSpPr/>
          <p:nvPr/>
        </p:nvSpPr>
        <p:spPr>
          <a:xfrm>
            <a:off x="7516368" y="2779776"/>
            <a:ext cx="4069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读者面向帖主留言后，明确回话大多由帖主发出。其他用户彼此回复只有97次，占2.0%。</a:t>
            </a:r>
            <a:endParaRPr lang="zh-CN" sz="1800" dirty="0"/>
          </a:p>
        </p:txBody>
      </p:sp>
      <p:sp>
        <p:nvSpPr>
          <p:cNvPr id="10" name="Text 7"/>
          <p:cNvSpPr/>
          <p:nvPr/>
        </p:nvSpPr>
        <p:spPr>
          <a:xfrm>
            <a:off x="7516368" y="4325112"/>
            <a:ext cx="4069080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因此，这批评论更常表现为“向帖主留言—帖主回应”，其他参与者相互回复的份额很小。</a:t>
            </a:r>
            <a:endParaRPr lang="zh-CN" sz="1800" dirty="0"/>
          </a:p>
        </p:txBody>
      </p:sp>
      <p:sp>
        <p:nvSpPr>
          <p:cNvPr id="11" name="Text 8"/>
          <p:cNvSpPr/>
          <p:nvPr/>
        </p:nvSpPr>
        <p:spPr>
          <a:xfrm>
            <a:off x="685800" y="5907024"/>
            <a:ext cx="108356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750" b="1" dirty="0">
                <a:solidFill>
                  <a:srgbClr val="B97339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还需要分清：围绕一个账号有很多发言，究竟来自更多人，还是已有发送者反复出现？</a:t>
            </a:r>
            <a:endParaRPr lang="zh-CN" sz="17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743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3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RQ3  评论中的回应与参与</a:t>
            </a:r>
            <a:endParaRPr lang="zh-CN" sz="1300" dirty="0"/>
          </a:p>
        </p:txBody>
      </p:sp>
      <p:sp>
        <p:nvSpPr>
          <p:cNvPr id="3" name="Text 1"/>
          <p:cNvSpPr/>
          <p:nvPr/>
        </p:nvSpPr>
        <p:spPr>
          <a:xfrm>
            <a:off x="8339328" y="274320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1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评论区的网络结构</a:t>
            </a:r>
            <a:endParaRPr lang="zh-CN" sz="1100" dirty="0"/>
          </a:p>
        </p:txBody>
      </p:sp>
      <p:sp>
        <p:nvSpPr>
          <p:cNvPr id="4" name="Text 2"/>
          <p:cNvSpPr/>
          <p:nvPr/>
        </p:nvSpPr>
        <p:spPr>
          <a:xfrm>
            <a:off x="530352" y="804672"/>
            <a:ext cx="111099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800" b="1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高互动量可能来自接触面广，或少数人反复往来</a:t>
            </a:r>
            <a:endParaRPr lang="zh-CN" sz="2800" dirty="0"/>
          </a:p>
        </p:txBody>
      </p:sp>
      <p:sp>
        <p:nvSpPr>
          <p:cNvPr id="5" name="Text 3"/>
          <p:cNvSpPr/>
          <p:nvPr/>
        </p:nvSpPr>
        <p:spPr>
          <a:xfrm>
            <a:off x="530352" y="6483096"/>
            <a:ext cx="10387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9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次数为收到的非自我互动事件，人数为不同发送者；“非样本帖作者”不等于从不发帖。</a:t>
            </a:r>
            <a:endParaRPr lang="zh-CN" sz="900" dirty="0"/>
          </a:p>
        </p:txBody>
      </p:sp>
      <p:sp>
        <p:nvSpPr>
          <p:cNvPr id="6" name="Text 4"/>
          <p:cNvSpPr/>
          <p:nvPr/>
        </p:nvSpPr>
        <p:spPr>
          <a:xfrm>
            <a:off x="10963656" y="6464808"/>
            <a:ext cx="704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21 / 25</a:t>
            </a:r>
            <a:endParaRPr lang="zh-CN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1682496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8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前10位账号接收了54.0%的互动。判断这种集中意味着什么，需把次数和人数放在一起。</a:t>
            </a:r>
            <a:endParaRPr lang="zh-CN" sz="18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" y="2487168"/>
          <a:ext cx="10972800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1417320"/>
                <a:gridCol w="1737360"/>
                <a:gridCol w="1691640"/>
                <a:gridCol w="4800600"/>
              </a:tblGrid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b="1" dirty="0">
                          <a:solidFill>
                            <a:srgbClr val="245C4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匿名账号</a:t>
                      </a:r>
                      <a:endParaRPr lang="en-US" sz="16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b="1" dirty="0">
                          <a:solidFill>
                            <a:srgbClr val="245C4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样本帖作者</a:t>
                      </a:r>
                      <a:endParaRPr lang="en-US" sz="16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b="1" dirty="0">
                          <a:solidFill>
                            <a:srgbClr val="245C4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接收事件次数</a:t>
                      </a:r>
                      <a:endParaRPr lang="en-US" sz="16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b="1" dirty="0">
                          <a:solidFill>
                            <a:srgbClr val="245C4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不同发送者</a:t>
                      </a:r>
                      <a:endParaRPr lang="en-US" sz="16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b="1" dirty="0">
                          <a:solidFill>
                            <a:srgbClr val="245C4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这段记录中的突出形态</a:t>
                      </a:r>
                      <a:endParaRPr lang="en-US" sz="16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0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U1528</a:t>
                      </a:r>
                      <a:endParaRPr lang="en-US" sz="16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是</a:t>
                      </a:r>
                      <a:endParaRPr lang="en-US" sz="16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1,378</a:t>
                      </a:r>
                      <a:endParaRPr lang="en-US" sz="16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53</a:t>
                      </a:r>
                      <a:endParaRPr lang="en-US" sz="16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已有发送者反复留言</a:t>
                      </a:r>
                      <a:endParaRPr lang="en-US" sz="16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U0948</a:t>
                      </a:r>
                      <a:endParaRPr lang="en-US" sz="16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是</a:t>
                      </a:r>
                      <a:endParaRPr lang="en-US" sz="16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1,275</a:t>
                      </a:r>
                      <a:endParaRPr lang="en-US" sz="16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1,091</a:t>
                      </a:r>
                      <a:endParaRPr lang="en-US" sz="16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收到更多不同账号的留言</a:t>
                      </a:r>
                      <a:endParaRPr lang="en-US" sz="16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7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U0112</a:t>
                      </a:r>
                      <a:endParaRPr lang="en-US" sz="16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否</a:t>
                      </a:r>
                      <a:endParaRPr lang="en-US" sz="16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180</a:t>
                      </a:r>
                      <a:endParaRPr lang="en-US" sz="16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4</a:t>
                      </a:r>
                      <a:endParaRPr lang="en-US" sz="16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与极少数账号集中往来</a:t>
                      </a:r>
                      <a:endParaRPr lang="en-US" sz="16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94944" y="5175504"/>
            <a:ext cx="10835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U1528与U0948接收次数接近，前者只有53位发送者，后者有1,091位。相同“声量”背后，可以是很不一样的参与范围。</a:t>
            </a:r>
            <a:endParaRPr lang="zh-CN" sz="1800" dirty="0"/>
          </a:p>
        </p:txBody>
      </p:sp>
      <p:sp>
        <p:nvSpPr>
          <p:cNvPr id="10" name="Text 7"/>
          <p:cNvSpPr/>
          <p:nvPr/>
        </p:nvSpPr>
        <p:spPr>
          <a:xfrm>
            <a:off x="694944" y="5806440"/>
            <a:ext cx="108356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8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U0112的180次只来自4人。总次数不能替代参与广度；它们也没有区分发生早晚，接着看留言集中在发帖后哪个时段。</a:t>
            </a:r>
            <a:endParaRPr lang="zh-CN" sz="1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743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3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RQ3  评论中的回应与参与</a:t>
            </a:r>
            <a:endParaRPr lang="zh-CN" sz="1300" dirty="0"/>
          </a:p>
        </p:txBody>
      </p:sp>
      <p:sp>
        <p:nvSpPr>
          <p:cNvPr id="3" name="Text 1"/>
          <p:cNvSpPr/>
          <p:nvPr/>
        </p:nvSpPr>
        <p:spPr>
          <a:xfrm>
            <a:off x="8339328" y="274320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1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评论区的网络结构</a:t>
            </a:r>
            <a:endParaRPr lang="zh-CN" sz="1100" dirty="0"/>
          </a:p>
        </p:txBody>
      </p:sp>
      <p:sp>
        <p:nvSpPr>
          <p:cNvPr id="4" name="Text 2"/>
          <p:cNvSpPr/>
          <p:nvPr/>
        </p:nvSpPr>
        <p:spPr>
          <a:xfrm>
            <a:off x="530352" y="804672"/>
            <a:ext cx="111099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800" b="1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评论多发生在早期，首回速度只描述已接话的线程</a:t>
            </a:r>
            <a:endParaRPr lang="zh-CN" sz="2800" dirty="0"/>
          </a:p>
        </p:txBody>
      </p:sp>
      <p:sp>
        <p:nvSpPr>
          <p:cNvPr id="5" name="Text 3"/>
          <p:cNvSpPr/>
          <p:nvPr/>
        </p:nvSpPr>
        <p:spPr>
          <a:xfrm>
            <a:off x="530352" y="6483096"/>
            <a:ext cx="10387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9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64.5%与82.2%的分母为11,595条评论，从发帖起算；首回间隔从根评论起算。</a:t>
            </a:r>
            <a:endParaRPr lang="zh-CN" sz="900" dirty="0"/>
          </a:p>
        </p:txBody>
      </p:sp>
      <p:sp>
        <p:nvSpPr>
          <p:cNvPr id="6" name="Text 4"/>
          <p:cNvSpPr/>
          <p:nvPr/>
        </p:nvSpPr>
        <p:spPr>
          <a:xfrm>
            <a:off x="10963656" y="6464808"/>
            <a:ext cx="704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22 / 25</a:t>
            </a:r>
            <a:endParaRPr lang="zh-CN" sz="10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85216" y="1874520"/>
          <a:ext cx="6446520" cy="331012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7479792" y="1819656"/>
            <a:ext cx="406908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32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2.05小时</a:t>
            </a:r>
            <a:endParaRPr lang="zh-CN" sz="3200" dirty="0"/>
          </a:p>
        </p:txBody>
      </p:sp>
      <p:sp>
        <p:nvSpPr>
          <p:cNvPr id="9" name="Text 6"/>
          <p:cNvSpPr/>
          <p:nvPr/>
        </p:nvSpPr>
        <p:spPr>
          <a:xfrm>
            <a:off x="7479792" y="2642616"/>
            <a:ext cx="406908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帖主已参与的线程中，</a:t>
            </a:r>
            <a:endParaRPr lang="zh-CN" sz="1800" dirty="0"/>
          </a:p>
          <a:p>
            <a:pPr indent="0" marL="0">
              <a:buNone/>
            </a:pPr>
            <a:r>
              <a:rPr lang="zh-CN" altLang="en-US" sz="180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根评论至首回的中位间隔</a:t>
            </a:r>
            <a:endParaRPr lang="zh-CN" sz="1800" dirty="0"/>
          </a:p>
        </p:txBody>
      </p:sp>
      <p:sp>
        <p:nvSpPr>
          <p:cNvPr id="10" name="Text 7"/>
          <p:cNvSpPr/>
          <p:nvPr/>
        </p:nvSpPr>
        <p:spPr>
          <a:xfrm>
            <a:off x="7479792" y="3703320"/>
            <a:ext cx="40690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近三分之二的评论出现在前24小时，互动集中于早期。但2.05小时排除了未观察到帖主参与的线程，不能代表所有留言的等待时间。</a:t>
            </a:r>
            <a:endParaRPr lang="zh-CN" sz="1800" dirty="0"/>
          </a:p>
        </p:txBody>
      </p:sp>
      <p:sp>
        <p:nvSpPr>
          <p:cNvPr id="11" name="Text 8"/>
          <p:cNvSpPr/>
          <p:nvPr/>
        </p:nvSpPr>
        <p:spPr>
          <a:xfrm>
            <a:off x="685800" y="5870448"/>
            <a:ext cx="10835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8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评价回应是否及时，应先分清“有没有回”和“回得多快”；只看速度会漏掉未观察到回应的留言。</a:t>
            </a:r>
            <a:endParaRPr lang="zh-CN"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73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743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300" b="1" dirty="0">
                <a:solidFill>
                  <a:srgbClr val="C5D9D0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RQ3  评论中的回应与参与</a:t>
            </a:r>
            <a:endParaRPr lang="zh-CN" sz="1300" dirty="0"/>
          </a:p>
        </p:txBody>
      </p:sp>
      <p:sp>
        <p:nvSpPr>
          <p:cNvPr id="3" name="Text 1"/>
          <p:cNvSpPr/>
          <p:nvPr/>
        </p:nvSpPr>
        <p:spPr>
          <a:xfrm>
            <a:off x="8339328" y="274320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100" dirty="0">
                <a:solidFill>
                  <a:srgbClr val="C5D9D0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评论区的网络结构</a:t>
            </a:r>
            <a:endParaRPr lang="zh-CN" sz="1100" dirty="0"/>
          </a:p>
        </p:txBody>
      </p:sp>
      <p:sp>
        <p:nvSpPr>
          <p:cNvPr id="4" name="Text 2"/>
          <p:cNvSpPr/>
          <p:nvPr/>
        </p:nvSpPr>
        <p:spPr>
          <a:xfrm>
            <a:off x="530352" y="804672"/>
            <a:ext cx="111099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8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RQ3的回答：评论主要怎样形成往来</a:t>
            </a:r>
            <a:endParaRPr lang="zh-CN" sz="2800" dirty="0"/>
          </a:p>
        </p:txBody>
      </p:sp>
      <p:sp>
        <p:nvSpPr>
          <p:cNvPr id="5" name="Text 3"/>
          <p:cNvSpPr/>
          <p:nvPr/>
        </p:nvSpPr>
        <p:spPr>
          <a:xfrm>
            <a:off x="530352" y="6483096"/>
            <a:ext cx="10387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900" dirty="0">
                <a:solidFill>
                  <a:srgbClr val="BDD3C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评论与网络均基于已采集记录；未观察到回复不等于实际没有回复。</a:t>
            </a:r>
            <a:endParaRPr lang="zh-CN" sz="900" dirty="0"/>
          </a:p>
        </p:txBody>
      </p:sp>
      <p:sp>
        <p:nvSpPr>
          <p:cNvPr id="6" name="Text 4"/>
          <p:cNvSpPr/>
          <p:nvPr/>
        </p:nvSpPr>
        <p:spPr>
          <a:xfrm>
            <a:off x="10963656" y="6464808"/>
            <a:ext cx="704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BDD3C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23 / 25</a:t>
            </a:r>
            <a:endParaRPr lang="zh-CN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1737360"/>
            <a:ext cx="10652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3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读者更常鼓励，帖主更常感谢；逐条配对后，含义更清楚。</a:t>
            </a:r>
            <a:endParaRPr lang="zh-CN" sz="2300" dirty="0"/>
          </a:p>
        </p:txBody>
      </p:sp>
      <p:sp>
        <p:nvSpPr>
          <p:cNvPr id="8" name="Text 6"/>
          <p:cNvSpPr/>
          <p:nvPr/>
        </p:nvSpPr>
        <p:spPr>
          <a:xfrm>
            <a:off x="749808" y="2313432"/>
            <a:ext cx="10607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850" dirty="0">
                <a:solidFill>
                  <a:srgbClr val="DFEAE3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直接配对进一步说明：鼓励组已回复记录中的感谢占比更高，但观测回复覆盖反而较低。回复怎样表达，与多少留言得到回应，需要分开判断。</a:t>
            </a:r>
            <a:endParaRPr lang="zh-CN" sz="1850" dirty="0"/>
          </a:p>
        </p:txBody>
      </p:sp>
      <p:sp>
        <p:nvSpPr>
          <p:cNvPr id="9" name="Text 7"/>
          <p:cNvSpPr/>
          <p:nvPr/>
        </p:nvSpPr>
        <p:spPr>
          <a:xfrm>
            <a:off x="731520" y="3410712"/>
            <a:ext cx="10652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3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这些发言主要围绕帖主组织，热闹的来源也不一样。</a:t>
            </a:r>
            <a:endParaRPr lang="zh-CN" sz="2300" dirty="0"/>
          </a:p>
        </p:txBody>
      </p:sp>
      <p:sp>
        <p:nvSpPr>
          <p:cNvPr id="10" name="Text 8"/>
          <p:cNvSpPr/>
          <p:nvPr/>
        </p:nvSpPr>
        <p:spPr>
          <a:xfrm>
            <a:off x="749808" y="3986784"/>
            <a:ext cx="1060704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850" dirty="0">
                <a:solidFill>
                  <a:srgbClr val="DFEAE3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89%的明确回复由帖主发给其他用户，用户相互回复仅2%。接收次数接近的账号，可以来自53人或1,091人；所以留言量既可能反映广泛参与，也可能是已有发送者反复出现。</a:t>
            </a:r>
            <a:endParaRPr lang="zh-CN" sz="1850" dirty="0"/>
          </a:p>
        </p:txBody>
      </p:sp>
      <p:sp>
        <p:nvSpPr>
          <p:cNvPr id="11" name="Shape 9"/>
          <p:cNvSpPr/>
          <p:nvPr/>
        </p:nvSpPr>
        <p:spPr>
          <a:xfrm>
            <a:off x="676656" y="5385816"/>
            <a:ext cx="10936224" cy="822960"/>
          </a:xfrm>
          <a:prstGeom prst="rect">
            <a:avLst/>
          </a:prstGeom>
          <a:solidFill>
            <a:srgbClr val="295347"/>
          </a:solidFill>
          <a:ln w="12700">
            <a:solidFill>
              <a:srgbClr val="29534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5550408"/>
            <a:ext cx="10533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E3ECE6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64.5%的评论在发帖后24小时内出现。判断回应时，应先看有没有观察到回复，再看回得多快；2.05小时的首回中位数只描述已接话线程。</a:t>
            </a:r>
            <a:endParaRPr lang="zh-CN" sz="17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743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3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共同局限与后续改进</a:t>
            </a:r>
            <a:endParaRPr lang="zh-CN" sz="1300" dirty="0"/>
          </a:p>
        </p:txBody>
      </p:sp>
      <p:sp>
        <p:nvSpPr>
          <p:cNvPr id="3" name="Text 1"/>
          <p:cNvSpPr/>
          <p:nvPr/>
        </p:nvSpPr>
        <p:spPr>
          <a:xfrm>
            <a:off x="8339328" y="274320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1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研究结论与局限</a:t>
            </a:r>
            <a:endParaRPr lang="zh-CN" sz="1100" dirty="0"/>
          </a:p>
        </p:txBody>
      </p:sp>
      <p:sp>
        <p:nvSpPr>
          <p:cNvPr id="4" name="Text 2"/>
          <p:cNvSpPr/>
          <p:nvPr/>
        </p:nvSpPr>
        <p:spPr>
          <a:xfrm>
            <a:off x="530352" y="804672"/>
            <a:ext cx="111099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800" b="1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研究局限：哪些判断还不能由这批记录回答</a:t>
            </a:r>
            <a:endParaRPr lang="zh-CN" sz="2800" dirty="0"/>
          </a:p>
        </p:txBody>
      </p:sp>
      <p:sp>
        <p:nvSpPr>
          <p:cNvPr id="5" name="Text 3"/>
          <p:cNvSpPr/>
          <p:nvPr/>
        </p:nvSpPr>
        <p:spPr>
          <a:xfrm>
            <a:off x="530352" y="6483096"/>
            <a:ext cx="10387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9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下一步是补齐记录和统一观察窗口；若检验表达或回复做法的效果，需要另行设计实验。</a:t>
            </a:r>
            <a:endParaRPr lang="zh-CN" sz="900" dirty="0"/>
          </a:p>
        </p:txBody>
      </p:sp>
      <p:sp>
        <p:nvSpPr>
          <p:cNvPr id="6" name="Text 4"/>
          <p:cNvSpPr/>
          <p:nvPr/>
        </p:nvSpPr>
        <p:spPr>
          <a:xfrm>
            <a:off x="10963656" y="6464808"/>
            <a:ext cx="704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24 / 25</a:t>
            </a:r>
            <a:endParaRPr lang="zh-CN" sz="10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" y="1792224"/>
          <a:ext cx="10972800" cy="914400"/>
        </p:xfrm>
        <a:graphic>
          <a:graphicData uri="http://schemas.openxmlformats.org/drawingml/2006/table">
            <a:tbl>
              <a:tblPr/>
              <a:tblGrid>
                <a:gridCol w="2798064"/>
                <a:gridCol w="4736592"/>
                <a:gridCol w="3438144"/>
              </a:tblGrid>
              <a:tr h="7589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b="1" dirty="0">
                          <a:solidFill>
                            <a:srgbClr val="245C4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限制</a:t>
                      </a:r>
                      <a:endParaRPr lang="en-US" sz="15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b="1" dirty="0">
                          <a:solidFill>
                            <a:srgbClr val="245C4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它怎样影响结论</a:t>
                      </a:r>
                      <a:endParaRPr lang="en-US" sz="15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b="1" dirty="0">
                          <a:solidFill>
                            <a:srgbClr val="245C4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下一步需要什么</a:t>
                      </a:r>
                      <a:endParaRPr lang="en-US" sz="15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0"/>
                    </a:solidFill>
                  </a:tcPr>
                </a:tc>
              </a:tr>
              <a:tr h="7589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100位作者，抽样机制不明</a:t>
                      </a:r>
                      <a:endParaRPr lang="en-US" sz="15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不能把样本内容比例和回复结构直接推广到全Keep</a:t>
                      </a:r>
                      <a:endParaRPr lang="en-US" sz="15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更清楚的抽样框与作者覆盖</a:t>
                      </a:r>
                      <a:endParaRPr lang="en-US" sz="15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589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正文、评论覆盖不全</a:t>
                      </a:r>
                      <a:endParaRPr lang="en-US" sz="15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主题与网络代表不同子样本；未采到不等于未发生</a:t>
                      </a:r>
                      <a:endParaRPr lang="en-US" sz="15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补齐正文、评论、图像和视频内容</a:t>
                      </a:r>
                      <a:endParaRPr lang="en-US" sz="15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7"/>
                    </a:solidFill>
                  </a:tcPr>
                </a:tc>
              </a:tr>
              <a:tr h="7589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曝光、粉丝与采集时点缺失</a:t>
                      </a:r>
                      <a:endParaRPr lang="en-US" sz="15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累计点赞仍受未观测差异影响，固定效应不等于因果识别</a:t>
                      </a:r>
                      <a:endParaRPr lang="en-US" sz="15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统一发帖后7天，并记录实际曝光</a:t>
                      </a:r>
                      <a:endParaRPr lang="en-US" sz="15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589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词典与主题只是内容的部分表征</a:t>
                      </a:r>
                      <a:endParaRPr lang="en-US" sz="15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不能据用词判断情绪；主题区间未计入模型估计不确定性</a:t>
                      </a:r>
                      <a:endParaRPr lang="en-US" sz="15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语义复核、重复抽样与独立验证</a:t>
                      </a:r>
                      <a:endParaRPr lang="en-US" sz="15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7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94944" y="5879592"/>
            <a:ext cx="10835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8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后续先统一观察窗口，完整记录内容、参与人数和实际回复，再检验具体做法能否改变反馈。</a:t>
            </a:r>
            <a:endParaRPr lang="zh-CN" sz="1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73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6483096"/>
            <a:ext cx="10387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900" dirty="0">
                <a:solidFill>
                  <a:srgbClr val="BDD3C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成员分工 · Credit</a:t>
            </a:r>
            <a:endParaRPr lang="zh-CN" sz="900" dirty="0"/>
          </a:p>
        </p:txBody>
      </p:sp>
      <p:sp>
        <p:nvSpPr>
          <p:cNvPr id="3" name="Text 1"/>
          <p:cNvSpPr/>
          <p:nvPr/>
        </p:nvSpPr>
        <p:spPr>
          <a:xfrm>
            <a:off x="10963656" y="6464808"/>
            <a:ext cx="704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BDD3C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25 / 25</a:t>
            </a:r>
            <a:endParaRPr lang="zh-CN" sz="1000" dirty="0"/>
          </a:p>
        </p:txBody>
      </p:sp>
      <p:sp>
        <p:nvSpPr>
          <p:cNvPr id="4" name="Text 2"/>
          <p:cNvSpPr/>
          <p:nvPr/>
        </p:nvSpPr>
        <p:spPr>
          <a:xfrm>
            <a:off x="713232" y="71323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35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成员分工 / Credit</a:t>
            </a:r>
            <a:endParaRPr lang="zh-CN" sz="3500" dirty="0"/>
          </a:p>
        </p:txBody>
      </p:sp>
      <p:sp>
        <p:nvSpPr>
          <p:cNvPr id="5" name="Shape 3"/>
          <p:cNvSpPr/>
          <p:nvPr/>
        </p:nvSpPr>
        <p:spPr>
          <a:xfrm>
            <a:off x="685800" y="2029968"/>
            <a:ext cx="5266944" cy="3602736"/>
          </a:xfrm>
          <a:prstGeom prst="rect">
            <a:avLst/>
          </a:prstGeom>
          <a:solidFill>
            <a:srgbClr val="295347"/>
          </a:solidFill>
          <a:ln w="12700">
            <a:solidFill>
              <a:srgbClr val="29534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36208" y="2029968"/>
            <a:ext cx="5266944" cy="3602736"/>
          </a:xfrm>
          <a:prstGeom prst="rect">
            <a:avLst/>
          </a:prstGeom>
          <a:solidFill>
            <a:srgbClr val="295347"/>
          </a:solidFill>
          <a:ln w="12700">
            <a:solidFill>
              <a:srgbClr val="29534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" y="2386584"/>
            <a:ext cx="4736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31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陈霖</a:t>
            </a:r>
            <a:endParaRPr lang="zh-CN" sz="3100" dirty="0"/>
          </a:p>
        </p:txBody>
      </p:sp>
      <p:sp>
        <p:nvSpPr>
          <p:cNvPr id="8" name="Text 6"/>
          <p:cNvSpPr/>
          <p:nvPr/>
        </p:nvSpPr>
        <p:spPr>
          <a:xfrm>
            <a:off x="941832" y="3264408"/>
            <a:ext cx="4736592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100" dirty="0">
                <a:solidFill>
                  <a:srgbClr val="DFEAE3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问题的提出</a:t>
            </a:r>
            <a:endParaRPr lang="zh-CN" sz="2100" dirty="0"/>
          </a:p>
          <a:p>
            <a:pPr indent="0" marL="0">
              <a:buNone/>
            </a:pPr>
            <a:r>
              <a:rPr lang="zh-CN" altLang="en-US" sz="2100" dirty="0">
                <a:solidFill>
                  <a:srgbClr val="DFEAE3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数据清洗</a:t>
            </a:r>
            <a:endParaRPr lang="zh-CN" sz="2100" dirty="0"/>
          </a:p>
          <a:p>
            <a:pPr indent="0" marL="0">
              <a:buNone/>
            </a:pPr>
            <a:r>
              <a:rPr lang="zh-CN" altLang="en-US" sz="2100" dirty="0">
                <a:solidFill>
                  <a:srgbClr val="DFEAE3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RQ1：内容与点赞的分布</a:t>
            </a:r>
            <a:endParaRPr lang="zh-CN" sz="2100" dirty="0"/>
          </a:p>
        </p:txBody>
      </p:sp>
      <p:sp>
        <p:nvSpPr>
          <p:cNvPr id="9" name="Text 7"/>
          <p:cNvSpPr/>
          <p:nvPr/>
        </p:nvSpPr>
        <p:spPr>
          <a:xfrm>
            <a:off x="6492240" y="2386584"/>
            <a:ext cx="4736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31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董依心（dyx）</a:t>
            </a:r>
            <a:endParaRPr lang="zh-CN" sz="3100" dirty="0"/>
          </a:p>
        </p:txBody>
      </p:sp>
      <p:sp>
        <p:nvSpPr>
          <p:cNvPr id="10" name="Text 8"/>
          <p:cNvSpPr/>
          <p:nvPr/>
        </p:nvSpPr>
        <p:spPr>
          <a:xfrm>
            <a:off x="6492240" y="3264408"/>
            <a:ext cx="4736592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050" dirty="0">
                <a:solidFill>
                  <a:srgbClr val="DFEAE3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RQ2：文字、主题与点赞的关联</a:t>
            </a:r>
            <a:endParaRPr lang="zh-CN" sz="2050" dirty="0"/>
          </a:p>
          <a:p>
            <a:pPr indent="0" marL="0">
              <a:buNone/>
            </a:pPr>
            <a:r>
              <a:rPr lang="zh-CN" altLang="en-US" sz="2050" dirty="0">
                <a:solidFill>
                  <a:srgbClr val="DFEAE3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RQ3：评论中的回应与参与</a:t>
            </a:r>
            <a:endParaRPr lang="zh-CN" sz="2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 Unicode M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 Unicode M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社交媒体网络分析课程小组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Keep社区内容表达与互动反馈分析</dc:title>
  <dc:subject>八章结构与RQ逐项分析；全部为正文</dc:subject>
  <dc:creator>陈霖、董依心</dc:creator>
  <cp:lastModifiedBy>陈霖、董依心</cp:lastModifiedBy>
  <cp:revision>1</cp:revision>
  <dcterms:created xsi:type="dcterms:W3CDTF">2026-10-26T15:31:26Z</dcterms:created>
  <dcterms:modified xsi:type="dcterms:W3CDTF">2026-10-26T15:31:26Z</dcterms:modified>
</cp:coreProperties>
</file>