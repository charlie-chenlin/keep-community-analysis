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81" r:id="rId9"/>
    <p:sldId id="285" r:id="rId10"/>
    <p:sldId id="262" r:id="rId11"/>
    <p:sldId id="263" r:id="rId12"/>
    <p:sldId id="283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研究背景、意义与研究问题" id="{C8D4F533-A0EF-BD6E-D181-7106025D7DB5}">
          <p14:sldIdLst>
            <p14:sldId id="256"/>
            <p14:sldId id="257"/>
          </p14:sldIdLst>
        </p14:section>
        <p14:section name="02 数据来源、清洗与分析方法" id="{7697509D-B999-C82E-3DE4-0DBF1EAB0176}">
          <p14:sldIdLst>
            <p14:sldId id="258"/>
          </p14:sldIdLst>
        </p14:section>
        <p14:section name="03 数据覆盖与描述统计" id="{A935EC84-AD1B-BC45-1D69-AAFC66F37DC8}">
          <p14:sldIdLst>
            <p14:sldId id="259"/>
            <p14:sldId id="260"/>
            <p14:sldId id="281"/>
            <p14:sldId id="285"/>
            <p14:sldId id="262"/>
            <p14:sldId id="263"/>
            <p14:sldId id="283"/>
          </p14:sldIdLst>
        </p14:section>
        <p14:section name="04 文字表达与点赞的关联" id="{0144E7AD-39B2-DC28-04BF-B82E677A538C}">
          <p14:sldIdLst>
            <p14:sldId id="266"/>
            <p14:sldId id="267"/>
            <p14:sldId id="268"/>
          </p14:sldIdLst>
        </p14:section>
        <p14:section name="05 帖子主题与点赞的关联" id="{930E1D2E-132B-D927-FDEE-D32D913F3893}">
          <p14:sldIdLst>
            <p14:sldId id="269"/>
            <p14:sldId id="270"/>
          </p14:sldIdLst>
        </p14:section>
        <p14:section name="06 评论的主要内容" id="{4C6067EA-C9E0-4556-110F-7263ACD82849}">
          <p14:sldIdLst>
            <p14:sldId id="271"/>
            <p14:sldId id="273"/>
          </p14:sldIdLst>
        </p14:section>
        <p14:section name="07 评论区的网络结构" id="{C1093FC9-6422-6990-688E-E010B0EBAB36}">
          <p14:sldIdLst>
            <p14:sldId id="274"/>
            <p14:sldId id="275"/>
            <p14:sldId id="276"/>
            <p14:sldId id="277"/>
            <p14:sldId id="278"/>
          </p14:sldIdLst>
        </p14:section>
        <p14:section name="08 研究结论与局限" id="{29EDFEC1-230A-06B1-C08A-F3273AAD69A5}">
          <p14:sldIdLst>
            <p14:sldId id="279"/>
          </p14:sldIdLst>
        </p14:section>
        <p14:section name="Default-1" id="{F6F68327-9EC7-412C-4EA0-75D436F92DEA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43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可见正文覆盖率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图片</c:v>
                </c:pt>
                <c:pt idx="1">
                  <c:v>视频</c:v>
                </c:pt>
                <c:pt idx="2">
                  <c:v>纯文字</c:v>
                </c:pt>
                <c:pt idx="3">
                  <c:v>无媒体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75.9758204</c:v>
                </c:pt>
                <c:pt idx="1">
                  <c:v>89.1350211</c:v>
                </c:pt>
                <c:pt idx="2">
                  <c:v>100</c:v>
                </c:pt>
                <c:pt idx="3">
                  <c:v>0.1203369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d6d429e-a312-46bc-af47-87eee2048a8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平均点赞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图片</c:v>
                </c:pt>
                <c:pt idx="1">
                  <c:v>视频</c:v>
                </c:pt>
                <c:pt idx="2">
                  <c:v>纯文字</c:v>
                </c:pt>
                <c:pt idx="3">
                  <c:v>无媒体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51.03</c:v>
                </c:pt>
                <c:pt idx="1">
                  <c:v>48.05</c:v>
                </c:pt>
                <c:pt idx="2">
                  <c:v>7.94</c:v>
                </c:pt>
                <c:pt idx="3">
                  <c:v>3.91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ee5ec4b-e7f9-4136-b112-485d6fd774c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帖子数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1–4</c:v>
                </c:pt>
                <c:pt idx="2">
                  <c:v>5–9</c:v>
                </c:pt>
                <c:pt idx="3">
                  <c:v>10–24</c:v>
                </c:pt>
                <c:pt idx="4">
                  <c:v>25–49</c:v>
                </c:pt>
                <c:pt idx="5">
                  <c:v>50–99</c:v>
                </c:pt>
                <c:pt idx="6">
                  <c:v>100–199</c:v>
                </c:pt>
                <c:pt idx="7">
                  <c:v>200–499</c:v>
                </c:pt>
                <c:pt idx="8">
                  <c:v>500+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361</c:v>
                </c:pt>
                <c:pt idx="1">
                  <c:v>2298</c:v>
                </c:pt>
                <c:pt idx="2">
                  <c:v>977</c:v>
                </c:pt>
                <c:pt idx="3">
                  <c:v>1089</c:v>
                </c:pt>
                <c:pt idx="4">
                  <c:v>2203</c:v>
                </c:pt>
                <c:pt idx="5">
                  <c:v>2019</c:v>
                </c:pt>
                <c:pt idx="6">
                  <c:v>438</c:v>
                </c:pt>
                <c:pt idx="7">
                  <c:v>141</c:v>
                </c:pt>
                <c:pt idx="8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5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016475e-ed81-4662-adea-0020ba207a4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自律 / 目标</c:v>
                </c:pt>
                <c:pt idx="1">
                  <c:v>社交 / 互助</c:v>
                </c:pt>
                <c:pt idx="2">
                  <c:v>积极表达</c:v>
                </c:pt>
                <c:pt idx="3">
                  <c:v>问号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63.672748004561</c:v>
                </c:pt>
                <c:pt idx="1">
                  <c:v>89.9559748427673</c:v>
                </c:pt>
                <c:pt idx="2">
                  <c:v>57.2857142857143</c:v>
                </c:pt>
                <c:pt idx="3">
                  <c:v>111.152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AFBCB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自律 / 目标</c:v>
                </c:pt>
                <c:pt idx="1">
                  <c:v>社交 / 互助</c:v>
                </c:pt>
                <c:pt idx="2">
                  <c:v>积极表达</c:v>
                </c:pt>
                <c:pt idx="3">
                  <c:v>问号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34.3558636626228</c:v>
                </c:pt>
                <c:pt idx="1">
                  <c:v>36.1557665635336</c:v>
                </c:pt>
                <c:pt idx="2">
                  <c:v>35.756753739674</c:v>
                </c:pt>
                <c:pt idx="3">
                  <c:v>36.068565961518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50" b="0" i="0" u="none" strike="noStrike" kern="1200" baseline="0">
              <a:solidFill>
                <a:schemeClr val="tx1"/>
              </a:solidFill>
              <a:latin typeface="Arial Unicode MS"/>
              <a:ea typeface="+mn-ea"/>
              <a:cs typeface="Arial Unicode M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cea5e93-ba4a-4c61-8eb4-fdc1b6fa0ee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主导主题占比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运动与训练交流</c:v>
                </c:pt>
                <c:pt idx="1">
                  <c:v>生活感悟与问候</c:v>
                </c:pt>
                <c:pt idx="2">
                  <c:v>跑步与训练打卡</c:v>
                </c:pt>
                <c:pt idx="3">
                  <c:v>靠墙静蹲记录</c:v>
                </c:pt>
                <c:pt idx="4">
                  <c:v>骑行里程记录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</c:v>
                </c:pt>
                <c:pt idx="1">
                  <c:v>35.82995951417</c:v>
                </c:pt>
                <c:pt idx="2">
                  <c:v>4.5748987854251</c:v>
                </c:pt>
                <c:pt idx="3">
                  <c:v>3.4412955465587</c:v>
                </c:pt>
                <c:pt idx="4">
                  <c:v>3.4412955465587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t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005c48f-833f-4bab-9e93-1adb924d8b2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按帖子统计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运动与训练交流</c:v>
                </c:pt>
                <c:pt idx="1">
                  <c:v>生活感悟与问候</c:v>
                </c:pt>
                <c:pt idx="2">
                  <c:v>跑步与训练打卡</c:v>
                </c:pt>
                <c:pt idx="3">
                  <c:v>靠墙静蹲记录</c:v>
                </c:pt>
                <c:pt idx="4">
                  <c:v>骑行里程记录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</c:v>
                </c:pt>
                <c:pt idx="1">
                  <c:v>35.82995951417</c:v>
                </c:pt>
                <c:pt idx="2">
                  <c:v>4.5748987854251</c:v>
                </c:pt>
                <c:pt idx="3">
                  <c:v>3.4412955465587</c:v>
                </c:pt>
                <c:pt idx="4">
                  <c:v>3.4412955465587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每位作者等权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运动与训练交流</c:v>
                </c:pt>
                <c:pt idx="1">
                  <c:v>生活感悟与问候</c:v>
                </c:pt>
                <c:pt idx="2">
                  <c:v>跑步与训练打卡</c:v>
                </c:pt>
                <c:pt idx="3">
                  <c:v>靠墙静蹲记录</c:v>
                </c:pt>
                <c:pt idx="4">
                  <c:v>骑行里程记录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52.6347233388784</c:v>
                </c:pt>
                <c:pt idx="1">
                  <c:v>38.1564314832558</c:v>
                </c:pt>
                <c:pt idx="2">
                  <c:v>5.67941546968745</c:v>
                </c:pt>
                <c:pt idx="3">
                  <c:v>0.61782142214394</c:v>
                </c:pt>
                <c:pt idx="4">
                  <c:v>2.91160828603435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8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t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50" b="0" i="0" u="none" strike="noStrike" kern="1200" baseline="0">
              <a:solidFill>
                <a:schemeClr val="tx1"/>
              </a:solidFill>
              <a:latin typeface="Arial Unicode MS"/>
              <a:ea typeface="+mn-ea"/>
              <a:cs typeface="Arial Unicode M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cd45e20-f103-4c95-a1d4-1bc019f7222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自律 / 目标</c:v>
                </c:pt>
                <c:pt idx="1">
                  <c:v>社交 / 互助</c:v>
                </c:pt>
                <c:pt idx="2">
                  <c:v>积极表达</c:v>
                </c:pt>
                <c:pt idx="3">
                  <c:v>问号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63.672748004561</c:v>
                </c:pt>
                <c:pt idx="1">
                  <c:v>89.9559748427673</c:v>
                </c:pt>
                <c:pt idx="2">
                  <c:v>57.2857142857143</c:v>
                </c:pt>
                <c:pt idx="3">
                  <c:v>111.152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AFBCB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自律 / 目标</c:v>
                </c:pt>
                <c:pt idx="1">
                  <c:v>社交 / 互助</c:v>
                </c:pt>
                <c:pt idx="2">
                  <c:v>积极表达</c:v>
                </c:pt>
                <c:pt idx="3">
                  <c:v>问号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34.3558636626228</c:v>
                </c:pt>
                <c:pt idx="1">
                  <c:v>36.1557665635336</c:v>
                </c:pt>
                <c:pt idx="2">
                  <c:v>35.756753739674</c:v>
                </c:pt>
                <c:pt idx="3">
                  <c:v>36.068565961518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50" b="0" i="0" u="none" strike="noStrike" kern="1200" baseline="0">
              <a:solidFill>
                <a:schemeClr val="tx1"/>
              </a:solidFill>
              <a:latin typeface="Arial Unicode MS"/>
              <a:ea typeface="+mn-ea"/>
              <a:cs typeface="Arial Unicode M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cea5e93-ba4a-4c61-8eb4-fdc1b6fa0ee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其他用户（7,192条）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鼓励 / 赞许</c:v>
                </c:pt>
                <c:pt idx="1">
                  <c:v>感谢</c:v>
                </c:pt>
                <c:pt idx="2">
                  <c:v>问候</c:v>
                </c:pt>
                <c:pt idx="3">
                  <c:v>问号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16.8798665183537</c:v>
                </c:pt>
                <c:pt idx="1">
                  <c:v>0.583982202447164</c:v>
                </c:pt>
                <c:pt idx="2">
                  <c:v>4.36596218020022</c:v>
                </c:pt>
                <c:pt idx="3">
                  <c:v>4.14349276974416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帖主（4,403条）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鼓励 / 赞许</c:v>
                </c:pt>
                <c:pt idx="1">
                  <c:v>感谢</c:v>
                </c:pt>
                <c:pt idx="2">
                  <c:v>问候</c:v>
                </c:pt>
                <c:pt idx="3">
                  <c:v>问号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4.51964569611628</c:v>
                </c:pt>
                <c:pt idx="1">
                  <c:v>7.88099023393141</c:v>
                </c:pt>
                <c:pt idx="2">
                  <c:v>5.38269361798774</c:v>
                </c:pt>
                <c:pt idx="3">
                  <c:v>2.9298205768794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50" b="0" i="0" u="none" strike="noStrike" kern="1200" baseline="0">
              <a:solidFill>
                <a:schemeClr val="tx1"/>
              </a:solidFill>
              <a:latin typeface="Arial Unicode MS"/>
              <a:ea typeface="+mn-ea"/>
              <a:cs typeface="Arial Unicode M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9728cc7-56d2-4ade-bce1-5008f284d0a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观测回复覆盖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鼓励 / 赞许</c:v>
                </c:pt>
                <c:pt idx="1">
                  <c:v>未命中该词类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43.4745763</c:v>
                </c:pt>
                <c:pt idx="1">
                  <c:v>56.2718733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t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0d08391-4cdf-439a-b9b6-8fe54228a0f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首回含感谢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鼓励 / 赞许</c:v>
                </c:pt>
                <c:pt idx="1">
                  <c:v>未命中该词类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26.705653</c:v>
                </c:pt>
                <c:pt idx="1">
                  <c:v>6.3829787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t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11e5f76-1f11-469d-9986-88b32bc86d7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明确回复构成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20332F"/>
                    </a:solidFill>
                    <a:latin typeface="Arial Unicode M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帖主 → 其他用户</c:v>
                </c:pt>
                <c:pt idx="1">
                  <c:v>其他用户 → 帖主</c:v>
                </c:pt>
                <c:pt idx="2">
                  <c:v>其他用户 → 其他用户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88.9636882904937</c:v>
                </c:pt>
                <c:pt idx="1">
                  <c:v>9.05752753977968</c:v>
                </c:pt>
                <c:pt idx="2">
                  <c:v>1.97878416972664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20332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t"/>
        <c:majorGridlines>
          <c:spPr>
            <a:ln w="12700" cap="flat" cmpd="sng" algn="ctr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5756F"/>
                </a:solidFill>
                <a:latin typeface="Arial Unicode M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8833074-31c9-44b2-bb8d-1821ebfea01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讲述预算15秒；压缩版10秒
我们围绕三个问题汇报：帖子和点赞怎样分布，文字与主题是否对应反馈差异，以及评论由谁回应、怎样往来。按三个问题依次展开，每一部分讲完即收束回答。
讲述重点：提出研究对象与三条问题线。
来源：课程小组汇报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讲述预算35秒；压缩版30秒
总问题是，健身社区里什么内容受到关注，人们怎样交流。Keep既有训练打卡，也有生活分享，因此不能只看某个词或总评论量。我们拆为三个问题：RQ1描述样本内容和点赞分布；RQ2检验文字、主题与点赞的关联；RQ3看评论内容、回复方向和参与范围。右栏是可能的解释，后文通过数据判断是否成立；页眉会持续标出正在回答的RQ。
讲述重点：总问题→三项RQ→对应预期，不提前把预期当结论。
来源：原报告§1；同伴版研究设计页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样本有9,532帖、100位作者，评论去重后11,595条，只覆盖1,323帖。重复评论删重，正文缺失保留并标记。由于大量点赞高于记录浏览数，我们只分析累计点赞。这里最重要的判断是：没有采到正文或评论，不等于用户没有写或没有收到评论。
讲述重点：规模与三项处理，避免逐格念表。
来源：summary.json；原报告§2—3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RQ1先确认我们实际看到了哪些内容。正文覆盖不是均匀的：图片约76%、视频89%，无媒体帖几乎没有可见正文。作者正文覆盖率中位数84.3%，还有五位作者完全没有可见正文。所以后面的内容主题代表正文较完整的记录，不能当成所有帖子的内容比例。在这个范围内，先看媒体和点赞怎样分布，再看有效正文主要在写什么。
讲述重点：先定描述范围，再进入媒体与点赞分布，不展开评论或回归。
来源：extension_coverage_media.csv；extension_summary.json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图片和视频帖平均约51和48个赞，文字与无媒体约8和4个。整体分布中，大量帖子在低区间，少量高赞拖出长尾：均值37，中位数25，最高超过五千。因此描述普通帖不能只报平均数，还要同时看中位数与尾部。媒体和反馈的分布已经看到，接着进入正文内容，看这些帖子主要讨论什么。
讲述重点：只回答分布，不提前讲控制模型。
来源：media_summary.csv；descriptive_statistics.csv；既有post_features分布汇总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进入RQ2，先定义文字线索。长度取一加字数的对数，自律、社交、积极表达和问号按固定规则命中记一，维度可以重叠。结果变量采用一加点赞的对数，对应RQ1看到的长尾。我们先比较原始均值及媒体构成，再调整作者和发布情境；用词检验完成后，再加入RQ1已经识别的主题权重，检验整篇内容能否补充关联。
讲述重点：本页只建立RQ2的变量、结果和比较顺序。
来源：text_dictionary.json；analyze.py；extend_analysis.py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有效正文提取了五类主题，训练交流占52.7%，生活感悟和问候占35.8%，合计88.5%。所以这批Keep文字不只有打卡和运动成绩，也有大量日常表达。这里按每帖权重最大的主题统计篇幅，一人可以贡献很多帖。要判断某种内容是否普遍，还要看它是不是被少数高产作者放大。
讲述重点：先解释两大主题的真实内容，再引出作者等权。
来源：extension_topics.csv；extension_summary.json；topic_labels.json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讲述预算30秒；压缩版20秒
静蹲按帖子统计占3.4%，让每位作者等权后只剩0.6%。85帖里78帖来自一人，所以这里的常见更多反映一位作者的持续记录。训练和生活两大主题换权重后仍占主要份额。这一步让RQ1的内容分布更准确：既看到训练与生活并存，也分清一种主题是很多人都在写，还是少数人反复记录。
讲述重点：把作者权重作为内容分布的校准，完成RQ1的描述。
来源：supplemental_topic_author_weighting.csv；extension_topics.csv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RQ1的回答是两点。反馈上，图片和视频均值较高，整体点赞有长尾，中位数25比均值37更接近一般帖子的位置。内容上，训练和生活共同构成主要篇幅，作者等权后格局仍在；部分小主题却是少数作者持续记录放大的。分布已经说明媒体和作者值得留意。RQ2进一步问，把这些条件纳入比较后，文字和主题与点赞的关联还能保留多少。
讲述重点：在本题结束时给完整描述性回答，再转入关联问题。
来源：样本、媒体分布、主题与作者权重结果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进入RQ2，先定义文字线索。长度取一加字数的对数，自律、社交、积极表达和问号按固定规则命中记一，维度可以重叠。结果变量采用一加点赞的对数，对应RQ1看到的长尾。我们先比较原始均值及媒体构成，再调整作者和发布情境；用词检验完成后，再加入RQ1已经识别的主题权重，检验整篇内容能否补充关联。
讲述重点：本页只建立RQ2的变量、结果和比较顺序。
来源：text_dictionary.json；analyze.py；extend_analysis.py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讲述预算40秒；压缩版30秒
这页写出具体方程。M3以一加点赞数的对数为结果，X是五项文字线索，C是已记录情境，另加作者和日期固定效应。作者效应让比较更多利用同一作者不同帖子间的变化。M1到M2的拟合度由0.563升到0.685，说明作者差异有助于拟合。但积极表达在M1中就已为负，不能把原始均值与M3的差别单独归因于加入作者效应。下一页的系数、区间和显著性都对应M3。
讲述重点：读方程的组成，明确下一页是哪一个模型的推断。
来源：analyze.py formula()/models()；model_fit.csv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讲述预算45秒；压缩版35秒
这是M3的完整五项结果。积极表达系数负0.086，原始区间不跨零，p为0.016；但五项一起做BH校正后，q为0.079，未达到5%标准。这两个判断并不矛盾：前者看单项，后者考虑同时尝试多项线索。五项新增解释度仅0.065个百分点，联合p为0.130。我们能说原始用词优势没有保留，不能说积极用词导致点赞下降。接着排查这个负向方向是否由缺失、极端值或单个作者主导。
讲述重点：解释p与q的区别、整组新增解释，以及为什么继续做敏感性分析。
来源：regression_coefficients.csv M3；summary.json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可见正文、去高赞、作者等权后的积极表达系数均为负，逐作者剔除也全部为负，方向不完全依赖一种样本处理。但PPML直接拟合点赞计数，区间跨零；敏感性检验也不能替代主模型的BH判断。词典仍只抓住指定字眼。现在沿用RQ1已经识别的主题权重，直接问整篇内容是否能补充点赞关联。
讲述重点：从用词的敏感性检查转到主题关联，不返回内容分布。
来源：regression_coefficients.csv；model_fit.csv；extension_author_influence_summary.csv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讲述预算45秒；压缩版35秒
在M3原有项之外增加四项连续主题权重，以训练交流为参照。生活问候相对训练增加十个百分点，点估计对应一加点赞的条件几何均值约低1.4%；但校正后q为0.107，主题联合p为0.166。宽区间和校正结果不足以支持稳定的主题点赞排序。把它与前面的用词结果合起来，才能完成RQ2关于文字和主题关联的回答。
讲述重点：只检验主题与点赞的关联，不复述RQ1的主题份额。
来源：extension_topic_regression.csv；extend_analysis.py；extension_summary.json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RQ2从原始用词均值出发，先看到媒体和作者构成差异，再用M3调整比较。积极表达的原始高赞优势没有保留，但BH校正后也不足以确认稳定负向差异。敏感性样本方向虽一致，PPML区间仍跨零；加入主题权重后，联合检验也未给出明确的额外关联。合起来，现有证据不足以支持这些词语和主题有稳定点赞优势，不能扩大成文字普遍无效。RQ3接下来研究评论这种更具体的反馈。
讲述重点：把用词、敏感性和主题作为同一关联问题的连续证据。
来源：M3、敏感性与连续主题权重回归结果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评论中位长度只有六个字符。“加油”有612条、431人，“谢谢”359条却只有53人：前者使用面更广，后者重复使用更集中。再按角色看，读者更常赞许，帖主更常感谢。只看词频，会把参与广度和重复回话混在一起。但这些总体分布还没定位某条留言的回应，所以下一步按回复对象配对，分别看留言有没有被回，以及回复里写了什么。
讲述重点：解释人数怎样改变对高频词的理解，再引出具体配对。
来源：comment_text_features.csv；comment_text_terms.csv；comment_text_summary.json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讲述预算35秒；压缩版30秒
先看左图，鼓励组观察到七天内直接回复的比例是43.5%，低于未命中组56.3%，相差12.8个百分点。右图只看已经有回复的记录，鼓励组的首回含感谢为26.7%，高于6.4%，相差20.3个百分点。因此感谢更常见，不能当成更容易被回复的证据。这是描述性对照，作者、情境和记录覆盖仍可能不同。下面把回复放回账号关系，看看是否形成了参与者之间的广泛交谈。
讲述重点：明确两个问题、两种分母和两项差值，再给结论。
来源：supplemental_direct_reply_language.csv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网络把根评论连到帖主，把明确回复连到被回复账号，同向多次互动累加次数。排除自我互动后，11,511次事件形成4,069条边、2,932个账号。共同面向帖主留言，就能把许多账号间接连起：忽略方向后94.4%处于最大连通部分。但密度只有0.0473%，直接往来仍局限于少量账号配对。这说明账号怎样连在一起，谁在回复谁则要把明确回复单独取出比较。
讲述重点：说足网络的结构结论，再限定它尚未回答的回复方向。
来源：summary.json network；figures/06_comment_network.png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明确回复中，帖主回复其他用户占89%，其他用户彼此回复只有2%。这让前页网络有了具体解释：常见活动是读者向帖主留言，再由帖主回应，横向接话较少。这里89%是回复事件的构成，不是所有留言的被回率。接着我们再问，围绕一个账号出现很多发言，是否就意味着参与面很广。
讲述重点：用回复方向解释上一页网络，再引出次数与人数。
来源：extension_comment_roles.csv；summary.json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U1528收到1,378次，只有53位发送者；U0948收到1,275次，却来自1,091人。前者的高量更多包含已有发送者反复出现，后者收到更广泛的参与。U0112的180次只来自4人，也说明总次数不能替代人数。这些次数没有区分留言发生的早晚，接着看它们集中在发帖后哪个时段，以及首回速度遗漏了哪些记录。
讲述重点：从接收总量转入留言发生与回应的时间。
来源：network_nodes.csv；summary.json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64.5%的评论在发帖后24小时内，82.2%在七天内，互动集中于发布早期。已观察到帖主参与的线程里，根评论到首回的中位间隔是2.05小时。但它排除了未观察到帖主参与的线程，不能代表全部留言的等待。评价回应是否及时，应该先分清有没有回、再看回得多快；只看首回速度，会漏掉没有观察到回应的那部分留言。
讲述重点：把时序解释落到速度统计遗漏了谁。
来源：extension_summary.json comments；extension_comment_timing.csv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RQ3把语言、逐条回应和账号关系接在一起。读者更常鼓励，帖主更常感谢，但配对后可见，回复更常感谢不代表鼓励更容易被回。网络中的回话主要由帖主承担；同样多的发言又可以来自完全不同的人数，次数和参与范围要分开。最后，评论大多发生在发布早期，回应速度却只统计已接话线程。这样才能同时理解谁在说、谁在回、多少人参与，以及哪些留言没有进入速度统计。
讲述重点：只收束RQ3的回应过程，不再回头重复RQ1与RQ2。
来源：评论语言、直接配对、账号网络、参与人数与时序结果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最后明确这批记录回答不到哪里。样本只有100位作者且抽样机制不明，不能外推全平台；正文和评论覆盖不全，各分析代表的范围不同。缺少真实曝光和统一采集时点，也意味着回归仍然是关联。词典和主题还只抓住部分内容。后续应先统一发帖后七天的观察窗口，补齐内容、独立参与者与回复记录；如果要判断具体表达或回复做法的效果，需要另外设计验证。
讲述重点：说明限制怎样影响判断，再给出与限制对应的改进。
来源：原报告§9.3—9.4；数据与模型口径核查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讲述预算10秒；压缩版10秒
本次分工：陈霖负责问题提出、数据清洗和RQ1的回答；董依心负责RQ2与RQ3的回答。
讲述重点：按实际分工署名，不增加未经确认的贡献。
来源：用户确认的实际分工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1" Type="http://schemas.openxmlformats.org/officeDocument/2006/relationships/chart" Target="../charts/char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2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BDD3C8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03960" y="1572768"/>
            <a:ext cx="978408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</a:t>
            </a: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社区</a:t>
            </a:r>
            <a:endParaRPr lang="zh-CN" altLang="en-US" sz="4000" b="1" dirty="0">
              <a:solidFill>
                <a:srgbClr val="FFFFF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 algn="ctr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内容表达与互动反馈分析</a:t>
            </a:r>
            <a:endParaRPr lang="zh-CN" sz="4000" dirty="0"/>
          </a:p>
        </p:txBody>
      </p:sp>
      <p:sp>
        <p:nvSpPr>
          <p:cNvPr id="6" name="Text 4"/>
          <p:cNvSpPr/>
          <p:nvPr/>
        </p:nvSpPr>
        <p:spPr>
          <a:xfrm>
            <a:off x="746760" y="376732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2400" dirty="0">
                <a:solidFill>
                  <a:srgbClr val="DCEA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哪些内容获得更多点赞反馈，评论又如何</a:t>
            </a:r>
            <a:r>
              <a:rPr lang="zh-CN" altLang="en-US" sz="2400" dirty="0">
                <a:solidFill>
                  <a:srgbClr val="DCEA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互动？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1965960" y="5449824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2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  ·  董依心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研究背景、意义与研究问题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研究背景、问题与预期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预期是待检验的可能解释，后文按相同RQ编号逐项回答。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336167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健身社区里，什么内容受到关注，人们又怎样交流？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58495" y="1854200"/>
            <a:ext cx="10789920" cy="998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健身社区既是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用户记录运动的空间，也是分享感受、交流经验和获得同伴反馈的场所。</a:t>
            </a:r>
            <a:endParaRPr lang="zh-CN" altLang="en-US" sz="175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点赞是平台内最容易观察的反馈信号，评论则记录了⽤户之间如何交谈、谁在回应谁。对创作者来说，了解什么样的分享更容易获得反馈，有助于判断内容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投入的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方向；对平台来说，了解互动如何分配，有助于发现容易被忽视的⽤户，并评估是否需要设计新的互动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支持。</a:t>
            </a:r>
            <a:endParaRPr lang="zh-CN" altLang="en-US" sz="175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5528" y="3395345"/>
            <a:ext cx="5120640" cy="301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三个具体问题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3395345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对应预期：可能出现的结果</a:t>
            </a:r>
            <a:endParaRPr lang="zh-CN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78250"/>
            <a:ext cx="10927080" cy="704215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933825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样本主要呈现什么内容，点赞怎样分布？</a:t>
            </a:r>
            <a:endParaRPr lang="zh-CN" sz="1750" dirty="0"/>
          </a:p>
        </p:txBody>
      </p:sp>
      <p:sp>
        <p:nvSpPr>
          <p:cNvPr id="13" name="Text 11"/>
          <p:cNvSpPr/>
          <p:nvPr/>
        </p:nvSpPr>
        <p:spPr>
          <a:xfrm>
            <a:off x="6373368" y="3888105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不同媒体的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点赞反馈可能不同，高赞帖可能拉高均值；</a:t>
            </a:r>
            <a:endParaRPr lang="zh-CN" sz="1650" dirty="0"/>
          </a:p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正文内容可能包含运动、生活分享等等各种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内容。</a:t>
            </a:r>
            <a:endParaRPr lang="zh-CN" sz="1650" dirty="0"/>
          </a:p>
        </p:txBody>
      </p:sp>
      <p:sp>
        <p:nvSpPr>
          <p:cNvPr id="14" name="Shape 12"/>
          <p:cNvSpPr/>
          <p:nvPr/>
        </p:nvSpPr>
        <p:spPr>
          <a:xfrm>
            <a:off x="640080" y="4702175"/>
            <a:ext cx="10927080" cy="699135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5528" y="4857623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文本</a:t>
            </a: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表达与主题是否与点赞有关？</a:t>
            </a:r>
            <a:endParaRPr lang="zh-CN" sz="1750" dirty="0"/>
          </a:p>
        </p:txBody>
      </p:sp>
      <p:sp>
        <p:nvSpPr>
          <p:cNvPr id="16" name="Text 14"/>
          <p:cNvSpPr/>
          <p:nvPr/>
        </p:nvSpPr>
        <p:spPr>
          <a:xfrm>
            <a:off x="6419088" y="4811903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自律、积极表达或提问可能对应较高点赞；</a:t>
            </a:r>
            <a:endParaRPr lang="zh-CN" sz="1650" dirty="0"/>
          </a:p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调整作者与情境后，这些差异可能发生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变化。</a:t>
            </a:r>
            <a:endParaRPr lang="zh-CN" sz="1650" dirty="0"/>
          </a:p>
        </p:txBody>
      </p:sp>
      <p:sp>
        <p:nvSpPr>
          <p:cNvPr id="17" name="Shape 15"/>
          <p:cNvSpPr/>
          <p:nvPr/>
        </p:nvSpPr>
        <p:spPr>
          <a:xfrm>
            <a:off x="640080" y="5589270"/>
            <a:ext cx="10927080" cy="701040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744591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评论的内容是什么，互动形成了什么样的</a:t>
            </a: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网络？</a:t>
            </a:r>
            <a:endParaRPr lang="zh-CN" sz="1750" dirty="0"/>
          </a:p>
        </p:txBody>
      </p:sp>
      <p:sp>
        <p:nvSpPr>
          <p:cNvPr id="19" name="Text 17"/>
          <p:cNvSpPr/>
          <p:nvPr/>
        </p:nvSpPr>
        <p:spPr>
          <a:xfrm>
            <a:off x="6419088" y="5698871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读者和帖主之间、读者之间可能出现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互动；</a:t>
            </a:r>
            <a:endParaRPr lang="zh-CN" sz="1650" dirty="0"/>
          </a:p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评论量可能来自大范围互动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或少数人的反复往来。</a:t>
            </a:r>
            <a:endParaRPr lang="zh-CN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数据来源、清洗与分析方法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数据来源与清洗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课程100位作者样本；帖子发表于2020年11—12月（UTC），评论最晚至2021年8月。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9,532</a:t>
            </a:r>
            <a:endParaRPr lang="zh-CN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9572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 · 100位作者</a:t>
            </a:r>
            <a:endParaRPr lang="zh-CN" sz="1550" dirty="0"/>
          </a:p>
        </p:txBody>
      </p:sp>
      <p:sp>
        <p:nvSpPr>
          <p:cNvPr id="9" name="Text 7"/>
          <p:cNvSpPr/>
          <p:nvPr/>
        </p:nvSpPr>
        <p:spPr>
          <a:xfrm>
            <a:off x="4370832" y="167335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</a:t>
            </a:r>
            <a:endParaRPr lang="zh-CN" sz="3400" dirty="0"/>
          </a:p>
        </p:txBody>
      </p:sp>
      <p:sp>
        <p:nvSpPr>
          <p:cNvPr id="10" name="Text 8"/>
          <p:cNvSpPr/>
          <p:nvPr/>
        </p:nvSpPr>
        <p:spPr>
          <a:xfrm>
            <a:off x="4370832" y="239572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去重后评论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8092440" y="167335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1,323</a:t>
            </a:r>
            <a:endParaRPr lang="zh-CN" sz="3400" dirty="0"/>
          </a:p>
        </p:txBody>
      </p:sp>
      <p:sp>
        <p:nvSpPr>
          <p:cNvPr id="12" name="Text 10"/>
          <p:cNvSpPr/>
          <p:nvPr/>
        </p:nvSpPr>
        <p:spPr>
          <a:xfrm>
            <a:off x="8092440" y="239572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采集到评论的帖子</a:t>
            </a:r>
            <a:endParaRPr lang="zh-CN" sz="15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21792" y="2922905"/>
          <a:ext cx="10972800" cy="3401695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核查发现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处理方式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分析含义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1,916行重复评论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按评论ID去重，无字段冲突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避免同一发言被重复计入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3,984帖缺可用正文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保留；文字计数设0并另作标记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不能把缺失当作真实无文字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8,286帖点赞高于记录浏览数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使用累计点赞，不计算点赞率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不解释为曝光转化效率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仅1,323 帖有已采集评论</a:t>
                      </a:r>
                      <a:endParaRPr lang="zh-CN" alt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其余</a:t>
                      </a: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帖子的评论覆盖记为未知</a:t>
                      </a:r>
                      <a:endParaRPr lang="zh-CN" alt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  <a:sym typeface="+mn-ea"/>
                        </a:rPr>
                        <a:t>不做评论数的全样本回归</a:t>
                      </a:r>
                      <a:endParaRPr lang="en-US" alt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66928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原时间字段按</a:t>
                      </a:r>
                      <a:r>
                        <a:rPr lang="en-US" altLang="zh-CN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UTC</a:t>
                      </a: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解析</a:t>
                      </a:r>
                      <a:endParaRPr lang="zh-CN" alt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发帖日期与时段</a:t>
                      </a: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统一转换为北京时间</a:t>
                      </a:r>
                      <a:endParaRPr lang="zh-CN" alt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转为国内用户统一</a:t>
                      </a:r>
                      <a:r>
                        <a:rPr lang="zh-CN" altLang="en-US" sz="1550" dirty="0">
                          <a:latin typeface="Arial Unicode MS" pitchFamily="34" charset="0"/>
                          <a:ea typeface="Arial Unicode MS" pitchFamily="34" charset="0"/>
                          <a:cs typeface="Arial Unicode MS" pitchFamily="34" charset="0"/>
                        </a:rPr>
                        <a:t>日期</a:t>
                      </a:r>
                      <a:endParaRPr lang="zh-CN" alt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不同帖子</a:t>
            </a:r>
            <a:r>
              <a:rPr lang="en-US" altLang="zh-CN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作者发布文字内容的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比例</a:t>
            </a:r>
            <a:endParaRPr lang="zh-CN" altLang="en-US" sz="2800" b="1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594360" y="1828800"/>
          <a:ext cx="6629400" cy="3648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99248" y="1810512"/>
            <a:ext cx="381304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文本分析覆盖的记录</a:t>
            </a: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数量</a:t>
            </a:r>
            <a:endParaRPr lang="zh-CN" altLang="en-US" sz="2000" b="1" dirty="0">
              <a:solidFill>
                <a:srgbClr val="245C4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99248" y="2340864"/>
            <a:ext cx="3813048" cy="102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5,414帖有非空</a:t>
            </a: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699248" y="3675888"/>
            <a:ext cx="381304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不同作者的</a:t>
            </a: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正文覆盖不均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7699248" y="4206240"/>
            <a:ext cx="3813048" cy="102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作者正文覆盖率中位数84.3%，5位作者完全没有可见正文；</a:t>
            </a:r>
            <a:endParaRPr lang="zh-CN" altLang="en-US" sz="180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主题结果主要代表正文记录较完整的作者。</a:t>
            </a:r>
            <a:endParaRPr lang="zh-C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图片和视频帖点赞更高，点赞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量整体分布存在长尾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46520" y="167386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不同媒体的平均点赞</a:t>
            </a: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</a:t>
            </a:r>
            <a:endParaRPr lang="zh-CN" altLang="en-US" sz="1800" b="1" dirty="0">
              <a:solidFill>
                <a:srgbClr val="245C4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7344" y="167386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各点赞区间中的帖子数</a:t>
            </a:r>
            <a:endParaRPr lang="zh-CN" sz="1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364224" y="2140204"/>
          <a:ext cx="5276088" cy="2523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746760" y="2140204"/>
          <a:ext cx="5340096" cy="2523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94944" y="489204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均值37.05  ·  中位数25  ·  95%分位109.45  ·  最高5,126</a:t>
            </a:r>
            <a:endParaRPr lang="zh-CN" sz="1800" dirty="0"/>
          </a:p>
        </p:txBody>
      </p:sp>
      <p:sp>
        <p:nvSpPr>
          <p:cNvPr id="12" name="Text 8"/>
          <p:cNvSpPr/>
          <p:nvPr/>
        </p:nvSpPr>
        <p:spPr>
          <a:xfrm>
            <a:off x="694944" y="5504688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少量高赞帖拉高均值，在回归分析中需对点赞数取对数</a:t>
            </a: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处理；</a:t>
            </a: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不同媒体均值也相差约一个数量级。</a:t>
            </a:r>
            <a:endParaRPr lang="zh-CN" sz="1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-739775" y="4043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</a:t>
            </a:r>
            <a:r>
              <a:rPr lang="en-US" altLang="zh-CN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</a:t>
            </a: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不同的文字表达内容对应的点赞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情况</a:t>
            </a:r>
            <a:endParaRPr lang="zh-CN" altLang="en-US" sz="2800" b="1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文字词表只识别字面线索，不是情绪量表；特征可重叠。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21665" y="1774190"/>
          <a:ext cx="5625465" cy="2697480"/>
        </p:xfrm>
        <a:graphic>
          <a:graphicData uri="http://schemas.openxmlformats.org/drawingml/2006/table">
            <a:tbl>
              <a:tblPr/>
              <a:tblGrid>
                <a:gridCol w="1704975"/>
                <a:gridCol w="3920490"/>
              </a:tblGrid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文字变量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定义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 D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坚持、自律、目标、第N天等词表或模式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 S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大家、小伙伴、谢谢、一起等词表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 P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开心、快乐、喜欢、哈哈等词表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 Q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全角或半角问号，出现记1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0"/>
          <p:cNvGraphicFramePr/>
          <p:nvPr/>
        </p:nvGraphicFramePr>
        <p:xfrm>
          <a:off x="6403975" y="1503045"/>
          <a:ext cx="54432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Text 6"/>
          <p:cNvSpPr/>
          <p:nvPr/>
        </p:nvSpPr>
        <p:spPr>
          <a:xfrm>
            <a:off x="621665" y="4828540"/>
            <a:ext cx="9097645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命中自律、社交、积极表达、问号四类表达内容的文本内容获赞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更多。</a:t>
            </a:r>
            <a:endParaRPr lang="zh-CN" altLang="en-US" sz="175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帖子正文主题主要包括运动和生活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TF-IDF + NMF，主题数预先固定为5；名称依据词项与正文确定，不参考点赞。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585216" y="1828800"/>
          <a:ext cx="65379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71105" y="1572260"/>
            <a:ext cx="4299585" cy="612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采用非负矩阵分解（</a:t>
            </a:r>
            <a:r>
              <a:rPr lang="en-US" altLang="zh-CN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NMF</a:t>
            </a: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）划分主题</a:t>
            </a:r>
            <a:endParaRPr lang="zh-CN" altLang="en-US" sz="2000" b="1" dirty="0">
              <a:solidFill>
                <a:srgbClr val="245C4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endParaRPr lang="zh-CN" altLang="en-US" sz="2000" b="1" dirty="0">
              <a:solidFill>
                <a:srgbClr val="245C4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获取可分类的2,470帖，</a:t>
            </a: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来自86位作者</a:t>
            </a:r>
            <a:endParaRPr lang="zh-CN" altLang="en-US" sz="2000" b="1" dirty="0">
              <a:solidFill>
                <a:srgbClr val="245C4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71232" y="2807716"/>
            <a:ext cx="4014216" cy="932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训练交流：运动、减脂、训练、拉伸</a:t>
            </a:r>
            <a:endParaRPr lang="zh-CN" sz="1750" dirty="0"/>
          </a:p>
          <a:p>
            <a:pPr marL="0" indent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生活问候：人生、生活、早安、美好</a:t>
            </a:r>
            <a:endParaRPr lang="zh-CN" sz="1750" dirty="0"/>
          </a:p>
        </p:txBody>
      </p:sp>
      <p:sp>
        <p:nvSpPr>
          <p:cNvPr id="10" name="Text 7"/>
          <p:cNvSpPr/>
          <p:nvPr/>
        </p:nvSpPr>
        <p:spPr>
          <a:xfrm>
            <a:off x="7571232" y="3749040"/>
            <a:ext cx="4014216" cy="1444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前两类合计88.5%。有效正文不仅讨论如何训练，也经常写感受、生活和问候，不能把健身社区里的文字都当成运动成绩记录。</a:t>
            </a:r>
            <a:endParaRPr lang="zh-C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常见主题</a:t>
            </a:r>
            <a:r>
              <a:rPr lang="en-US" altLang="zh-CN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vs.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少数人的高频记录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两组沿用同一主题分类；作者等权先计算每人的主题比例，再对86位作者平均。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 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585216" y="1810512"/>
          <a:ext cx="65836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89520" y="1673860"/>
            <a:ext cx="3977640" cy="6851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进行作者等权分析</a:t>
            </a:r>
            <a:endParaRPr lang="zh-CN" altLang="en-US" sz="2400" b="1" dirty="0">
              <a:solidFill>
                <a:srgbClr val="B97339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</a:t>
            </a:r>
            <a:r>
              <a:rPr lang="zh-CN" altLang="en-US" sz="24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</a:t>
            </a:r>
            <a:r>
              <a:rPr lang="en-US" altLang="zh-CN" sz="24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”</a:t>
            </a:r>
            <a:r>
              <a:rPr lang="zh-CN" altLang="en-US" sz="24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来自少数作者</a:t>
            </a:r>
            <a:r>
              <a:rPr lang="zh-CN" altLang="en-US" sz="24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高频记录</a:t>
            </a:r>
            <a:endParaRPr lang="zh-CN" altLang="en-US" sz="2400" b="1" dirty="0">
              <a:solidFill>
                <a:srgbClr val="B97339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3977640" cy="1453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静蹲主题的85条主导文档中，78条来自同一作者；作者等权方法可以</a:t>
            </a: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排除高产作者的重复贡献。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89520" y="4645152"/>
            <a:ext cx="3977640" cy="11612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运动与训练交流、生活感悟与问候两大类仍是内容的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主线，部分小主题的份额则会被少数作者的持续记录放大。</a:t>
            </a:r>
            <a:endParaRPr lang="zh-CN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RQ1的回答：样本主要呈现什么内容，点赞怎样分布？</a:t>
            </a:r>
            <a:endParaRPr lang="zh-CN" altLang="en-US" sz="2800" b="1" dirty="0">
              <a:solidFill>
                <a:srgbClr val="FFFFF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范围：9,532帖；主题比例仅代表2,470条有效正文、86位作者。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</a:t>
            </a: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BDD3C8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1069848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点赞数分布存在</a:t>
            </a: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长尾；图片和视频贴收到的点赞多于纯文字</a:t>
            </a: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52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图片和视频帖平均51赞、48赞，纯文字与无媒体平均8</a:t>
            </a: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赞、4赞；命中自律、社交、积极表达、问号四类表达内容的文本内容获赞更多；整体点赞均值37.05高于中位数25，少量高赞把分布拉出长尾；需要对点赞数取对数后再做</a:t>
            </a: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回归分析。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正文内容主要包含运动交流和生活分享；部分主题来自个别作者的高频</a:t>
            </a: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贡献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306824"/>
            <a:ext cx="10652760" cy="932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运动交流52.7%、生活问候35.8%在作者等权处理后仍是占比最高的主题。静蹲主题占比由3.4%降至0.6%，其中85帖有78帖来自一人，覆盖面窄、个别作者贡献</a:t>
            </a: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多。</a:t>
            </a:r>
            <a:endParaRPr lang="zh-CN" sz="1900" dirty="0"/>
          </a:p>
        </p:txBody>
      </p:sp>
      <p:sp>
        <p:nvSpPr>
          <p:cNvPr id="11" name="Shape 9"/>
          <p:cNvSpPr/>
          <p:nvPr/>
        </p:nvSpPr>
        <p:spPr>
          <a:xfrm>
            <a:off x="676656" y="5596128"/>
            <a:ext cx="10936224" cy="58521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42432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RQ2：把媒体形式、作者与日期等其他因素一起纳入比较后，文字</a:t>
            </a: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表达或主题与点赞还有多大关联？</a:t>
            </a:r>
            <a:endParaRPr lang="zh-CN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文字表达与点赞情况间的联系受媒体形态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等其他因素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影响</a:t>
            </a:r>
            <a:endParaRPr lang="zh-CN" altLang="en-US" sz="2800" b="1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文字词表只识别字面线索，不是情绪量表；特征可重叠。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571232" y="174650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积极表达组的进一步比较</a:t>
            </a:r>
            <a:endParaRPr lang="zh-CN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543800" y="2359152"/>
          <a:ext cx="4050792" cy="1563624"/>
        </p:xfrm>
        <a:graphic>
          <a:graphicData uri="http://schemas.openxmlformats.org/drawingml/2006/table">
            <a:tbl>
              <a:tblPr/>
              <a:tblGrid>
                <a:gridCol w="1307592"/>
                <a:gridCol w="1234440"/>
                <a:gridCol w="1508760"/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组别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帖数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图片/视频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574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94.9%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未命中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8,958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69.1%</a:t>
                      </a:r>
                      <a:endParaRPr lang="en-US" sz="14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9" name="Text 6"/>
          <p:cNvSpPr/>
          <p:nvPr/>
        </p:nvSpPr>
        <p:spPr>
          <a:xfrm>
            <a:off x="7589520" y="4288790"/>
            <a:ext cx="396875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命中</a:t>
            </a:r>
            <a:r>
              <a:rPr lang="en-US" altLang="zh-CN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不命中组的媒体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分布构成差异</a:t>
            </a:r>
            <a:endParaRPr lang="zh-CN" sz="17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76072" y="1828800"/>
          <a:ext cx="6583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用作者与日期固定效应，进一步改善比较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" y="1700784"/>
            <a:ext cx="10972800" cy="8595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938528"/>
            <a:ext cx="10588752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主模型</a:t>
            </a:r>
            <a:r>
              <a:rPr lang="en-US" altLang="zh-CN" sz="2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</a:t>
            </a:r>
            <a:r>
              <a:rPr lang="zh-CN" altLang="en-US" sz="2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M3：ln(1 + 点赞数) = β′X + γ′C + α作者 + δ日期 + ε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10835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X：文本长度（</a:t>
            </a: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对数）、自律、社交、积极、问号。C：正文可用、话题、表情数、课程分享，以及媒体、业务类型、时段。</a:t>
            </a:r>
            <a:endParaRPr lang="zh-CN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21792" y="3547872"/>
          <a:ext cx="10972800" cy="1865376"/>
        </p:xfrm>
        <a:graphic>
          <a:graphicData uri="http://schemas.openxmlformats.org/drawingml/2006/table">
            <a:tbl>
              <a:tblPr/>
              <a:tblGrid>
                <a:gridCol w="1298448"/>
                <a:gridCol w="4645152"/>
                <a:gridCol w="1097280"/>
                <a:gridCol w="3931920"/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调整范围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R²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积极表达系数 / 原始p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M1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已记录作者属性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0.563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−0.050 / 0.285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M2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作者固定效应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0.685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−0.087 / 0.016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 主模型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作者、日期固定效应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0.688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 / 0.016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5687568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加入作者固定效应后拟合度提高，提示作者差异值得考虑；积极表达在M1中就已为负。</a:t>
            </a:r>
            <a:endParaRPr lang="zh-CN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M3没有保留特定文本表达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的优势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03504" y="1810512"/>
          <a:ext cx="7589520" cy="2852928"/>
        </p:xfrm>
        <a:graphic>
          <a:graphicData uri="http://schemas.openxmlformats.org/drawingml/2006/table">
            <a:tbl>
              <a:tblPr/>
              <a:tblGrid>
                <a:gridCol w="1993392"/>
                <a:gridCol w="941832"/>
                <a:gridCol w="2596896"/>
                <a:gridCol w="969264"/>
                <a:gridCol w="1088136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文字特征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系数β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长度 ln(1+字数)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0.028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[−0.008, 0.064]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0.130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−0.119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[−0.293, 0.054]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0.176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−0.004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[−0.131, 0.122]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0.079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[−0.100, 0.316]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0.307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0.383</a:t>
                      </a:r>
                      <a:endParaRPr lang="en-US" sz="146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430895" y="1847215"/>
            <a:ext cx="3728720" cy="704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1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以积极表达</a:t>
            </a:r>
            <a:r>
              <a:rPr lang="zh-CN" altLang="en-US" sz="21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为例：β = −0.086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8430768" y="2880360"/>
            <a:ext cx="31272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原始p = 0.016</a:t>
            </a:r>
            <a:endParaRPr lang="zh-CN" sz="2100" dirty="0"/>
          </a:p>
          <a:p>
            <a:pPr marL="0" indent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BH q = 0.079</a:t>
            </a:r>
            <a:endParaRPr lang="zh-CN" sz="2100" dirty="0"/>
          </a:p>
        </p:txBody>
      </p:sp>
      <p:sp>
        <p:nvSpPr>
          <p:cNvPr id="10" name="Text 7"/>
          <p:cNvSpPr/>
          <p:nvPr/>
        </p:nvSpPr>
        <p:spPr>
          <a:xfrm>
            <a:off x="603250" y="4940935"/>
            <a:ext cx="1095248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多重检验校正后，所有文字特征证据均未达到5%标准，</a:t>
            </a:r>
            <a:r>
              <a:rPr lang="zh-CN" altLang="en-US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不足以推出“特定用词</a:t>
            </a:r>
            <a:r>
              <a:rPr lang="zh-CN" altLang="en-US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能提升、减少点赞”的</a:t>
            </a:r>
            <a:r>
              <a:rPr lang="zh-CN" altLang="en-US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结论</a:t>
            </a:r>
            <a:endParaRPr lang="zh-CN" altLang="en-US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敏感性分析</a:t>
            </a:r>
            <a:endParaRPr lang="zh-CN" altLang="en-US" sz="2800" b="1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10" y="1289050"/>
            <a:ext cx="10410825" cy="32385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76910" y="4880610"/>
            <a:ext cx="10286365" cy="1024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敏感性分析可见结果与主模型相近。以积极表达为例，筛选可见正文、去高赞、作者等权后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系数均为负；100次逐作者剔除也全部为负；</a:t>
            </a:r>
            <a:r>
              <a:rPr lang="en-US" altLang="zh-CN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PPML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仍</a:t>
            </a: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不显著。</a:t>
            </a:r>
            <a:endParaRPr lang="zh-CN" altLang="en-US" sz="165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主题权重能否补充文本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表达以外的点赞关联？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0972800" cy="6309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56232"/>
            <a:ext cx="1063447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主题模型：M3原有线性项 + Σ θₖwₖ（省去“运动与训练交流”权重作为参照）</a:t>
            </a:r>
            <a:endParaRPr lang="zh-CN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21792" y="2670048"/>
          <a:ext cx="10972800" cy="233172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3474720"/>
                <a:gridCol w="1463040"/>
                <a:gridCol w="1554480"/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相对训练交流的主题权重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系数θ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靠墙静蹲记录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−0.315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[−0.636, 0.005]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0.054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骑行里程记录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0.018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[−0.523, 0.558]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跑步与训练打卡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−0.471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[−1.048, 0.105]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0.144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生活感悟与问候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−0.144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[−0.278, −0.010]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0.035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4944" y="5175504"/>
            <a:ext cx="10817352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生活问候权重相对训练交流获得的点赞数更少，但其原始</a:t>
            </a:r>
            <a:r>
              <a:rPr lang="en-US" altLang="zh-CN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 = 0.035、BH q = 0.107，</a:t>
            </a: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尚无足够明确的</a:t>
            </a: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证据。</a:t>
            </a:r>
            <a:endParaRPr lang="zh-CN" altLang="en-US" sz="170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endParaRPr lang="zh-CN" altLang="en-US" sz="170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RQ2的回答：文本表达与主题是否与点赞有关？</a:t>
            </a:r>
            <a:endParaRPr lang="zh-CN" altLang="en-US" sz="2800" b="1" dirty="0">
              <a:solidFill>
                <a:srgbClr val="FFFFF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endParaRPr lang="zh-CN" altLang="en-US" sz="2800" b="1" dirty="0">
              <a:solidFill>
                <a:srgbClr val="FFFFF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结果为观察性关联；词典与主题只覆盖部分文字信息，缺少真实曝光等条件。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15 / 2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BDD3C8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746504"/>
            <a:ext cx="1069848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文本表达与点赞量间的相关性受媒体与作者差异的</a:t>
            </a: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影响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0652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以积极表达为例，命中组的图片/视频占比94.9%，未命中组69.1%，媒体形态分布存在差异。回归主模型M3调整后积极表达项的系数为−0.086、BH q=0.079，其他各主要变量结果均</a:t>
            </a: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不显著。敏感性分析结果与主模型一致。</a:t>
            </a:r>
            <a:endParaRPr lang="zh-CN" altLang="en-US" sz="1850" dirty="0">
              <a:solidFill>
                <a:srgbClr val="DFEAE3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648456"/>
            <a:ext cx="1069848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主题分析显示，文本主题对点赞量不贡献显著</a:t>
            </a: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影响。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10652760" cy="950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主题权重联合p=0.166，现有记录中主题与点赞的关联性仍缺少足够稳定的证据。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577840"/>
            <a:ext cx="10936224" cy="612648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33288"/>
            <a:ext cx="10561320" cy="338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RQ3：评论的内容是什么，互动形成了什么样的网络？</a:t>
            </a:r>
            <a:endParaRPr lang="zh-CN" altLang="en-US" sz="1700" dirty="0">
              <a:solidFill>
                <a:srgbClr val="E3ECE6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评论长度、词频与发言者角色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16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585216" y="1865376"/>
          <a:ext cx="6492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1819656"/>
            <a:ext cx="4069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</a:t>
            </a:r>
            <a:r>
              <a:rPr lang="zh-CN" altLang="en-US" sz="2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较短</a:t>
            </a:r>
            <a:endParaRPr lang="zh-CN" altLang="en-US" sz="2400" b="1" dirty="0">
              <a:solidFill>
                <a:srgbClr val="245C4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长度中位数：6字符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7498080" y="2807208"/>
            <a:ext cx="4069080" cy="832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“加油”612条 / 431人</a:t>
            </a:r>
            <a:endParaRPr lang="zh-CN" sz="1800" dirty="0"/>
          </a:p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“谢谢”359条 / 53人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498080" y="4041775"/>
            <a:ext cx="4444365" cy="1627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“加油”的使用面更广，“谢谢”的重复使用更集中。</a:t>
            </a:r>
            <a:endParaRPr lang="zh-CN" altLang="en-US" sz="175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按角色看，读者更常赞许，帖主更常感谢。</a:t>
            </a:r>
            <a:endParaRPr lang="zh-CN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性留言是否更容易得到回应？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6656" y="1728216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7天内直接回复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6400800" y="172821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最早回复包含感谢的</a:t>
            </a:r>
            <a:r>
              <a:rPr lang="zh-CN" altLang="en-US" sz="18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比例</a:t>
            </a:r>
            <a:endParaRPr lang="zh-CN" altLang="en-US" sz="1850" b="1" dirty="0">
              <a:solidFill>
                <a:srgbClr val="B97339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594360" y="2267712"/>
          <a:ext cx="5303520" cy="2295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6327648" y="2267712"/>
          <a:ext cx="5303520" cy="2295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749808" y="4690872"/>
            <a:ext cx="50292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分母：全部根评论</a:t>
            </a:r>
            <a:endParaRPr lang="zh-CN" sz="1370" dirty="0"/>
          </a:p>
          <a:p>
            <a:pPr marL="0" indent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513 / 1,180；3,055 / 5,429</a:t>
            </a:r>
            <a:endParaRPr lang="zh-CN" sz="1370" dirty="0"/>
          </a:p>
        </p:txBody>
      </p:sp>
      <p:sp>
        <p:nvSpPr>
          <p:cNvPr id="12" name="Text 8"/>
          <p:cNvSpPr/>
          <p:nvPr/>
        </p:nvSpPr>
        <p:spPr>
          <a:xfrm>
            <a:off x="6483096" y="4690872"/>
            <a:ext cx="50292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分母：已观察到直接回复的记录</a:t>
            </a:r>
            <a:endParaRPr lang="zh-CN" sz="1370" dirty="0"/>
          </a:p>
          <a:p>
            <a:pPr marL="0" indent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137 / 513；195 / 3,055</a:t>
            </a:r>
            <a:endParaRPr lang="zh-CN" sz="1370" dirty="0"/>
          </a:p>
        </p:txBody>
      </p:sp>
      <p:sp>
        <p:nvSpPr>
          <p:cNvPr id="13" name="Text 9"/>
          <p:cNvSpPr/>
          <p:nvPr/>
        </p:nvSpPr>
        <p:spPr>
          <a:xfrm>
            <a:off x="694690" y="5477510"/>
            <a:ext cx="10835640" cy="789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鼓励组的观测回复覆盖低12.8个百分点；但在已回复记录中，感谢词占比高20.3个百分点。</a:t>
            </a:r>
            <a:endParaRPr lang="zh-CN" altLang="en-US" sz="1750" b="1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总体而言，</a:t>
            </a: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鼓励组根评论收到了更多感谢类评论，呈现出鼓励</a:t>
            </a:r>
            <a:r>
              <a:rPr lang="en-US" altLang="zh-CN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-</a:t>
            </a: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感谢的互动</a:t>
            </a: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模式</a:t>
            </a:r>
            <a:endParaRPr lang="zh-CN" altLang="en-US" sz="1750" b="1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评论关系网络：间接相连广，直接联系仍稀疏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pic>
        <p:nvPicPr>
          <p:cNvPr id="7" name="Image 0" descr="/Users/lchen/Projects/FDU-Homeworks/social-media-net-analysis/projects/group/figures/06_comment_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74520"/>
            <a:ext cx="6327648" cy="35086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96328" y="1783080"/>
            <a:ext cx="43891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1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2,932个有边账号 · 4,069条有向边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7196328" y="2779776"/>
            <a:ext cx="4389120" cy="950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排除84次自我互动后，11,511次事件合并成有向边；图中省略箭头，金色为样本帖作者。</a:t>
            </a:r>
            <a:endParaRPr lang="zh-CN" sz="1650" dirty="0"/>
          </a:p>
        </p:txBody>
      </p:sp>
      <p:sp>
        <p:nvSpPr>
          <p:cNvPr id="10" name="Text 7"/>
          <p:cNvSpPr/>
          <p:nvPr/>
        </p:nvSpPr>
        <p:spPr>
          <a:xfrm>
            <a:off x="7196328" y="3950208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许多账号间的间接连接</a:t>
            </a: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来自于共同面向帖主留言。忽略方向后，94.4%处于最大连通部分；密度0.0473%，直接往来仍局限于少量账号配对。</a:t>
            </a:r>
            <a:endParaRPr lang="zh-CN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回话主要围绕帖主展开，用户彼此回复较少</a:t>
            </a:r>
            <a:endParaRPr lang="zh-CN" sz="28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19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585216" y="1892808"/>
          <a:ext cx="6492240" cy="3529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516368" y="2779776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读者面向帖主留言后，明确回话大多由帖主发出（</a:t>
            </a:r>
            <a:r>
              <a:rPr lang="en-US" altLang="zh-CN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4361</a:t>
            </a: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次，</a:t>
            </a:r>
            <a:r>
              <a:rPr lang="en-US" altLang="zh-CN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89.0%</a:t>
            </a: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）。其他用户彼此回复只有97次，占2.0%。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16368" y="4325112"/>
            <a:ext cx="4069080" cy="1252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因此，这批评论更常表现为“向帖主留言—帖主回应”，其他参与者相互回复的份额很小。</a:t>
            </a:r>
            <a:endParaRPr lang="zh-CN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高互动量可能来自接触面广，或少数人反复往来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次数为收到的非自我互动事件，人数为不同发送者；“非样本帖作者”不等于从不发帖。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前10位账号接收了54.0%的互动。</a:t>
            </a:r>
            <a:endParaRPr lang="zh-CN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621665" y="2089150"/>
          <a:ext cx="6564630" cy="2414270"/>
        </p:xfrm>
        <a:graphic>
          <a:graphicData uri="http://schemas.openxmlformats.org/drawingml/2006/table">
            <a:tbl>
              <a:tblPr/>
              <a:tblGrid>
                <a:gridCol w="1115060"/>
                <a:gridCol w="866775"/>
                <a:gridCol w="1133475"/>
                <a:gridCol w="853440"/>
                <a:gridCol w="25958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匿名账号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帖作者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接收次数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发送者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突出形态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U1528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1,378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53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已有发送者反复留言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U0948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1,275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1,091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收到更多不同账号的留言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U0112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否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180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与极少数账号集中往来</a:t>
                      </a:r>
                      <a:endParaRPr lang="en-US" sz="16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94690" y="4664075"/>
            <a:ext cx="6518275" cy="1228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U1528与U0948接收次数接近，前者只有53位发送者，后者有1,091位。相同“声量”背后是很不同的互动</a:t>
            </a: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范围。</a:t>
            </a:r>
            <a:endParaRPr lang="zh-CN" sz="18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49430"/>
          <a:stretch>
            <a:fillRect/>
          </a:stretch>
        </p:blipFill>
        <p:spPr>
          <a:xfrm>
            <a:off x="7538085" y="3827780"/>
            <a:ext cx="4029075" cy="26631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r="51184"/>
          <a:stretch>
            <a:fillRect/>
          </a:stretch>
        </p:blipFill>
        <p:spPr>
          <a:xfrm>
            <a:off x="7496175" y="1164590"/>
            <a:ext cx="3889375" cy="26631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双向往来体现留言与回话，</a:t>
            </a: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首周关系较为互惠</a:t>
            </a:r>
            <a:endParaRPr lang="zh-CN" altLang="en-US" sz="2800" b="1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0225" y="1673225"/>
            <a:ext cx="10433050" cy="2871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全部互动网络的互惠率为49.6%，表示近⼀半有向连接同时存在反方向的连接。例如，⽤户给帖主留言，帖主又回话给该</a:t>
            </a: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用户，这对账号便形成双向连接。指标按账号之间是否存在双向关系计量，每条连接贡献相同权重，概括了关系层⾯的往来。</a:t>
            </a:r>
            <a:endParaRPr lang="zh-CN" altLang="en-US" sz="180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285750" indent="-2857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只保留明确回复后，互惠率为29.9%。限定为明确回复后，去除了双向互动中根评论的部分，两项互惠率的差异，使“留言加回话” 这</a:t>
            </a: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一主要往来形式在结构上更加清楚。</a:t>
            </a:r>
            <a:endParaRPr lang="zh-CN" altLang="en-US" sz="1800" dirty="0">
              <a:solidFill>
                <a:srgbClr val="20332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25" y="3514725"/>
            <a:ext cx="10439400" cy="19335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30225" y="5440045"/>
            <a:ext cx="1038669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2637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首周记录呈现更多双向连接、较分散的事件接收；纳</a:t>
            </a:r>
            <a:r>
              <a:rPr lang="zh-CN" altLang="en-US">
                <a:solidFill>
                  <a:srgbClr val="2637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入较晚的账号和评论后，整体构成随之变化。</a:t>
            </a:r>
            <a:endParaRPr lang="zh-CN" altLang="en-US">
              <a:solidFill>
                <a:srgbClr val="2637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RQ3的回答：评论的内容是什么，互动形成了什么样的网络？</a:t>
            </a:r>
            <a:endParaRPr lang="zh-CN" altLang="en-US" sz="2800" b="1" dirty="0">
              <a:solidFill>
                <a:srgbClr val="FFFFF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  <a:p>
            <a:pPr marL="0" indent="0">
              <a:buNone/>
            </a:pPr>
            <a:endParaRPr lang="zh-CN" altLang="en-US" sz="2800" b="1" dirty="0">
              <a:solidFill>
                <a:srgbClr val="FFFFF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BDD3C8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65276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读者更常鼓励，帖主更常感谢；存在读者评论</a:t>
            </a:r>
            <a:r>
              <a:rPr lang="en-US" altLang="zh-CN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-</a:t>
            </a: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帖主回复的</a:t>
            </a: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典型模式</a:t>
            </a:r>
            <a:endParaRPr lang="zh-CN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1060704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鼓励组根评论收到了更多感谢类评论，呈现出鼓励-感谢的互动模式。</a:t>
            </a:r>
            <a:endParaRPr lang="zh-CN" altLang="en-US" sz="1850" dirty="0">
              <a:solidFill>
                <a:srgbClr val="DFEAE3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1065276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这些发言主要围绕帖主组织，发言覆盖范围</a:t>
            </a: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不同。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3986784"/>
            <a:ext cx="10607040" cy="9235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读者面向帖主留言后，明确回话大多由帖主发出。接收到相近回复数的用户，其覆盖的互动范围</a:t>
            </a: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不同。</a:t>
            </a:r>
            <a:endParaRPr lang="zh-CN" altLang="en-US" sz="1850" dirty="0">
              <a:solidFill>
                <a:srgbClr val="DFEAE3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  <a:sym typeface="+mn-ea"/>
            </a:endParaRPr>
          </a:p>
          <a:p>
            <a:pPr marL="0" indent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首周记录呈现更多双向连接、较分散的事件接收；“留言加回话” 形式在结构</a:t>
            </a: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sym typeface="+mn-ea"/>
              </a:rPr>
              <a:t>清晰。</a:t>
            </a:r>
            <a:endParaRPr lang="zh-CN" altLang="en-US" sz="1850" dirty="0">
              <a:solidFill>
                <a:srgbClr val="DFEAE3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共同局限与后续改进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研究结论与局限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研究局限：哪些判断还不能由这批记录回答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下一步是补齐记录和统一观察窗口；若检验表达或回复做法的效果，需要另行设计实验。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 </a:t>
            </a: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 2</a:t>
            </a:r>
            <a:r>
              <a:rPr lang="en-US" altLang="zh-CN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65756F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21792" y="1792224"/>
          <a:ext cx="10972800" cy="3794760"/>
        </p:xfrm>
        <a:graphic>
          <a:graphicData uri="http://schemas.openxmlformats.org/drawingml/2006/table">
            <a:tbl>
              <a:tblPr/>
              <a:tblGrid>
                <a:gridCol w="2798064"/>
                <a:gridCol w="4736592"/>
                <a:gridCol w="3438144"/>
              </a:tblGrid>
              <a:tr h="758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限制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它怎样影响结论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下一步需要什么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100位作者，抽样机制不明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不能把样本内容比例和回复结构直接推广到全Keep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更清楚的抽样框与作者覆盖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正文、评论覆盖不全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主题与网络代表不同子样本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补齐正文、评论、图像和视频内容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曝光、粉丝与采集时点缺失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累计点赞仍受未观测差异影响，固定效应不等于因果识别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统一发帖后7天，并记录实际曝光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词典与主题只是内容的部分表征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不能据用词判断情绪；主题区间未计入模型估计不确定性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语义复核、重复抽样与独立验证</a:t>
                      </a:r>
                      <a:endParaRPr lang="en-US" sz="1550" dirty="0">
                        <a:latin typeface="Arial Unicode MS" pitchFamily="34" charset="0"/>
                        <a:ea typeface="Arial Unicode MS" pitchFamily="34" charset="0"/>
                        <a:cs typeface="Arial Unicode MS" pitchFamily="34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4944" y="5879592"/>
            <a:ext cx="1083564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改进</a:t>
            </a: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方式：统一观察窗口，完整记录内容、参与人数和实际回复，再检验具体做法能否改变反馈。</a:t>
            </a:r>
            <a:endParaRPr lang="zh-CN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· Credit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/ 2</a:t>
            </a:r>
            <a:r>
              <a:rPr lang="en-US" altLang="zh-CN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altLang="zh-CN" sz="1000" dirty="0">
              <a:solidFill>
                <a:srgbClr val="BDD3C8"/>
              </a:solidFill>
              <a:latin typeface="Arial Unicode MS" pitchFamily="34" charset="0"/>
              <a:ea typeface="Arial Unicode MS" pitchFamily="34" charset="-122"/>
              <a:cs typeface="Arial Unicode M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/ Credit</a:t>
            </a:r>
            <a:endParaRPr lang="zh-CN" sz="35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86584"/>
            <a:ext cx="4736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941832" y="3264408"/>
            <a:ext cx="4736592" cy="1810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问题提出</a:t>
            </a:r>
            <a:endParaRPr lang="zh-CN" sz="2100" dirty="0"/>
          </a:p>
          <a:p>
            <a:pPr marL="0" indent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数据清洗</a:t>
            </a:r>
            <a:endParaRPr lang="zh-CN" sz="2100" dirty="0"/>
          </a:p>
          <a:p>
            <a:pPr marL="0" indent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RQ1：内容与点赞的分布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736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董依心、</a:t>
            </a:r>
            <a:endParaRPr lang="zh-CN" sz="3100" dirty="0"/>
          </a:p>
        </p:txBody>
      </p:sp>
      <p:sp>
        <p:nvSpPr>
          <p:cNvPr id="10" name="Text 8"/>
          <p:cNvSpPr/>
          <p:nvPr/>
        </p:nvSpPr>
        <p:spPr>
          <a:xfrm>
            <a:off x="6492240" y="3264408"/>
            <a:ext cx="4736592" cy="1810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RQ2：文字、主题与点赞的关联</a:t>
            </a:r>
            <a:endParaRPr lang="zh-CN" sz="2050" dirty="0"/>
          </a:p>
          <a:p>
            <a:pPr marL="0" indent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RQ3：评论中的回应与参与</a:t>
            </a:r>
            <a:endParaRPr lang="zh-CN" sz="2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42*212"/>
  <p:tag name="TABLE_ENDDRAG_RECT" val="48*139*442*2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5479</Words>
  <Application>WPS 演示</Application>
  <PresentationFormat>On-screen Show (16:9)</PresentationFormat>
  <Paragraphs>677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Arial Unicode MS</vt:lpstr>
      <vt:lpstr>Arial Unicode MS</vt:lpstr>
      <vt:lpstr>Arial Unicode MS</vt:lpstr>
      <vt:lpstr>KSOF6398537F</vt:lpstr>
      <vt:lpstr>Segoe Print</vt:lpstr>
      <vt:lpstr>KSOF987E8EC0</vt:lpstr>
      <vt:lpstr>微软雅黑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社交媒体网络分析课程小组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Keep社区内容表达与互动反馈分析</dc:title>
  <dc:creator>陈霖、董依心</dc:creator>
  <dc:subject>八章结构与RQ逐项分析；全部为正文</dc:subject>
  <cp:lastModifiedBy>董依心</cp:lastModifiedBy>
  <cp:revision>6</cp:revision>
  <dcterms:created xsi:type="dcterms:W3CDTF">2026-10-26T15:31:00Z</dcterms:created>
  <dcterms:modified xsi:type="dcterms:W3CDTF">2026-10-28T01:18:51Z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20AAACC2E1484BB89337EDBC626612C7_12</vt:lpwstr>
  </property>
</Properties>
</file>