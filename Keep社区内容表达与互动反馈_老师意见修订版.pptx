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9" r:id="rId30"/>
    <p:sldId id="261" r:id="rId7"/>
    <p:sldId id="262" r:id="rId8"/>
    <p:sldId id="263" r:id="rId9"/>
    <p:sldId id="280" r:id="rId31"/>
    <p:sldId id="281" r:id="rId32"/>
    <p:sldId id="264" r:id="rId10"/>
    <p:sldId id="265" r:id="rId11"/>
    <p:sldId id="266" r:id="rId12"/>
    <p:sldId id="282" r:id="rId33"/>
    <p:sldId id="267" r:id="rId13"/>
    <p:sldId id="283" r:id="rId34"/>
    <p:sldId id="284" r:id="rId35"/>
    <p:sldId id="268" r:id="rId14"/>
    <p:sldId id="285" r:id="rId36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2d412f8d-f998-5033-bacb-95a46187269f}">
          <p14:sldIdLst>
            <p14:sldId id="256"/>
          </p14:sldIdLst>
        </p14:section>
        <p14:section name="01 研究背景、意义与研究问题" id="{1c976e5c-7c7e-5b4c-8633-f5f92b2cb97a}">
          <p14:sldIdLst>
            <p14:sldId id="257"/>
          </p14:sldIdLst>
        </p14:section>
        <p14:section name="02 数据来源、清洗与分析方法" id="{80fe481d-985b-5b02-9822-50f56a1ec677}">
          <p14:sldIdLst>
            <p14:sldId id="258"/>
          </p14:sldIdLst>
        </p14:section>
        <p14:section name="03 数据覆盖与描述统计" id="{c3c9f9b2-deba-5bd5-b5aa-eeb3112b1748}">
          <p14:sldIdLst>
            <p14:sldId id="259"/>
            <p14:sldId id="260"/>
            <p14:sldId id="279"/>
            <p14:sldId id="261"/>
            <p14:sldId id="262"/>
          </p14:sldIdLst>
        </p14:section>
        <p14:section name="04 文字表达与点赞的关联" id="{a7721714-5902-5e50-946d-80c30418e4d1}">
          <p14:sldIdLst>
            <p14:sldId id="263"/>
            <p14:sldId id="280"/>
            <p14:sldId id="281"/>
            <p14:sldId id="264"/>
            <p14:sldId id="265"/>
            <p14:sldId id="266"/>
            <p14:sldId id="282"/>
            <p14:sldId id="267"/>
            <p14:sldId id="283"/>
            <p14:sldId id="284"/>
          </p14:sldIdLst>
        </p14:section>
        <p14:section name="05 探索性文本成分与点赞" id="{48da3da0-728b-5ebc-93c3-a2d98a4da2a3}">
          <p14:sldIdLst>
            <p14:sldId id="268"/>
            <p14:sldId id="285"/>
            <p14:sldId id="269"/>
          </p14:sldIdLst>
        </p14:section>
        <p14:section name="06 评论的主要内容" id="{9604167b-55fe-5f7c-a60c-02032fabdea2}">
          <p14:sldIdLst>
            <p14:sldId id="270"/>
            <p14:sldId id="271"/>
          </p14:sldIdLst>
        </p14:section>
        <p14:section name="07 评论区的网络结构" id="{4012fef6-b196-59fb-8f83-25890ab9fdd3}">
          <p14:sldIdLst>
            <p14:sldId id="272"/>
            <p14:sldId id="273"/>
            <p14:sldId id="274"/>
            <p14:sldId id="275"/>
            <p14:sldId id="276"/>
          </p14:sldIdLst>
        </p14:section>
        <p14:section name="08 研究结论与局限" id="{34f945de-b542-5877-8ee3-b266015b2244}">
          <p14:sldIdLst>
            <p14:sldId id="277"/>
          </p14:sldIdLst>
        </p14:section>
        <p14:section name="成员分工" id="{594dc13e-ab49-558f-a5d8-af8d81f433e6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平均点赞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图片</c:v>
                  </c:pt>
                  <c:pt idx="1">
                    <c:v>视频</c:v>
                  </c:pt>
                  <c:pt idx="2">
                    <c:v>纯文字</c:v>
                  </c:pt>
                  <c:pt idx="3">
                    <c:v>无媒体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51.03</c:v>
                </c:pt>
                <c:pt idx="1">
                  <c:v>48.05</c:v>
                </c:pt>
                <c:pt idx="2">
                  <c:v>7.94</c:v>
                </c:pt>
                <c:pt idx="3">
                  <c:v>3.91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帖子数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0</c:v>
                  </c:pt>
                  <c:pt idx="1">
                    <c:v>1–4</c:v>
                  </c:pt>
                  <c:pt idx="2">
                    <c:v>5–9</c:v>
                  </c:pt>
                  <c:pt idx="3">
                    <c:v>10–24</c:v>
                  </c:pt>
                  <c:pt idx="4">
                    <c:v>25–49</c:v>
                  </c:pt>
                  <c:pt idx="5">
                    <c:v>50–99</c:v>
                  </c:pt>
                  <c:pt idx="6">
                    <c:v>100–199</c:v>
                  </c:pt>
                  <c:pt idx="7">
                    <c:v>200–499</c:v>
                  </c:pt>
                  <c:pt idx="8">
                    <c:v>500+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361</c:v>
                </c:pt>
                <c:pt idx="1">
                  <c:v>2298</c:v>
                </c:pt>
                <c:pt idx="2">
                  <c:v>977</c:v>
                </c:pt>
                <c:pt idx="3">
                  <c:v>1089</c:v>
                </c:pt>
                <c:pt idx="4">
                  <c:v>2203</c:v>
                </c:pt>
                <c:pt idx="5">
                  <c:v>2019</c:v>
                </c:pt>
                <c:pt idx="6">
                  <c:v>438</c:v>
                </c:pt>
                <c:pt idx="7">
                  <c:v>141</c:v>
                </c:pt>
                <c:pt idx="8">
                  <c:v>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主导主题占比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按帖子统计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52.71255060728745</c:v>
                </c:pt>
                <c:pt idx="1">
                  <c:v>35.82995951417004</c:v>
                </c:pt>
                <c:pt idx="2">
                  <c:v>4.574898785425101</c:v>
                </c:pt>
                <c:pt idx="3">
                  <c:v>3.4412955465587043</c:v>
                </c:pt>
                <c:pt idx="4">
                  <c:v>3.4412955465587043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每位作者等权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运动与训练交流</c:v>
                  </c:pt>
                  <c:pt idx="1">
                    <c:v>生活感悟与问候</c:v>
                  </c:pt>
                  <c:pt idx="2">
                    <c:v>跑步与训练打卡</c:v>
                  </c:pt>
                  <c:pt idx="3">
                    <c:v>靠墙静蹲记录</c:v>
                  </c:pt>
                  <c:pt idx="4">
                    <c:v>骑行里程记录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52.63472333887843</c:v>
                </c:pt>
                <c:pt idx="1">
                  <c:v>38.15643148325583</c:v>
                </c:pt>
                <c:pt idx="2">
                  <c:v>5.679415469687451</c:v>
                </c:pt>
                <c:pt idx="3">
                  <c:v>0.6178214221439395</c:v>
                </c:pt>
                <c:pt idx="4">
                  <c:v>2.911608286034348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8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命中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63.672748004561</c:v>
                </c:pt>
                <c:pt idx="1">
                  <c:v>89.95597484276729</c:v>
                </c:pt>
                <c:pt idx="2">
                  <c:v>57.285714285714285</c:v>
                </c:pt>
                <c:pt idx="3">
                  <c:v>111.152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未命中</c:v>
                </c:pt>
              </c:strCache>
            </c:strRef>
          </c:tx>
          <c:spPr>
            <a:solidFill>
              <a:srgbClr val="AFBC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自律 / 目标</c:v>
                  </c:pt>
                  <c:pt idx="1">
                    <c:v>社交 / 互助</c:v>
                  </c:pt>
                  <c:pt idx="2">
                    <c:v>积极表达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34.35586366262276</c:v>
                </c:pt>
                <c:pt idx="1">
                  <c:v>36.155766563533554</c:v>
                </c:pt>
                <c:pt idx="2">
                  <c:v>35.75675373967403</c:v>
                </c:pt>
                <c:pt idx="3">
                  <c:v>36.06856596151802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5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2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图片 / 视频帖占比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命中积极表达</c:v>
                  </c:pt>
                  <c:pt idx="1">
                    <c:v>未命中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94.94773519163763</c:v>
                </c:pt>
                <c:pt idx="1">
                  <c:v>69.13373520875196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5"/>
          <c:y val="0.06"/>
          <c:w val="0.95"/>
          <c:h val="0.8"/>
        </c:manualLayout>
      </c:layout>
      <c:scatterChart>
        <c:scatterStyle val="lineMarker"/>
        <c:varyColors val="0"/>
        <c:ser>
          <c:idx val="0"/>
          <c:order val="0"/>
          <c:tx>
            <c:v>主模型95%区间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Sheet1!$D$2:$D$7</c:f>
              <c:numCache>
                <c:formatCode>General</c:formatCode>
                <c:ptCount val="6"/>
                <c:pt idx="0">
                  <c:v>-0.2926292528774581</c:v>
                </c:pt>
                <c:pt idx="1">
                  <c:v>-0.2926292528774581</c:v>
                </c:pt>
                <c:pt idx="2">
                  <c:v>-0.2926292528774581</c:v>
                </c:pt>
                <c:pt idx="3">
                  <c:v>0.05417937123380383</c:v>
                </c:pt>
                <c:pt idx="4">
                  <c:v>0.05417937123380383</c:v>
                </c:pt>
                <c:pt idx="5">
                  <c:v>0.05417937123380383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4.92</c:v>
                </c:pt>
                <c:pt idx="1">
                  <c:v>5.08</c:v>
                </c:pt>
                <c:pt idx="2">
                  <c:v>5</c:v>
                </c:pt>
                <c:pt idx="3">
                  <c:v>5</c:v>
                </c:pt>
                <c:pt idx="4">
                  <c:v>4.92</c:v>
                </c:pt>
                <c:pt idx="5">
                  <c:v>5.08</c:v>
                </c:pt>
              </c:numCache>
            </c:numRef>
          </c:yVal>
          <c:smooth val="0"/>
        </c:ser>
        <c:ser>
          <c:idx val="1"/>
          <c:order val="1"/>
          <c:tx>
            <c:v>仅可见正文95%区间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Sheet1!$F$2:$F$7</c:f>
              <c:numCache>
                <c:formatCode>General</c:formatCode>
                <c:ptCount val="6"/>
                <c:pt idx="0">
                  <c:v>-0.2779396086425957</c:v>
                </c:pt>
                <c:pt idx="1">
                  <c:v>-0.2779396086425957</c:v>
                </c:pt>
                <c:pt idx="2">
                  <c:v>-0.2779396086425957</c:v>
                </c:pt>
                <c:pt idx="3">
                  <c:v>0.008025153771738514</c:v>
                </c:pt>
                <c:pt idx="4">
                  <c:v>0.008025153771738514</c:v>
                </c:pt>
                <c:pt idx="5">
                  <c:v>0.008025153771738514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3.92</c:v>
                </c:pt>
                <c:pt idx="1">
                  <c:v>4.08</c:v>
                </c:pt>
                <c:pt idx="2">
                  <c:v>4</c:v>
                </c:pt>
                <c:pt idx="3">
                  <c:v>4</c:v>
                </c:pt>
                <c:pt idx="4">
                  <c:v>3.92</c:v>
                </c:pt>
                <c:pt idx="5">
                  <c:v>4.08</c:v>
                </c:pt>
              </c:numCache>
            </c:numRef>
          </c:yVal>
          <c:smooth val="0"/>
        </c:ser>
        <c:ser>
          <c:idx val="2"/>
          <c:order val="2"/>
          <c:tx>
            <c:v>去最高1%95%区间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Sheet1!$H$2:$H$7</c:f>
              <c:numCache>
                <c:formatCode>General</c:formatCode>
                <c:ptCount val="6"/>
                <c:pt idx="0">
                  <c:v>-0.2862228814337895</c:v>
                </c:pt>
                <c:pt idx="1">
                  <c:v>-0.2862228814337895</c:v>
                </c:pt>
                <c:pt idx="2">
                  <c:v>-0.2862228814337895</c:v>
                </c:pt>
                <c:pt idx="3">
                  <c:v>0.06074432169354835</c:v>
                </c:pt>
                <c:pt idx="4">
                  <c:v>0.06074432169354835</c:v>
                </c:pt>
                <c:pt idx="5">
                  <c:v>0.06074432169354835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2.92</c:v>
                </c:pt>
                <c:pt idx="1">
                  <c:v>3.08</c:v>
                </c:pt>
                <c:pt idx="2">
                  <c:v>3</c:v>
                </c:pt>
                <c:pt idx="3">
                  <c:v>3</c:v>
                </c:pt>
                <c:pt idx="4">
                  <c:v>2.92</c:v>
                </c:pt>
                <c:pt idx="5">
                  <c:v>3.08</c:v>
                </c:pt>
              </c:numCache>
            </c:numRef>
          </c:yVal>
          <c:smooth val="0"/>
        </c:ser>
        <c:ser>
          <c:idx val="3"/>
          <c:order val="3"/>
          <c:tx>
            <c:v>作者等权95%区间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Sheet1!$J$2:$J$7</c:f>
              <c:numCache>
                <c:formatCode>General</c:formatCode>
                <c:ptCount val="6"/>
                <c:pt idx="0">
                  <c:v>-0.11755588602382108</c:v>
                </c:pt>
                <c:pt idx="1">
                  <c:v>-0.11755588602382108</c:v>
                </c:pt>
                <c:pt idx="2">
                  <c:v>-0.11755588602382108</c:v>
                </c:pt>
                <c:pt idx="3">
                  <c:v>0.13711407230724212</c:v>
                </c:pt>
                <c:pt idx="4">
                  <c:v>0.13711407230724212</c:v>
                </c:pt>
                <c:pt idx="5">
                  <c:v>0.13711407230724212</c:v>
                </c:pt>
              </c:numCache>
            </c:numRef>
          </c:xVal>
          <c:yVal>
            <c:numRef>
              <c:f>Sheet1!$K$2:$K$7</c:f>
              <c:numCache>
                <c:formatCode>General</c:formatCode>
                <c:ptCount val="6"/>
                <c:pt idx="0">
                  <c:v>1.92</c:v>
                </c:pt>
                <c:pt idx="1">
                  <c:v>2.08</c:v>
                </c:pt>
                <c:pt idx="2">
                  <c:v>2</c:v>
                </c:pt>
                <c:pt idx="3">
                  <c:v>2</c:v>
                </c:pt>
                <c:pt idx="4">
                  <c:v>1.92</c:v>
                </c:pt>
                <c:pt idx="5">
                  <c:v>2.08</c:v>
                </c:pt>
              </c:numCache>
            </c:numRef>
          </c:yVal>
          <c:smooth val="0"/>
        </c:ser>
        <c:ser>
          <c:idx val="4"/>
          <c:order val="4"/>
          <c:tx>
            <c:v>PPML计数95%区间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Sheet1!$L$2:$L$7</c:f>
              <c:numCache>
                <c:formatCode>General</c:formatCode>
                <c:ptCount val="6"/>
                <c:pt idx="0">
                  <c:v>-0.23309462404807352</c:v>
                </c:pt>
                <c:pt idx="1">
                  <c:v>-0.23309462404807352</c:v>
                </c:pt>
                <c:pt idx="2">
                  <c:v>-0.23309462404807352</c:v>
                </c:pt>
                <c:pt idx="3">
                  <c:v>0.19944882986969897</c:v>
                </c:pt>
                <c:pt idx="4">
                  <c:v>0.19944882986969897</c:v>
                </c:pt>
                <c:pt idx="5">
                  <c:v>0.19944882986969897</c:v>
                </c:pt>
              </c:numCache>
            </c:numRef>
          </c:xVal>
          <c:yVal>
            <c:numRef>
              <c:f>Sheet1!$M$2:$M$7</c:f>
              <c:numCache>
                <c:formatCode>General</c:formatCode>
                <c:ptCount val="6"/>
                <c:pt idx="0">
                  <c:v>0.92</c:v>
                </c:pt>
                <c:pt idx="1">
                  <c:v>1.08</c:v>
                </c:pt>
                <c:pt idx="2">
                  <c:v>1</c:v>
                </c:pt>
                <c:pt idx="3">
                  <c:v>1</c:v>
                </c:pt>
                <c:pt idx="4">
                  <c:v>0.92</c:v>
                </c:pt>
                <c:pt idx="5">
                  <c:v>1.08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Sheet1!$C$1</c:f>
              <c:strCache>
                <c:ptCount val="1"/>
                <c:pt idx="0">
                  <c:v>零点参照</c:v>
                </c:pt>
              </c:strCache>
            </c:strRef>
          </c:tx>
          <c:spPr>
            <a:ln w="15875">
              <a:solidFill>
                <a:srgbClr val="65756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0.5</c:v>
              </c:pt>
              <c:pt idx="1">
                <c:v>5.5</c:v>
              </c:pt>
            </c:numLit>
          </c:yVal>
          <c:smooth val="0"/>
        </c:ser>
        <c:ser>
          <c:idx val="6"/>
          <c:order val="6"/>
          <c:tx>
            <c:strRef>
              <c:f>Sheet1!$B$1</c:f>
              <c:strCache>
                <c:ptCount val="1"/>
                <c:pt idx="0">
                  <c:v>自律 / 目标（敏感性）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45C4F"/>
              </a:solidFill>
              <a:ln w="9525" cap="flat">
                <a:solidFill>
                  <a:srgbClr val="245C4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-0.11922494082182715</c:v>
                </c:pt>
                <c:pt idx="1">
                  <c:v>-0.1349572274354286</c:v>
                </c:pt>
                <c:pt idx="2">
                  <c:v>-0.11273927987012058</c:v>
                </c:pt>
                <c:pt idx="3">
                  <c:v>0.009779093141710514</c:v>
                </c:pt>
                <c:pt idx="4">
                  <c:v>-0.016822897089187282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2"/>
          <c:min val="-0.4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zh-CN"/>
          </a:p>
        </c:txPr>
        <c:crossAx val="2094734552"/>
        <c:crossesAt val="0.5"/>
        <c:auto val="1"/>
        <c:lblAlgn val="ctr"/>
        <c:noMultiLvlLbl val="1"/>
        <c:majorUnit val="0.2"/>
      </c:valAx>
      <c:valAx>
        <c:axId val="2094734552"/>
        <c:scaling>
          <c:orientation val="minMax"/>
          <c:max val="5.5"/>
          <c:min val="0.5"/>
        </c:scaling>
        <c:delete val="1"/>
        <c:axPos val="l"/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zh-CN"/>
          </a:p>
        </c:txPr>
        <c:crossAx val="2094734554"/>
        <c:crossesAt val="-0.4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5"/>
          <c:y val="0.06"/>
          <c:w val="0.95"/>
          <c:h val="0.8"/>
        </c:manualLayout>
      </c:layout>
      <c:scatterChart>
        <c:scatterStyle val="lineMarker"/>
        <c:varyColors val="0"/>
        <c:ser>
          <c:idx val="0"/>
          <c:order val="0"/>
          <c:tx>
            <c:v>主模型95%区间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Sheet1!$D$2:$D$7</c:f>
              <c:numCache>
                <c:formatCode>General</c:formatCode>
                <c:ptCount val="6"/>
                <c:pt idx="0">
                  <c:v>-0.13065834927461642</c:v>
                </c:pt>
                <c:pt idx="1">
                  <c:v>-0.13065834927461642</c:v>
                </c:pt>
                <c:pt idx="2">
                  <c:v>-0.13065834927461642</c:v>
                </c:pt>
                <c:pt idx="3">
                  <c:v>0.12198140446066921</c:v>
                </c:pt>
                <c:pt idx="4">
                  <c:v>0.12198140446066921</c:v>
                </c:pt>
                <c:pt idx="5">
                  <c:v>0.12198140446066921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4.92</c:v>
                </c:pt>
                <c:pt idx="1">
                  <c:v>5.08</c:v>
                </c:pt>
                <c:pt idx="2">
                  <c:v>5</c:v>
                </c:pt>
                <c:pt idx="3">
                  <c:v>5</c:v>
                </c:pt>
                <c:pt idx="4">
                  <c:v>4.92</c:v>
                </c:pt>
                <c:pt idx="5">
                  <c:v>5.08</c:v>
                </c:pt>
              </c:numCache>
            </c:numRef>
          </c:yVal>
          <c:smooth val="0"/>
        </c:ser>
        <c:ser>
          <c:idx val="1"/>
          <c:order val="1"/>
          <c:tx>
            <c:v>仅可见正文95%区间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Sheet1!$F$2:$F$7</c:f>
              <c:numCache>
                <c:formatCode>General</c:formatCode>
                <c:ptCount val="6"/>
                <c:pt idx="0">
                  <c:v>-0.09623374032913645</c:v>
                </c:pt>
                <c:pt idx="1">
                  <c:v>-0.09623374032913645</c:v>
                </c:pt>
                <c:pt idx="2">
                  <c:v>-0.09623374032913645</c:v>
                </c:pt>
                <c:pt idx="3">
                  <c:v>0.16738106796214713</c:v>
                </c:pt>
                <c:pt idx="4">
                  <c:v>0.16738106796214713</c:v>
                </c:pt>
                <c:pt idx="5">
                  <c:v>0.16738106796214713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3.92</c:v>
                </c:pt>
                <c:pt idx="1">
                  <c:v>4.08</c:v>
                </c:pt>
                <c:pt idx="2">
                  <c:v>4</c:v>
                </c:pt>
                <c:pt idx="3">
                  <c:v>4</c:v>
                </c:pt>
                <c:pt idx="4">
                  <c:v>3.92</c:v>
                </c:pt>
                <c:pt idx="5">
                  <c:v>4.08</c:v>
                </c:pt>
              </c:numCache>
            </c:numRef>
          </c:yVal>
          <c:smooth val="0"/>
        </c:ser>
        <c:ser>
          <c:idx val="2"/>
          <c:order val="2"/>
          <c:tx>
            <c:v>去最高1%95%区间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Sheet1!$H$2:$H$7</c:f>
              <c:numCache>
                <c:formatCode>General</c:formatCode>
                <c:ptCount val="6"/>
                <c:pt idx="0">
                  <c:v>-0.12668000346150074</c:v>
                </c:pt>
                <c:pt idx="1">
                  <c:v>-0.12668000346150074</c:v>
                </c:pt>
                <c:pt idx="2">
                  <c:v>-0.12668000346150074</c:v>
                </c:pt>
                <c:pt idx="3">
                  <c:v>0.13983385161313397</c:v>
                </c:pt>
                <c:pt idx="4">
                  <c:v>0.13983385161313397</c:v>
                </c:pt>
                <c:pt idx="5">
                  <c:v>0.13983385161313397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2.92</c:v>
                </c:pt>
                <c:pt idx="1">
                  <c:v>3.08</c:v>
                </c:pt>
                <c:pt idx="2">
                  <c:v>3</c:v>
                </c:pt>
                <c:pt idx="3">
                  <c:v>3</c:v>
                </c:pt>
                <c:pt idx="4">
                  <c:v>2.92</c:v>
                </c:pt>
                <c:pt idx="5">
                  <c:v>3.08</c:v>
                </c:pt>
              </c:numCache>
            </c:numRef>
          </c:yVal>
          <c:smooth val="0"/>
        </c:ser>
        <c:ser>
          <c:idx val="3"/>
          <c:order val="3"/>
          <c:tx>
            <c:v>作者等权95%区间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Sheet1!$J$2:$J$7</c:f>
              <c:numCache>
                <c:formatCode>General</c:formatCode>
                <c:ptCount val="6"/>
                <c:pt idx="0">
                  <c:v>-0.15430347817862414</c:v>
                </c:pt>
                <c:pt idx="1">
                  <c:v>-0.15430347817862414</c:v>
                </c:pt>
                <c:pt idx="2">
                  <c:v>-0.15430347817862414</c:v>
                </c:pt>
                <c:pt idx="3">
                  <c:v>0.11263722842008214</c:v>
                </c:pt>
                <c:pt idx="4">
                  <c:v>0.11263722842008214</c:v>
                </c:pt>
                <c:pt idx="5">
                  <c:v>0.11263722842008214</c:v>
                </c:pt>
              </c:numCache>
            </c:numRef>
          </c:xVal>
          <c:yVal>
            <c:numRef>
              <c:f>Sheet1!$K$2:$K$7</c:f>
              <c:numCache>
                <c:formatCode>General</c:formatCode>
                <c:ptCount val="6"/>
                <c:pt idx="0">
                  <c:v>1.92</c:v>
                </c:pt>
                <c:pt idx="1">
                  <c:v>2.08</c:v>
                </c:pt>
                <c:pt idx="2">
                  <c:v>2</c:v>
                </c:pt>
                <c:pt idx="3">
                  <c:v>2</c:v>
                </c:pt>
                <c:pt idx="4">
                  <c:v>1.92</c:v>
                </c:pt>
                <c:pt idx="5">
                  <c:v>2.08</c:v>
                </c:pt>
              </c:numCache>
            </c:numRef>
          </c:yVal>
          <c:smooth val="0"/>
        </c:ser>
        <c:ser>
          <c:idx val="4"/>
          <c:order val="4"/>
          <c:tx>
            <c:v>PPML计数95%区间</c:v>
          </c:tx>
          <c:spPr>
            <a:ln w="12700">
              <a:solidFill>
                <a:srgbClr val="245C4F"/>
              </a:solidFill>
            </a:ln>
          </c:spPr>
          <c:marker>
            <c:symbol val="none"/>
          </c:marker>
          <c:xVal>
            <c:numRef>
              <c:f>Sheet1!$L$2:$L$7</c:f>
              <c:numCache>
                <c:formatCode>General</c:formatCode>
                <c:ptCount val="6"/>
                <c:pt idx="0">
                  <c:v>-0.30608258398006516</c:v>
                </c:pt>
                <c:pt idx="1">
                  <c:v>-0.30608258398006516</c:v>
                </c:pt>
                <c:pt idx="2">
                  <c:v>-0.30608258398006516</c:v>
                </c:pt>
                <c:pt idx="3">
                  <c:v>0.11482103853771425</c:v>
                </c:pt>
                <c:pt idx="4">
                  <c:v>0.11482103853771425</c:v>
                </c:pt>
                <c:pt idx="5">
                  <c:v>0.11482103853771425</c:v>
                </c:pt>
              </c:numCache>
            </c:numRef>
          </c:xVal>
          <c:yVal>
            <c:numRef>
              <c:f>Sheet1!$M$2:$M$7</c:f>
              <c:numCache>
                <c:formatCode>General</c:formatCode>
                <c:ptCount val="6"/>
                <c:pt idx="0">
                  <c:v>0.92</c:v>
                </c:pt>
                <c:pt idx="1">
                  <c:v>1.08</c:v>
                </c:pt>
                <c:pt idx="2">
                  <c:v>1</c:v>
                </c:pt>
                <c:pt idx="3">
                  <c:v>1</c:v>
                </c:pt>
                <c:pt idx="4">
                  <c:v>0.92</c:v>
                </c:pt>
                <c:pt idx="5">
                  <c:v>1.08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Sheet1!$C$1</c:f>
              <c:strCache>
                <c:ptCount val="1"/>
                <c:pt idx="0">
                  <c:v>零点参照</c:v>
                </c:pt>
              </c:strCache>
            </c:strRef>
          </c:tx>
          <c:spPr>
            <a:ln w="15875">
              <a:solidFill>
                <a:srgbClr val="65756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0.5</c:v>
              </c:pt>
              <c:pt idx="1">
                <c:v>5.5</c:v>
              </c:pt>
            </c:numLit>
          </c:yVal>
          <c:smooth val="0"/>
        </c:ser>
        <c:ser>
          <c:idx val="6"/>
          <c:order val="6"/>
          <c:tx>
            <c:strRef>
              <c:f>Sheet1!$B$1</c:f>
              <c:strCache>
                <c:ptCount val="1"/>
                <c:pt idx="0">
                  <c:v>社交 / 互助（敏感性）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245C4F"/>
              </a:solidFill>
              <a:ln w="9525" cap="flat">
                <a:solidFill>
                  <a:srgbClr val="245C4F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-0.004338472406973604</c:v>
                </c:pt>
                <c:pt idx="1">
                  <c:v>0.03557366381650534</c:v>
                </c:pt>
                <c:pt idx="2">
                  <c:v>0.006576924075816615</c:v>
                </c:pt>
                <c:pt idx="3">
                  <c:v>-0.020833124879270998</c:v>
                </c:pt>
                <c:pt idx="4">
                  <c:v>-0.09563077272117546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2"/>
          <c:min val="-0.4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zh-CN"/>
          </a:p>
        </c:txPr>
        <c:crossAx val="2094734552"/>
        <c:crossesAt val="0.5"/>
        <c:auto val="1"/>
        <c:lblAlgn val="ctr"/>
        <c:noMultiLvlLbl val="1"/>
        <c:majorUnit val="0.2"/>
      </c:valAx>
      <c:valAx>
        <c:axId val="2094734552"/>
        <c:scaling>
          <c:orientation val="minMax"/>
          <c:max val="5.5"/>
          <c:min val="0.5"/>
        </c:scaling>
        <c:delete val="1"/>
        <c:axPos val="l"/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zh-CN"/>
          </a:p>
        </c:txPr>
        <c:crossAx val="2094734554"/>
        <c:crossesAt val="-0.4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25"/>
          <c:y val="0.06"/>
          <c:w val="0.95"/>
          <c:h val="0.8"/>
        </c:manualLayout>
      </c:layout>
      <c:scatterChart>
        <c:scatterStyle val="lineMarker"/>
        <c:varyColors val="0"/>
        <c:ser>
          <c:idx val="0"/>
          <c:order val="0"/>
          <c:tx>
            <c:v>主模型95%区间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Sheet1!$D$2:$D$7</c:f>
              <c:numCache>
                <c:formatCode>General</c:formatCode>
                <c:ptCount val="6"/>
                <c:pt idx="0">
                  <c:v>-0.1546485793243155</c:v>
                </c:pt>
                <c:pt idx="1">
                  <c:v>-0.1546485793243155</c:v>
                </c:pt>
                <c:pt idx="2">
                  <c:v>-0.1546485793243155</c:v>
                </c:pt>
                <c:pt idx="3">
                  <c:v>-0.016383130385548145</c:v>
                </c:pt>
                <c:pt idx="4">
                  <c:v>-0.016383130385548145</c:v>
                </c:pt>
                <c:pt idx="5">
                  <c:v>-0.016383130385548145</c:v>
                </c:pt>
              </c:numCache>
            </c:numRef>
          </c:xVal>
          <c:yVal>
            <c:numRef>
              <c:f>Sheet1!$E$2:$E$7</c:f>
              <c:numCache>
                <c:formatCode>General</c:formatCode>
                <c:ptCount val="6"/>
                <c:pt idx="0">
                  <c:v>4.92</c:v>
                </c:pt>
                <c:pt idx="1">
                  <c:v>5.08</c:v>
                </c:pt>
                <c:pt idx="2">
                  <c:v>5</c:v>
                </c:pt>
                <c:pt idx="3">
                  <c:v>5</c:v>
                </c:pt>
                <c:pt idx="4">
                  <c:v>4.92</c:v>
                </c:pt>
                <c:pt idx="5">
                  <c:v>5.08</c:v>
                </c:pt>
              </c:numCache>
            </c:numRef>
          </c:yVal>
          <c:smooth val="0"/>
        </c:ser>
        <c:ser>
          <c:idx val="1"/>
          <c:order val="1"/>
          <c:tx>
            <c:v>仅可见正文95%区间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Sheet1!$F$2:$F$7</c:f>
              <c:numCache>
                <c:formatCode>General</c:formatCode>
                <c:ptCount val="6"/>
                <c:pt idx="0">
                  <c:v>-0.16398138117667962</c:v>
                </c:pt>
                <c:pt idx="1">
                  <c:v>-0.16398138117667962</c:v>
                </c:pt>
                <c:pt idx="2">
                  <c:v>-0.16398138117667962</c:v>
                </c:pt>
                <c:pt idx="3">
                  <c:v>-0.015397820900195675</c:v>
                </c:pt>
                <c:pt idx="4">
                  <c:v>-0.015397820900195675</c:v>
                </c:pt>
                <c:pt idx="5">
                  <c:v>-0.015397820900195675</c:v>
                </c:pt>
              </c:numCache>
            </c:numRef>
          </c:xVal>
          <c:yVal>
            <c:numRef>
              <c:f>Sheet1!$G$2:$G$7</c:f>
              <c:numCache>
                <c:formatCode>General</c:formatCode>
                <c:ptCount val="6"/>
                <c:pt idx="0">
                  <c:v>3.92</c:v>
                </c:pt>
                <c:pt idx="1">
                  <c:v>4.08</c:v>
                </c:pt>
                <c:pt idx="2">
                  <c:v>4</c:v>
                </c:pt>
                <c:pt idx="3">
                  <c:v>4</c:v>
                </c:pt>
                <c:pt idx="4">
                  <c:v>3.92</c:v>
                </c:pt>
                <c:pt idx="5">
                  <c:v>4.08</c:v>
                </c:pt>
              </c:numCache>
            </c:numRef>
          </c:yVal>
          <c:smooth val="0"/>
        </c:ser>
        <c:ser>
          <c:idx val="2"/>
          <c:order val="2"/>
          <c:tx>
            <c:v>去最高1%95%区间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Sheet1!$H$2:$H$7</c:f>
              <c:numCache>
                <c:formatCode>General</c:formatCode>
                <c:ptCount val="6"/>
                <c:pt idx="0">
                  <c:v>-0.15182755783322016</c:v>
                </c:pt>
                <c:pt idx="1">
                  <c:v>-0.15182755783322016</c:v>
                </c:pt>
                <c:pt idx="2">
                  <c:v>-0.15182755783322016</c:v>
                </c:pt>
                <c:pt idx="3">
                  <c:v>-0.012055529463216905</c:v>
                </c:pt>
                <c:pt idx="4">
                  <c:v>-0.012055529463216905</c:v>
                </c:pt>
                <c:pt idx="5">
                  <c:v>-0.012055529463216905</c:v>
                </c:pt>
              </c:numCache>
            </c:numRef>
          </c:xVal>
          <c:yVal>
            <c:numRef>
              <c:f>Sheet1!$I$2:$I$7</c:f>
              <c:numCache>
                <c:formatCode>General</c:formatCode>
                <c:ptCount val="6"/>
                <c:pt idx="0">
                  <c:v>2.92</c:v>
                </c:pt>
                <c:pt idx="1">
                  <c:v>3.08</c:v>
                </c:pt>
                <c:pt idx="2">
                  <c:v>3</c:v>
                </c:pt>
                <c:pt idx="3">
                  <c:v>3</c:v>
                </c:pt>
                <c:pt idx="4">
                  <c:v>2.92</c:v>
                </c:pt>
                <c:pt idx="5">
                  <c:v>3.08</c:v>
                </c:pt>
              </c:numCache>
            </c:numRef>
          </c:yVal>
          <c:smooth val="0"/>
        </c:ser>
        <c:ser>
          <c:idx val="3"/>
          <c:order val="3"/>
          <c:tx>
            <c:v>作者等权95%区间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Sheet1!$J$2:$J$7</c:f>
              <c:numCache>
                <c:formatCode>General</c:formatCode>
                <c:ptCount val="6"/>
                <c:pt idx="0">
                  <c:v>-0.21943067768691155</c:v>
                </c:pt>
                <c:pt idx="1">
                  <c:v>-0.21943067768691155</c:v>
                </c:pt>
                <c:pt idx="2">
                  <c:v>-0.21943067768691155</c:v>
                </c:pt>
                <c:pt idx="3">
                  <c:v>-0.03633838975366527</c:v>
                </c:pt>
                <c:pt idx="4">
                  <c:v>-0.03633838975366527</c:v>
                </c:pt>
                <c:pt idx="5">
                  <c:v>-0.03633838975366527</c:v>
                </c:pt>
              </c:numCache>
            </c:numRef>
          </c:xVal>
          <c:yVal>
            <c:numRef>
              <c:f>Sheet1!$K$2:$K$7</c:f>
              <c:numCache>
                <c:formatCode>General</c:formatCode>
                <c:ptCount val="6"/>
                <c:pt idx="0">
                  <c:v>1.92</c:v>
                </c:pt>
                <c:pt idx="1">
                  <c:v>2.08</c:v>
                </c:pt>
                <c:pt idx="2">
                  <c:v>2</c:v>
                </c:pt>
                <c:pt idx="3">
                  <c:v>2</c:v>
                </c:pt>
                <c:pt idx="4">
                  <c:v>1.92</c:v>
                </c:pt>
                <c:pt idx="5">
                  <c:v>2.08</c:v>
                </c:pt>
              </c:numCache>
            </c:numRef>
          </c:yVal>
          <c:smooth val="0"/>
        </c:ser>
        <c:ser>
          <c:idx val="4"/>
          <c:order val="4"/>
          <c:tx>
            <c:v>PPML计数95%区间</c:v>
          </c:tx>
          <c:spPr>
            <a:ln w="12700">
              <a:solidFill>
                <a:srgbClr val="B97339"/>
              </a:solidFill>
            </a:ln>
          </c:spPr>
          <c:marker>
            <c:symbol val="none"/>
          </c:marker>
          <c:xVal>
            <c:numRef>
              <c:f>Sheet1!$L$2:$L$7</c:f>
              <c:numCache>
                <c:formatCode>General</c:formatCode>
                <c:ptCount val="6"/>
                <c:pt idx="0">
                  <c:v>-0.298611904604182</c:v>
                </c:pt>
                <c:pt idx="1">
                  <c:v>-0.298611904604182</c:v>
                </c:pt>
                <c:pt idx="2">
                  <c:v>-0.298611904604182</c:v>
                </c:pt>
                <c:pt idx="3">
                  <c:v>0.027989342981732834</c:v>
                </c:pt>
                <c:pt idx="4">
                  <c:v>0.027989342981732834</c:v>
                </c:pt>
                <c:pt idx="5">
                  <c:v>0.027989342981732834</c:v>
                </c:pt>
              </c:numCache>
            </c:numRef>
          </c:xVal>
          <c:yVal>
            <c:numRef>
              <c:f>Sheet1!$M$2:$M$7</c:f>
              <c:numCache>
                <c:formatCode>General</c:formatCode>
                <c:ptCount val="6"/>
                <c:pt idx="0">
                  <c:v>0.92</c:v>
                </c:pt>
                <c:pt idx="1">
                  <c:v>1.08</c:v>
                </c:pt>
                <c:pt idx="2">
                  <c:v>1</c:v>
                </c:pt>
                <c:pt idx="3">
                  <c:v>1</c:v>
                </c:pt>
                <c:pt idx="4">
                  <c:v>0.92</c:v>
                </c:pt>
                <c:pt idx="5">
                  <c:v>1.08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Sheet1!$C$1</c:f>
              <c:strCache>
                <c:ptCount val="1"/>
                <c:pt idx="0">
                  <c:v>零点参照</c:v>
                </c:pt>
              </c:strCache>
            </c:strRef>
          </c:tx>
          <c:spPr>
            <a:ln w="15875">
              <a:solidFill>
                <a:srgbClr val="65756F"/>
              </a:solidFill>
              <a:prstDash val="dash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</c:v>
              </c:pt>
              <c:pt idx="1">
                <c:v>0</c:v>
              </c:pt>
            </c:numLit>
          </c:xVal>
          <c:yVal>
            <c:numLit>
              <c:formatCode>General</c:formatCode>
              <c:ptCount val="2"/>
              <c:pt idx="0">
                <c:v>0.5</c:v>
              </c:pt>
              <c:pt idx="1">
                <c:v>5.5</c:v>
              </c:pt>
            </c:numLit>
          </c:yVal>
          <c:smooth val="0"/>
        </c:ser>
        <c:ser>
          <c:idx val="6"/>
          <c:order val="6"/>
          <c:tx>
            <c:strRef>
              <c:f>Sheet1!$B$1</c:f>
              <c:strCache>
                <c:ptCount val="1"/>
                <c:pt idx="0">
                  <c:v>积极表达（敏感性）</c:v>
                </c:pt>
              </c:strCache>
            </c:strRef>
          </c:tx>
          <c:spPr>
            <a:solidFill>
              <a:srgbClr val="B97339"/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B97339"/>
              </a:solidFill>
              <a:ln w="9525" cap="flat">
                <a:solidFill>
                  <a:srgbClr val="B97339"/>
                </a:solidFill>
                <a:prstDash val="solid"/>
                <a:round/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-0.08551585485493182</c:v>
                </c:pt>
                <c:pt idx="1">
                  <c:v>-0.08968960103843765</c:v>
                </c:pt>
                <c:pt idx="2">
                  <c:v>-0.08194154364821854</c:v>
                </c:pt>
                <c:pt idx="3">
                  <c:v>-0.1278845337202884</c:v>
                </c:pt>
                <c:pt idx="4">
                  <c:v>-0.1353112808112246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0.2"/>
          <c:min val="-0.4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zh-CN"/>
          </a:p>
        </c:txPr>
        <c:crossAx val="2094734552"/>
        <c:crossesAt val="0.5"/>
        <c:auto val="1"/>
        <c:lblAlgn val="ctr"/>
        <c:noMultiLvlLbl val="1"/>
        <c:majorUnit val="0.2"/>
      </c:valAx>
      <c:valAx>
        <c:axId val="2094734552"/>
        <c:scaling>
          <c:orientation val="minMax"/>
          <c:max val="5.5"/>
          <c:min val="0.5"/>
        </c:scaling>
        <c:delete val="1"/>
        <c:axPos val="l"/>
        <c:numFmt formatCode="0.0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zh-CN"/>
          </a:p>
        </c:txPr>
        <c:crossAx val="2094734554"/>
        <c:crossesAt val="-0.4"/>
        <c:crossBetween val="midCat"/>
        <c:majorUnit val="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其他用户（7,192条）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16.879866518353726</c:v>
                </c:pt>
                <c:pt idx="1">
                  <c:v>0.5839822024471636</c:v>
                </c:pt>
                <c:pt idx="2">
                  <c:v>4.365962180200222</c:v>
                </c:pt>
                <c:pt idx="3">
                  <c:v>4.14349276974416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帖主（4,403条）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鼓励 / 赞许</c:v>
                  </c:pt>
                  <c:pt idx="1">
                    <c:v>感谢</c:v>
                  </c:pt>
                  <c:pt idx="2">
                    <c:v>问候</c:v>
                  </c:pt>
                  <c:pt idx="3">
                    <c:v>问号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4.519645696116284</c:v>
                </c:pt>
                <c:pt idx="1">
                  <c:v>7.880990233931411</c:v>
                </c:pt>
                <c:pt idx="2">
                  <c:v>5.382693617987735</c:v>
                </c:pt>
                <c:pt idx="3">
                  <c:v>2.9298205768794006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50">
              <a:latin typeface="Arial Unicode MS"/>
              <a:cs typeface="Arial Unicode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观测回复覆盖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43.4745763</c:v>
                </c:pt>
                <c:pt idx="1">
                  <c:v>56.2718733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首回含感谢</c:v>
                </c:pt>
              </c:strCache>
            </c:strRef>
          </c:tx>
          <c:spPr>
            <a:solidFill>
              <a:srgbClr val="B97339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鼓励 / 赞许</c:v>
                  </c:pt>
                  <c:pt idx="1">
                    <c:v>未命中该词类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26.705653</c:v>
                </c:pt>
                <c:pt idx="1">
                  <c:v>6.3829787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明确回复构成</c:v>
                </c:pt>
              </c:strCache>
            </c:strRef>
          </c:tx>
          <c:spPr>
            <a:solidFill>
              <a:srgbClr val="245C4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332F"/>
                    </a:solidFill>
                    <a:latin typeface="Arial Unicode M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帖主 → 其他用户</c:v>
                  </c:pt>
                  <c:pt idx="1">
                    <c:v>其他用户 → 帖主</c:v>
                  </c:pt>
                  <c:pt idx="2">
                    <c:v>其他用户 → 其他用户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88.96368829049368</c:v>
                </c:pt>
                <c:pt idx="1">
                  <c:v>9.057527539779683</c:v>
                </c:pt>
                <c:pt idx="2">
                  <c:v>1.9787841697266422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0332F"/>
                  </a:solidFill>
                  <a:latin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20332F"/>
                </a:solidFill>
                <a:latin typeface="Arial Unicode M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7EC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5756F"/>
                </a:solidFill>
                <a:latin typeface="Arial Unicode M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复核结果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无非空正文</c:v>
                </c:pt>
                <c:pt idx="1">
                  <c:v>非空但未入模型</c:v>
                </c:pt>
                <c:pt idx="2">
                  <c:v>进入NMF权重表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4118</c:v>
                </c:pt>
                <c:pt idx="1">
                  <c:v>2944</c:v>
                </c:pt>
                <c:pt idx="2">
                  <c:v>2470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20332F"/>
                  </a:solidFill>
                  <a:latin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20332F"/>
                </a:solidFill>
                <a:latin typeface="Arial Unicode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00.0"/>
          <c:min val="0.0"/>
        </c:scaling>
        <c:delete val="0"/>
        <c:axPos val="b"/>
        <c:majorGridlines>
          <c:spPr>
            <a:ln>
              <a:solidFill>
                <a:srgbClr val="E7ECE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5756F"/>
                </a:solidFill>
                <a:latin typeface="Arial Unicode M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复核结果</c:v>
                </c:pt>
              </c:strCache>
            </c:strRef>
          </c:tx>
          <c:spPr>
            <a:solidFill>
              <a:srgbClr val="245C4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自律／目标</c:v>
                </c:pt>
                <c:pt idx="1">
                  <c:v>社交／互助</c:v>
                </c:pt>
                <c:pt idx="2">
                  <c:v>积极表达</c:v>
                </c:pt>
                <c:pt idx="3">
                  <c:v>问号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1.7497384511652678</c:v>
                </c:pt>
                <c:pt idx="1">
                  <c:v>1.148969825577665</c:v>
                </c:pt>
                <c:pt idx="2">
                  <c:v>1.1862936299891753</c:v>
                </c:pt>
                <c:pt idx="3">
                  <c:v>1.111520309064274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200">
                  <a:solidFill>
                    <a:srgbClr val="20332F"/>
                  </a:solidFill>
                  <a:latin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20332F"/>
                </a:solidFill>
                <a:latin typeface="Arial Unicode M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2"/>
          <c:min val="0.0"/>
        </c:scaling>
        <c:delete val="0"/>
        <c:axPos val="b"/>
        <c:majorGridlines>
          <c:spPr>
            <a:ln>
              <a:solidFill>
                <a:srgbClr val="E7ECE9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5756F"/>
                </a:solidFill>
                <a:latin typeface="Arial Unicode M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老师意见修订版｜第1/30页｜本页讲述预算15秒</a:t>
            </a:r>
          </a:p>
          <a:p/>
          <a:p>
            <a:r>
              <a:t>这次保留内容、点赞和评论三个研究问题，重点补充老师提出的变量分类、主题重叠、作者固定效应与话题标签核查，并修正文中超出测量支持的解释。</a:t>
            </a:r>
          </a:p>
          <a:p/>
          <a:p>
            <a:r>
              <a:t>讲述重点：说明这是落实方法复核后的新版本。</a:t>
            </a:r>
          </a:p>
          <a:p/>
          <a:p>
            <a:r>
              <a:t>来源：课程小组汇报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老师意见修订版｜第2/30页｜本页讲述预算35秒</a:t>
            </a:r>
          </a:p>
          <a:p/>
          <a:p>
            <a:r>
              <a:t>我们保留三个问题：先描述样本覆盖、媒体和点赞，再看实际可观测文字线索与探索性成分的条件关联，最后描述评论回应与参与。内容标签、原始话题和模型成分不是同一对象，本次会把它们分开。</a:t>
            </a:r>
          </a:p>
          <a:p/>
          <a:p>
            <a:r>
              <a:t>讲述重点：补充研究意义，总问题与三个RQ一一对应。</a:t>
            </a:r>
          </a:p>
          <a:p/>
          <a:p>
            <a:r>
              <a:t>来源：原报告§1；同伴版研究设计页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老师意见修订版｜第3/30页｜本页讲述预算40秒</a:t>
            </a:r>
          </a:p>
          <a:p/>
          <a:p>
            <a:r>
              <a:t>样本有9,532帖、100位作者，以及去重后的11,595条评论。重复评论删重，缺失正文保留并标记；点赞与浏览口径不同，因此不算点赞率。只有1,323帖采到评论，其余覆盖记为未知。模型日期和时段统一用北京时间。主题另有2,470帖的子样本，不能把它当作全部内容。</a:t>
            </a:r>
          </a:p>
          <a:p/>
          <a:p>
            <a:r>
              <a:t>讲述重点：补齐评论覆盖未知与北京时间处理；表格保留供核对。</a:t>
            </a:r>
          </a:p>
          <a:p/>
          <a:p>
            <a:r>
              <a:t>来源：summary.json；analyze.py时间与清洗；dyx第3页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老师意见修订版｜第4/30页｜本页讲述预算32秒</a:t>
            </a:r>
          </a:p>
          <a:p/>
          <a:p>
            <a:r>
              <a:t>图片和视频帖平均约51和48个赞，文字与无媒体约8和4个。整体分布中，大量帖子在低区间，少量高赞拖出长尾：均值37，中位数25，最高超过五千。因此描述普通帖不能只报平均数，还要同时看中位数与尾部。媒体和反馈的分布已经看到，接着进入正文内容，看这些帖子主要讨论什么。</a:t>
            </a:r>
          </a:p>
          <a:p/>
          <a:p>
            <a:r>
              <a:t>讲述重点：只回答分布，不提前讲控制模型。</a:t>
            </a:r>
          </a:p>
          <a:p/>
          <a:p>
            <a:r>
              <a:t>来源：media_summary.csv；descriptive_statistics.csv；既有post_features分布汇总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老师意见修订版｜第5/30页｜本页讲述预算35秒</a:t>
            </a:r>
          </a:p>
          <a:p/>
          <a:p>
            <a:r>
              <a:t>旧模型将2,470条正文分解成五个成分，训练交流和生活问候只是沿用的解释名称。52.7%和35.8%是最高权重成分的份额，不能视为经过验证的真实内容比例。连续权重本来允许同一帖含多个成分；下一页进一步检查模型覆盖和语义错配。</a:t>
            </a:r>
          </a:p>
          <a:p/>
          <a:p>
            <a:r>
              <a:t>讲述重点：将模型成分与真实内容分类分开。</a:t>
            </a:r>
          </a:p>
          <a:p/>
          <a:p>
            <a:r>
              <a:t>来源：extension_topics.csv；extension_summary.json；topic_labels.json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老师意见修订版｜第7/30页｜本页讲述预算30秒</a:t>
            </a:r>
          </a:p>
          <a:p/>
          <a:p>
            <a:r>
              <a:t>原静蹲成分的85帖里78帖来自一人，骑行85帖中58帖也来自同一作者。作者等权后的静蹲份额从3.4%降到0.6%，说明篇幅受高产作者影响。但旧做法先拟合再改汇总权重，没有重做NMF，因此不能据此证明分类结构已经稳健。</a:t>
            </a:r>
          </a:p>
          <a:p/>
          <a:p>
            <a:r>
              <a:t>讲述重点：区分拟合阶段与汇总阶段的作者影响。</a:t>
            </a:r>
          </a:p>
          <a:p/>
          <a:p>
            <a:r>
              <a:t>来源：supplemental_topic_author_weighting.csv；extension_topics.csv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老师意见修订版｜第8/30页｜本页讲述预算22秒</a:t>
            </a:r>
          </a:p>
          <a:p/>
          <a:p>
            <a:r>
              <a:t>RQ1可以确认媒体点赞不同、整体有长尾；但内容分布必须收窄解释。只有45.6%的非空正文进入NMF，成分名称有错配，份额还受重复与高产作者影响。下面的RQ2因此比较指定文字线索和探索性成分，不把它们当作全部内容。</a:t>
            </a:r>
          </a:p>
          <a:p/>
          <a:p>
            <a:r>
              <a:t>讲述重点：一句回答后转入RQ2，不重复数字。</a:t>
            </a:r>
          </a:p>
          <a:p/>
          <a:p>
            <a:r>
              <a:t>来源：样本、媒体分布、主题与作者权重结果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老师意见修订版｜第9/30页｜本页讲述预算32秒</a:t>
            </a:r>
          </a:p>
          <a:p/>
          <a:p>
            <a:r>
              <a:t>RQ2先定义五项文字线索：长度取对数，自律、社交、积极表达和问号命中记一，各项可以重叠。右图看到，四类命中组的原始平均点赞都更高。但这还不是用词效果，下一页看组别的媒体和作者构成。回归结果仍用一加点赞的对数。</a:t>
            </a:r>
          </a:p>
          <a:p/>
          <a:p>
            <a:r>
              <a:t>讲述重点：把变量定义与原始均值放在一起；比较顺序仍属RQ2。</a:t>
            </a:r>
          </a:p>
          <a:p/>
          <a:p>
            <a:r>
              <a:t>来源：text_dictionary.json；text_features_summary.csv；dyx第6页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老师意见修订版｜第12/30页｜本页讲述预算28秒</a:t>
            </a:r>
          </a:p>
          <a:p/>
          <a:p>
            <a:r>
              <a:t>积极表达命中组平均约57赞，未命中约36赞。但图片或视频占比也从69.1%升到94.9%，涉及的作者范围同样不同。因此要把文字、媒体、作者和日期一起纳入模型，判断这些用词是否还有额外关联。</a:t>
            </a:r>
          </a:p>
          <a:p/>
          <a:p>
            <a:r>
              <a:t>讲述重点：用媒体构成的实际差别引出控制模型，不重复上一页原始均值图。</a:t>
            </a:r>
          </a:p>
          <a:p/>
          <a:p>
            <a:r>
              <a:t>来源：descriptive_additions.json；dyx第10页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老师意见修订版｜第13/30页｜本页讲述预算40秒</a:t>
            </a:r>
          </a:p>
          <a:p/>
          <a:p>
            <a:r>
              <a:t>保留M3作为历史基线，方程和原结果不变。作者固定效应利用同一作者内不同帖子的变化，日期效应调整公共发帖日差异。原模型已控制有无话题标签。缺失正文设零加标记不能恢复未记录的文字，所以后面并列比较实际可观测正文的两个范围，不按显著性挑模型。</a:t>
            </a:r>
          </a:p>
          <a:p/>
          <a:p>
            <a:r>
              <a:t>讲述重点：读方程的组成，明确下一页是哪一个模型的推断。</a:t>
            </a:r>
          </a:p>
          <a:p/>
          <a:p>
            <a:r>
              <a:t>来源：analyze.py formula()/models()；model_fit.csv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老师意见修订版｜第14/30页｜本页讲述预算45秒</a:t>
            </a:r>
          </a:p>
          <a:p/>
          <a:p>
            <a:r>
              <a:t>M3的原结果可以复算：积极表达系数负0.086、原始p为0.016，五项BH校正后q为0.079，联合p为0.130。这只对应9,532帖和原缺失处理。它不能推出积极用词降低点赞，也不能概括不同正文覆盖人群。下一页比较三种正文口径。</a:t>
            </a:r>
          </a:p>
          <a:p/>
          <a:p>
            <a:r>
              <a:t>讲述重点：解释p与q的区别、整组新增解释，以及为什么继续做敏感性分析。</a:t>
            </a:r>
          </a:p>
          <a:p/>
          <a:p>
            <a:r>
              <a:t>来源：regression_coefficients.csv M3；summary.json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老师意见修订版｜第16/30页｜本页讲述预算35秒</a:t>
            </a:r>
          </a:p>
          <a:p/>
          <a:p>
            <a:r>
              <a:t>把自律、社交和积极表达放在一起看：不同处理下，积极表达方向都为负，自律和社交则没有同样的一致方向。但PPML的积极表达区间跨零，方向一致仍不足以确认稳定负效应。表中保留了具体系数和区间，接着看整篇内容的主题能否补充关联。</a:t>
            </a:r>
          </a:p>
          <a:p/>
          <a:p>
            <a:r>
              <a:t>讲述重点：用三联区间图呈现敏感性；只口头解释方向与不确定性，不逐格读表。</a:t>
            </a:r>
          </a:p>
          <a:p/>
          <a:p>
            <a:r>
              <a:t>来源：regression_coefficients.csv；model_fit.csv；dyx第13页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老师意见修订版｜第19/30页｜本页讲述预算35秒</a:t>
            </a:r>
          </a:p>
          <a:p/>
          <a:p>
            <a:r>
              <a:t>原来的输入是连续权重，不是互斥虚拟变量。五项权重和为一，所以省去训练成分作参照；这是组成约束，不表示语义互斥。旧系数与联合p为0.166可以复算，但名称未经语义验证，也没有纳入主题估计不确定性，只能作成分数值关联的探索性核查。</a:t>
            </a:r>
          </a:p>
          <a:p/>
          <a:p>
            <a:r>
              <a:t>讲述重点：旧连续成分回归是可复算的数值关联，不是真实主题效应。</a:t>
            </a:r>
          </a:p>
          <a:p/>
          <a:p>
            <a:r>
              <a:t>来源：extension_topic_regression.csv；extend_analysis.py；extension_summary.json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老师意见修订版｜第21/30页｜本页讲述预算35秒</a:t>
            </a:r>
          </a:p>
          <a:p/>
          <a:p>
            <a:r>
              <a:t>RQ2的结论需要修订。正文口径从全样本到非空正文，联合p由0.130变为0.040，不能笼统说全部设定都不显著；也不能因为这个模型更显著就换成确认性答案。字面规则只测局部表达，旧成分名称尚未验证，作者与tag检查不能修复这些问题。因此现在报告的是有限范围的观察性关联，暂不做真实内容主题的稳定排序。</a:t>
            </a:r>
          </a:p>
          <a:p/>
          <a:p>
            <a:r>
              <a:t>讲述重点：明确改正原结论的范围，不把新显著结果包装成因果。</a:t>
            </a:r>
          </a:p>
          <a:p/>
          <a:p>
            <a:r>
              <a:t>来源：M3、敏感性与连续主题权重回归结果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老师意见修订版｜第22/30页｜本页讲述预算30秒</a:t>
            </a:r>
          </a:p>
          <a:p/>
          <a:p>
            <a:r>
              <a:t>评论中位长度六个字符。“加油”涉及431人，“谢谢”只有53人，前者使用面更广，后者更集中。按角色看，读者更常赞许，帖主更常感谢。但总体词频还不能告诉我们某条留言怎样被回，所以下一步逐条配对。</a:t>
            </a:r>
          </a:p>
          <a:p/>
          <a:p>
            <a:r>
              <a:t>讲述重点：解释发言人数与角色差异，不逐项读图中比例。</a:t>
            </a:r>
          </a:p>
          <a:p/>
          <a:p>
            <a:r>
              <a:t>来源：comment_text_features.csv；comment_text_terms.csv；comment_text_summary.json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老师意见修订版｜第23/30页｜本页讲述预算45秒</a:t>
            </a:r>
          </a:p>
          <a:p/>
          <a:p>
            <a:r>
              <a:t>以6,609条外来根评论为单位，从留言发出起七天内查找帖主的直接回复，有回复时只取最早一条。左图看全部根评论：鼓励组的观测回复比例是43.5%，低于56.3%。右图只看已回复记录：鼓励组首回含感谢为26.7%，高于6.4%。所以，更常感谢不等于更容易被回。这只是描述性对照，接着看回复怎样形成账号之间的往来。</a:t>
            </a:r>
          </a:p>
          <a:p/>
          <a:p>
            <a:r>
              <a:t>讲述重点：先交代配对规则，再解释两张图的不同分母；不讲线程参与。</a:t>
            </a:r>
          </a:p>
          <a:p/>
          <a:p>
            <a:r>
              <a:t>来源：supplemental_direct_reply_language.csv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老师意见修订版｜第24/30页｜本页讲述预算30秒</a:t>
            </a:r>
          </a:p>
          <a:p/>
          <a:p>
            <a:r>
              <a:t>根评论连到帖主，明确回复连到被回复账号，多次互动累加为边权，并排除自我互动。忽略方向后，94.4%的账号处于最大连通部分，但密度仅0.0473%：许多人通过帖主间接相连，直接往来却很稀疏。下一页再看谁在接话。</a:t>
            </a:r>
          </a:p>
          <a:p/>
          <a:p>
            <a:r>
              <a:t>讲述重点：说明建边规则与结构结论，账号数和边数留在图旁核对。</a:t>
            </a:r>
          </a:p>
          <a:p/>
          <a:p>
            <a:r>
              <a:t>来源：summary.json network；figures/06_comment_network.png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老师意见修订版｜第25/30页｜本页讲述预算25秒</a:t>
            </a:r>
          </a:p>
          <a:p/>
          <a:p>
            <a:r>
              <a:t>明确回复中，89%由帖主发给其他用户，用户彼此回复只有2%。这些往来主要是读者面向帖主留言、帖主接话。注意，89%是回复事件构成，不是留言被回率。下一页进一步看这些留言和回话怎样形成双向连接。</a:t>
            </a:r>
          </a:p>
          <a:p/>
          <a:p>
            <a:r>
              <a:t>讲述重点：用回复方向解释网络，再转入次数和参与人数。</a:t>
            </a:r>
          </a:p>
          <a:p/>
          <a:p>
            <a:r>
              <a:t>来源：extension_comment_roles.csv；summary.json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老师意见修订版｜第26/30页｜本页讲述预算30秒</a:t>
            </a:r>
          </a:p>
          <a:p/>
          <a:p>
            <a:r>
              <a:t>全部互动中，49.6%的有向边同时有反向连接；只看明确回复降到29.9%，说明根评论加回话构成了不少双向往来。首周互惠率为74.1%，但账号和边的构成也换了，不能解释成同一批关系后来变淡。接着看高互动量由多少人贡献。</a:t>
            </a:r>
          </a:p>
          <a:p/>
          <a:p>
            <a:r>
              <a:t>讲述重点：分清边层面的互惠率、事件集中度和两种观察窗口。</a:t>
            </a:r>
          </a:p>
          <a:p/>
          <a:p>
            <a:r>
              <a:t>来源：summary.json network；extension_window_networks.csv；dyx第21页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老师意见修订版｜第27/30页｜本页讲述预算30秒</a:t>
            </a:r>
          </a:p>
          <a:p/>
          <a:p>
            <a:r>
              <a:t>U1528收到1,378次，来自53人；U0948收到1,275次，却来自1,091人。两者次数接近，参与范围差别很大。U0112的180次只来自4人，也说明高互动量可能是少数人反复出现。次数和不同发送者人数要一起看，才能判断这些留言由多广的参与面构成。</a:t>
            </a:r>
          </a:p>
          <a:p/>
          <a:p>
            <a:r>
              <a:t>讲述重点：用两个主要账号解释次数与人数；第三例点到即可，直接收束RQ3。</a:t>
            </a:r>
          </a:p>
          <a:p/>
          <a:p>
            <a:r>
              <a:t>来源：network_nodes.csv；summary.json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老师意见修订版｜第28/30页｜本页讲述预算18秒</a:t>
            </a:r>
          </a:p>
          <a:p/>
          <a:p>
            <a:r>
              <a:t>更常感谢不等于更容易被回。回话主要围绕帖主，互惠率随规则和窗口变化；高留言量也可能来自少数人，因此还要看参与人数。</a:t>
            </a:r>
          </a:p>
          <a:p/>
          <a:p>
            <a:r>
              <a:t>讲述重点：串起语言、回复、双向关系与参与广度。</a:t>
            </a:r>
          </a:p>
          <a:p/>
          <a:p>
            <a:r>
              <a:t>来源：评论语言、直接配对、双向关系、窗口比较与参与人数结果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老师意见修订版｜第29/30页｜本页讲述预算25秒</a:t>
            </a:r>
          </a:p>
          <a:p/>
          <a:p>
            <a:r>
              <a:t>本次补充显示，样本覆盖、可观测文字和主题标签的语义都限制了判断。评论网络仍沿用原结果，本轮未重审其全部计算。下一步先由两名同学独立编码并验证内容边界，再冻结分类和重跑正式主题比较；曝光和统一观察窗口仍需额外数据。</a:t>
            </a:r>
          </a:p>
          <a:p/>
          <a:p>
            <a:r>
              <a:t>讲述重点：只讲样本与覆盖、观察性关联以及对应改进。</a:t>
            </a:r>
          </a:p>
          <a:p/>
          <a:p>
            <a:r>
              <a:t>来源：原报告§9.3—9.4；数据与模型口径核查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老师意见修订版｜第30/30页｜本页讲述预算8秒</a:t>
            </a:r>
          </a:p>
          <a:p/>
          <a:p>
            <a:r>
              <a:t>陈霖负责问题提出、清洗和RQ1，董依心负责RQ2与RQ3。谢谢大家。</a:t>
            </a:r>
          </a:p>
          <a:p/>
          <a:p>
            <a:r>
              <a:t>讲述重点：按确认分工署名。</a:t>
            </a:r>
          </a:p>
          <a:p/>
          <a:p>
            <a:r>
              <a:t>来源：用户确认的实际分工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老师意见修订版｜第6/30页｜本页讲述预算45秒</a:t>
            </a:r>
          </a:p>
          <a:p/>
          <a:p>
            <a:r>
              <a:t>2,470帖只占全部帖子的25.9%、非空正文的45.6%。剩下的有短文本、有未覆盖领域，也有信息不足，不能全部视为没有主题。每个成分抽12帖，共60帖，单轮AI筛查发现12条不支持被分配名称、6条仅部分支持、2条不足判断；这不能推算总体错误率。删掉104条重复正文后，静蹲不再单列，并出现早餐咖啡等词群。类别数和作者等权拟合也会改变结构，说明高权重和跨随机种子复现不等于语义有效。</a:t>
            </a:r>
          </a:p>
          <a:p/>
          <a:p>
            <a:r>
              <a:t>讲述重点：用覆盖、具体反例与拟合依赖说明分类问题。</a:t>
            </a:r>
          </a:p>
          <a:p/>
          <a:p>
            <a:r>
              <a:t>来源：teacher_label_coverage_summary.json；teacher_topic_structure_summary.json；label_review_annotations.json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老师意见修订版｜第10/30页｜本页讲述预算40秒</a:t>
            </a:r>
          </a:p>
          <a:p/>
          <a:p>
            <a:r>
              <a:t>这四项应称为三类词汇加一类问号。自律词观察目标行动，社交词观察面向他人的称呼或邀请，积极词观察感受赞许的表面用词，问号只是可观察的标点。它们角度不同，允许同帖同时出现；加油、谢谢等仍有跨维度语义。5,414条非空正文中有3,891条完全未命中，所以这套规则只能检验指定字面线索，不能代表帖子全部内容或真实心理状态。</a:t>
            </a:r>
          </a:p>
          <a:p/>
          <a:p>
            <a:r>
              <a:t>讲述重点：分类理由与测量边界一起说明。</a:t>
            </a:r>
          </a:p>
          <a:p/>
          <a:p>
            <a:r>
              <a:t>来源：teacher_feedback_dictionary.json definitions；teacher_label_coverage_summary.json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老师意见修订版｜第11/30页｜本页讲述预算30秒</a:t>
            </a:r>
          </a:p>
          <a:p/>
          <a:p>
            <a:r>
              <a:t>共现不等于共线性。完整M3有182列且满秩，四项VIF约1.11到1.75，最大两两相关0.119，作者内最大相关0.085。182帖同时命中两项以上。现有数值不支持因为高度重复就机械合并变量；但低VIF不能证明它们测准了理论概念，仍需人工语义验证。</a:t>
            </a:r>
          </a:p>
          <a:p/>
          <a:p>
            <a:r>
              <a:t>讲述重点：区分数值冗余与测量效度。</a:t>
            </a:r>
          </a:p>
          <a:p/>
          <a:p>
            <a:r>
              <a:t>来源：teacher_feedback_dictionary.json；teacher_feedback_dictionary_pairs.csv；teacher_feedback_dictionary_vif.csv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老师意见修订版｜第15/30页｜本页讲述预算45秒</a:t>
            </a:r>
          </a:p>
          <a:p/>
          <a:p>
            <a:r>
              <a:t>缺失正文填零加has_text，不等于实际观察到没有相应用词。has_text表示原始正文可见，5,548帖；清理后真正非空只有5,414帖。全样本联合p为0.130，原始正文可见为0.067，非空正文为0.040；非空正文中长度和积极表达的模型内BH q约0.048。这个结果接近阈值，而且是探索性重分析，不能按显著性挑模型。修订后的文字问题应限定实际可观察正文，原M3保留作历史对照。</a:t>
            </a:r>
          </a:p>
          <a:p/>
          <a:p>
            <a:r>
              <a:t>讲述重点：解释不同人群、缺失选择与探索性，不只报告更显著模型。</a:t>
            </a:r>
          </a:p>
          <a:p/>
          <a:p>
            <a:r>
              <a:t>来源：teacher_complete_body_model.json；analyze_complete_body.py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老师意见修订版｜第17/30页｜本页讲述预算40秒</a:t>
            </a:r>
          </a:p>
          <a:p/>
          <a:p>
            <a:r>
              <a:t>全样本100位作者中只有两位单帖，中位66帖；但主题子样本86位作者中有10位单帖，中位14帖，不能用前者为后者作保证。分别保留至少5帖和10帖作者，主模型联合p基本不变；成分模型p由0.166到0.179和0.266，作者支持缩小到48人。自律、社交、积极和问号分别在76、42、64、32位作者内变化，所以稀少线索并没有100位有效变化来源。</a:t>
            </a:r>
          </a:p>
          <a:p/>
          <a:p>
            <a:r>
              <a:t>讲述重点：按实际模型样本计数；不把不显著当作已解决所有支持问题。</a:t>
            </a:r>
          </a:p>
          <a:p/>
          <a:p>
            <a:r>
              <a:t>来源：teacher_author_tags_summary.json；teacher_topic_author_support.json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老师意见修订版｜第18/30页｜本页讲述预算40秒</a:t>
            </a:r>
          </a:p>
          <a:p/>
          <a:p>
            <a:r>
              <a:t>5,209帖有原始tag，共269种，其中1,517帖缺正文。原M3已经控制has_tag，不是完全没考虑标签。本轮在原正文编码上增加9个频繁跨作者tag身份控制，联合p为0.102；把tag拼入正文后重编码，p为0.173。但拼接使自律命中877增至3,342、问号125增至354，很多来自统一话题措辞。原始tag不是正文语义金标准，拼接结果不能冒充原正文的同一效应。</a:t>
            </a:r>
          </a:p>
          <a:p/>
          <a:p>
            <a:r>
              <a:t>讲述重点：明确控制变量与重新定义文本的差别。</a:t>
            </a:r>
          </a:p>
          <a:p/>
          <a:p>
            <a:r>
              <a:t>来源：teacher_author_tags_summary.json；teacher_author_tags_tag_recoding_changes.csv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老师意见修订版｜第20/30页｜本页讲述预算35秒</a:t>
            </a:r>
          </a:p>
          <a:p/>
          <a:p>
            <a:r>
              <a:t>原来五个主题权重在零到一之间，但不是二元变量；互斥只发生在主导成分描述图。现在保留冻结权重，额外设置权重至少0.20时标一，1,088帖同时有两个以上标记，五项比例加总145.9%。五个二元标记可以一起入模，设计矩阵171列满秩，不需机械省一类。三个阈值下联合p都没有明确证据，但这些便捷阈值和原名称都未经语义验证，技术可估计不代表分类有效。</a:t>
            </a:r>
          </a:p>
          <a:p/>
          <a:p>
            <a:r>
              <a:t>讲述重点：允许同帖多成分，避免把参数化诊断包装为新内容标签。</a:t>
            </a:r>
          </a:p>
          <a:p/>
          <a:p>
            <a:r>
              <a:t>来源：teacher_topic_summary.json；teacher_topic_models.csv；teacher_topic_regression.csv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chart" Target="..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4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社交媒体网络分析 · 课程小组汇报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01 / 30</a:t>
            </a:r>
          </a:p>
        </p:txBody>
      </p:sp>
      <p:sp>
        <p:nvSpPr>
          <p:cNvPr id="4" name="Text 2"/>
          <p:cNvSpPr/>
          <p:nvPr/>
        </p:nvSpPr>
        <p:spPr>
          <a:xfrm>
            <a:off x="6858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dirty="0">
                <a:solidFill>
                  <a:srgbClr val="C3D9CE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 社区</a:t>
            </a:r>
            <a:endParaRPr lang="zh-CN" sz="25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9784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内容表达与</a:t>
            </a:r>
            <a:endParaRPr lang="zh-CN" sz="4000" dirty="0"/>
          </a:p>
          <a:p>
            <a:pPr indent="0" marL="0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互动反馈分析</a:t>
            </a:r>
            <a:endParaRPr lang="zh-CN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76732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dirty="0">
                <a:solidFill>
                  <a:srgbClr val="DCEAE1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哪些内容获得更多点赞反馈，评论又如何互动？</a:t>
            </a:r>
            <a:endParaRPr lang="zh-CN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44982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  ·  董依心</a:t>
            </a:r>
            <a:endParaRPr lang="zh-CN" sz="2100"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7365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DD3C8"/>
                </a:solidFill>
                <a:latin typeface="Arial Unicode MS"/>
              </a:rPr>
              <a:t>老师意见修订版 · 正文口径与测量效度复核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研究背景、意义与研究问题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研究背景、问题与预期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预期是待检验的可能解释，后文按相同RQ编号逐项回答。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02 / 30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健身社区里，什么内容受到关注，人们又怎样交流？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17627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Keep既记录运动，也承载经验、感受与生活分享。点赞体现可见反馈，评论记录谁在接话。</a:t>
            </a:r>
            <a:endParaRPr lang="zh-CN" sz="1700" dirty="0"/>
          </a:p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创作者关心什么内容得到关注；平台则关心互动是否集中在少数账号、是否有更多人参与。</a:t>
            </a:r>
            <a:endParaRPr lang="zh-CN" sz="1700" dirty="0"/>
          </a:p>
        </p:txBody>
      </p:sp>
      <p:sp>
        <p:nvSpPr>
          <p:cNvPr id="9" name="Text 7"/>
          <p:cNvSpPr/>
          <p:nvPr/>
        </p:nvSpPr>
        <p:spPr>
          <a:xfrm>
            <a:off x="795528" y="3017520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三个具体问题</a:t>
            </a:r>
            <a:endParaRPr lang="zh-CN" sz="1600" dirty="0"/>
          </a:p>
        </p:txBody>
      </p:sp>
      <p:sp>
        <p:nvSpPr>
          <p:cNvPr id="10" name="Text 8"/>
          <p:cNvSpPr/>
          <p:nvPr/>
        </p:nvSpPr>
        <p:spPr>
          <a:xfrm>
            <a:off x="6419088" y="3017520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对应预期：可能出现的结果</a:t>
            </a:r>
            <a:endParaRPr lang="zh-CN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95528" y="3657600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样本覆盖、媒体与点赞怎样分布？</a:t>
            </a:r>
          </a:p>
        </p:txBody>
      </p:sp>
      <p:sp>
        <p:nvSpPr>
          <p:cNvPr id="13" name="Text 11"/>
          <p:cNvSpPr/>
          <p:nvPr/>
        </p:nvSpPr>
        <p:spPr>
          <a:xfrm>
            <a:off x="6419088" y="36118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媒体反馈可能不同，高赞帖可能拉高均值；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正文也可能同时包含运动与生活分享。</a:t>
            </a:r>
            <a:endParaRPr lang="zh-CN" sz="165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27080" cy="813816"/>
          </a:xfrm>
          <a:prstGeom prst="rect">
            <a:avLst/>
          </a:prstGeom>
          <a:solidFill>
            <a:srgbClr val="F6F8F7"/>
          </a:solidFill>
          <a:ln w="12700">
            <a:solidFill>
              <a:srgbClr val="F6F8F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95528" y="4544568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可观测文字线索与成分是否与点赞相关？</a:t>
            </a:r>
          </a:p>
        </p:txBody>
      </p:sp>
      <p:sp>
        <p:nvSpPr>
          <p:cNvPr id="16" name="Text 14"/>
          <p:cNvSpPr/>
          <p:nvPr/>
        </p:nvSpPr>
        <p:spPr>
          <a:xfrm>
            <a:off x="6419088" y="449884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指定字面线索可能对应点赞差异；</a:t>
            </a:r>
          </a:p>
          <a:p>
            <a:pPr indent="0" marL="0">
              <a:buNone/>
            </a:pPr>
            <a:r>
              <a:rPr lang="zh-CN" altLang="en-US" sz="16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需检查测量、正文覆盖与作者内比较。</a:t>
            </a:r>
          </a:p>
        </p:txBody>
      </p:sp>
      <p:sp>
        <p:nvSpPr>
          <p:cNvPr id="17" name="Shape 15"/>
          <p:cNvSpPr/>
          <p:nvPr/>
        </p:nvSpPr>
        <p:spPr>
          <a:xfrm>
            <a:off x="640080" y="5276088"/>
            <a:ext cx="10927080" cy="81381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95528" y="5431536"/>
            <a:ext cx="5349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评论说什么，形成怎样的互动网络？</a:t>
            </a:r>
            <a:endParaRPr lang="zh-CN" sz="1750" dirty="0"/>
          </a:p>
        </p:txBody>
      </p:sp>
      <p:sp>
        <p:nvSpPr>
          <p:cNvPr id="19" name="Text 17"/>
          <p:cNvSpPr/>
          <p:nvPr/>
        </p:nvSpPr>
        <p:spPr>
          <a:xfrm>
            <a:off x="6419088" y="538581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读者与帖主、读者彼此都可能互动；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评论量可能来自广泛参与或少数人反复往来。</a:t>
            </a:r>
            <a:endParaRPr lang="zh-CN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研究设计与数据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数据来源、清洗与分析方法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数据来源与清洗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课程100位作者样本；帖子发表于2020年11—12月（UTC），评论最晚至2021年8月。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03 / 30</a:t>
            </a:r>
          </a:p>
        </p:txBody>
      </p:sp>
      <p:sp>
        <p:nvSpPr>
          <p:cNvPr id="7" name="Text 5"/>
          <p:cNvSpPr/>
          <p:nvPr/>
        </p:nvSpPr>
        <p:spPr>
          <a:xfrm>
            <a:off x="658368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9,532</a:t>
            </a:r>
            <a:endParaRPr lang="zh-CN" sz="3400" dirty="0"/>
          </a:p>
        </p:txBody>
      </p:sp>
      <p:sp>
        <p:nvSpPr>
          <p:cNvPr id="8" name="Text 6"/>
          <p:cNvSpPr/>
          <p:nvPr/>
        </p:nvSpPr>
        <p:spPr>
          <a:xfrm>
            <a:off x="658368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 · 100位作者</a:t>
            </a:r>
            <a:endParaRPr lang="zh-CN" sz="1550" dirty="0"/>
          </a:p>
        </p:txBody>
      </p:sp>
      <p:sp>
        <p:nvSpPr>
          <p:cNvPr id="9" name="Text 7"/>
          <p:cNvSpPr/>
          <p:nvPr/>
        </p:nvSpPr>
        <p:spPr>
          <a:xfrm>
            <a:off x="4370832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11,595</a:t>
            </a:r>
            <a:endParaRPr lang="zh-CN" sz="3400" dirty="0"/>
          </a:p>
        </p:txBody>
      </p:sp>
      <p:sp>
        <p:nvSpPr>
          <p:cNvPr id="10" name="Text 8"/>
          <p:cNvSpPr/>
          <p:nvPr/>
        </p:nvSpPr>
        <p:spPr>
          <a:xfrm>
            <a:off x="4370832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去重后评论</a:t>
            </a:r>
            <a:endParaRPr lang="zh-CN" sz="1550" dirty="0"/>
          </a:p>
        </p:txBody>
      </p:sp>
      <p:sp>
        <p:nvSpPr>
          <p:cNvPr id="11" name="Text 9"/>
          <p:cNvSpPr/>
          <p:nvPr/>
        </p:nvSpPr>
        <p:spPr>
          <a:xfrm>
            <a:off x="8092440" y="1673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1,323</a:t>
            </a:r>
            <a:endParaRPr lang="zh-CN" sz="3400" dirty="0"/>
          </a:p>
        </p:txBody>
      </p:sp>
      <p:sp>
        <p:nvSpPr>
          <p:cNvPr id="12" name="Text 10"/>
          <p:cNvSpPr/>
          <p:nvPr/>
        </p:nvSpPr>
        <p:spPr>
          <a:xfrm>
            <a:off x="8092440" y="23957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采集到评论的帖子</a:t>
            </a:r>
            <a:endParaRPr lang="zh-CN" sz="15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944368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1148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核查发现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处理方式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分析含义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1,916行重复评论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按评论ID去重，无字段冲突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避免同一发言被重复计入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3,984帖缺可用正文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保留；文字计数设0并另作标记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不能把缺失当作真实无文字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8,286帖点赞高于记录浏览数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使用累计点赞，不计算点赞率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不解释为曝光转化效率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仅1,323帖有已采集评论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其余帖子的评论覆盖记为未知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不作评论数的全样本回归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原始时间字段按UTC解析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模型日期与时段统一为北京时间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便于按国内用户的发布情境比较</a:t>
                      </a:r>
                      <a:endParaRPr lang="en-US" sz="14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85800" y="5715000"/>
            <a:ext cx="107899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原始正文可见5,548帖；清理后非空5,414帖；NMF权重另有2,470帖、86位作者。</a:t>
            </a:r>
          </a:p>
          <a:p>
            <a:pPr indent="0" marL="0">
              <a:buNone/>
            </a:pPr>
            <a:r>
              <a:rPr lang="zh-CN" altLang="en-US" sz="15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三种口径回答不同范围的问题；缺失标记不能恢复未记录的文字。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图片和视频帖点赞更高，整体分布同时存在长尾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两图为原始描述；右图显示各点赞区间的帖子数，区间宽度不同，不表示概率密度。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04 / 30</a:t>
            </a:r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不同媒体的平均点赞</a:t>
            </a:r>
            <a:endParaRPr lang="zh-CN" sz="1800" dirty="0"/>
          </a:p>
        </p:txBody>
      </p:sp>
      <p:sp>
        <p:nvSpPr>
          <p:cNvPr id="8" name="Text 6"/>
          <p:cNvSpPr/>
          <p:nvPr/>
        </p:nvSpPr>
        <p:spPr>
          <a:xfrm>
            <a:off x="6364224" y="16916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点赞区间中的帖子数</a:t>
            </a:r>
            <a:endParaRPr lang="zh-CN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03504" y="2157984"/>
          <a:ext cx="5276088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Chart 1" descr=""/>
          <p:cNvGraphicFramePr/>
          <p:nvPr/>
        </p:nvGraphicFramePr>
        <p:xfrm>
          <a:off x="6263640" y="2157984"/>
          <a:ext cx="5340096" cy="25237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694944" y="489204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均值37.05  ·  中位数25  ·  95%分位109.45  ·  最高5,126</a:t>
            </a:r>
            <a:endParaRPr lang="zh-CN" sz="1800" dirty="0"/>
          </a:p>
        </p:txBody>
      </p:sp>
      <p:sp>
        <p:nvSpPr>
          <p:cNvPr id="12" name="Text 8"/>
          <p:cNvSpPr/>
          <p:nvPr/>
        </p:nvSpPr>
        <p:spPr>
          <a:xfrm>
            <a:off x="694944" y="550468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少量高赞帖拉高平均数，均值不能代表普通帖；媒体均值也相差约一个数量级。</a:t>
            </a:r>
            <a:endParaRPr lang="zh-CN" sz="1800" dirty="0"/>
          </a:p>
        </p:txBody>
      </p:sp>
      <p:sp>
        <p:nvSpPr>
          <p:cNvPr id="13" name="Text 9"/>
          <p:cNvSpPr/>
          <p:nvPr/>
        </p:nvSpPr>
        <p:spPr>
          <a:xfrm>
            <a:off x="694944" y="6025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媒体形式和点赞分布说明了反馈的基本差异；接着看有正文的帖子主要在写什么。</a:t>
            </a:r>
            <a:endParaRPr lang="zh-CN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NMF成分占比：不等于真实内容分类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沿用原成分名称便于核对，尚未经语义效度验证；占比是主导成分份额。</a:t>
            </a: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05 / 30</a:t>
            </a:r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28800"/>
          <a:ext cx="65379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71232" y="1792224"/>
            <a:ext cx="4023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2,470帖 · 86位作者</a:t>
            </a:r>
            <a:endParaRPr lang="zh-CN" sz="2200" dirty="0"/>
          </a:p>
        </p:txBody>
      </p:sp>
      <p:sp>
        <p:nvSpPr>
          <p:cNvPr id="9" name="Text 6"/>
          <p:cNvSpPr/>
          <p:nvPr/>
        </p:nvSpPr>
        <p:spPr>
          <a:xfrm>
            <a:off x="7571232" y="2249424"/>
            <a:ext cx="4014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TF-IDF + NMF，固定提取5个成分</a:t>
            </a:r>
          </a:p>
        </p:txBody>
      </p:sp>
      <p:sp>
        <p:nvSpPr>
          <p:cNvPr id="10" name="Text 7"/>
          <p:cNvSpPr/>
          <p:nvPr/>
        </p:nvSpPr>
        <p:spPr>
          <a:xfrm>
            <a:off x="7571232" y="2670048"/>
            <a:ext cx="4014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训练交流：运动、减脂、训练、拉伸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生活问候：人生、生活、早安、美好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571232" y="3749040"/>
            <a:ext cx="40142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前两个主导成分合计88.5%，只是旧模型的数值分配；不能据此认定88.5%的正文在语义上确实属于这两类。</a:t>
            </a:r>
          </a:p>
        </p:txBody>
      </p:sp>
      <p:sp>
        <p:nvSpPr>
          <p:cNvPr id="12" name="Text 9"/>
          <p:cNvSpPr/>
          <p:nvPr/>
        </p:nvSpPr>
        <p:spPr>
          <a:xfrm>
            <a:off x="676656" y="5852160"/>
            <a:ext cx="1088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每帖取最高权重，仅用于这张描述图；原回归使用连续权重，同帖可有多个成分。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帖子主题与作者构成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成分份额也受到高产作者与重复记录影响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两组沿用冻结成分；作者等权描述只改变汇总权重，不改变原NMF拟合。</a:t>
            </a: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07 / 30</a:t>
            </a:r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10512"/>
          <a:ext cx="65836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89520" y="1828800"/>
            <a:ext cx="3977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静蹲：3.4% → 0.6%</a:t>
            </a:r>
            <a:endParaRPr lang="zh-CN" sz="26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397764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85条主导文档中，78条来自同一作者。作者等权汇总减少了这类重复贡献，但没有修复拟合阶段的模板影响。</a:t>
            </a:r>
          </a:p>
        </p:txBody>
      </p:sp>
      <p:sp>
        <p:nvSpPr>
          <p:cNvPr id="10" name="Text 7"/>
          <p:cNvSpPr/>
          <p:nvPr/>
        </p:nvSpPr>
        <p:spPr>
          <a:xfrm>
            <a:off x="7589520" y="4645152"/>
            <a:ext cx="39776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原训练成分52.7% → 52.6%，生活成分35.8% → 38.2%。这些仍是成分份额，不能代替语义验证。</a:t>
            </a:r>
          </a:p>
        </p:txBody>
      </p:sp>
      <p:sp>
        <p:nvSpPr>
          <p:cNvPr id="11" name="Text 8"/>
          <p:cNvSpPr/>
          <p:nvPr/>
        </p:nvSpPr>
        <p:spPr>
          <a:xfrm>
            <a:off x="685800" y="5998464"/>
            <a:ext cx="10835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作者等权调整的是成分描述份额，不修复拟合过程及名称的语义问题。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  内容与点赞的分布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数据覆盖与描述统计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RQ1的回答：这批帖子的内容和点赞怎样分布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范围：9,532帖；成分描述限于2,470帖；语义分类和覆盖不能由成分份额保证。</a:t>
            </a: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08 / 30</a:t>
            </a:r>
          </a:p>
        </p:txBody>
      </p:sp>
      <p:sp>
        <p:nvSpPr>
          <p:cNvPr id="7" name="Text 5"/>
          <p:cNvSpPr/>
          <p:nvPr/>
        </p:nvSpPr>
        <p:spPr>
          <a:xfrm>
            <a:off x="713232" y="1755648"/>
            <a:ext cx="10698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媒体不同，收到的点赞并不均匀。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图片和视频帖平均约51、48赞，文字与无媒体约8、4赞。整体均值37.05高于中位数25，少量高赞把分布拉出长尾；单用平均数会高估普通帖子的反馈水平。</a:t>
            </a:r>
            <a:endParaRPr lang="zh-CN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正文内容还不能用五个旧名称完整概括。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4306824"/>
            <a:ext cx="10652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2,470帖进入NMF，只占非空正文45.6%。语义抽查和删重诊断提示错配与结构依赖；旧名称只能作为探索性成分索引。</a:t>
            </a:r>
          </a:p>
        </p:txBody>
      </p:sp>
      <p:sp>
        <p:nvSpPr>
          <p:cNvPr id="11" name="Shape 9"/>
          <p:cNvSpPr/>
          <p:nvPr/>
        </p:nvSpPr>
        <p:spPr>
          <a:xfrm>
            <a:off x="676656" y="5596128"/>
            <a:ext cx="10936224" cy="58521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" y="5742432"/>
            <a:ext cx="10561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RQ2接着问：在可观测正文范围内，指定文字线索与点赞的条件关联有多稳？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不同文字表达的原始点赞有差异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词表识别字面线索，不是情绪量表；各词类可重叠，图中原始均值未作调整。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09 / 30</a:t>
            </a: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819656"/>
          <a:ext cx="5532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86200"/>
              </a:tblGrid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五项文字变量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定义与例子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正文长度 L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ln(1+清理后字符数)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 D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坚持、自律、目标、第N天等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 S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大家、小伙伴、谢谢、一起等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 P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开心、快乐、喜欢、哈哈等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 Q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全角或半角问号，出现记1</a:t>
                      </a:r>
                      <a:endParaRPr lang="en-US" sz="15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510528" y="17099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各词类的原始平均点赞</a:t>
            </a:r>
            <a:endParaRPr lang="zh-CN" sz="1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336792" y="2048256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685800" y="5193792"/>
            <a:ext cx="55778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三类词汇规则＋问号；除长度外，命中记1，可同时命中。</a:t>
            </a:r>
          </a:p>
        </p:txBody>
      </p:sp>
      <p:sp>
        <p:nvSpPr>
          <p:cNvPr id="11" name="Text 7"/>
          <p:cNvSpPr/>
          <p:nvPr/>
        </p:nvSpPr>
        <p:spPr>
          <a:xfrm>
            <a:off x="685800" y="574243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回归结果变量：ln(1+点赞数)，</a:t>
            </a:r>
            <a:endParaRPr lang="zh-CN" sz="1600" dirty="0"/>
          </a:p>
          <a:p>
            <a:pPr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用于处理RQ1看到的点赞长尾。</a:t>
            </a:r>
            <a:endParaRPr lang="zh-CN" sz="1600" dirty="0"/>
          </a:p>
        </p:txBody>
      </p:sp>
      <p:sp>
        <p:nvSpPr>
          <p:cNvPr id="12" name="Text 8"/>
          <p:cNvSpPr/>
          <p:nvPr/>
        </p:nvSpPr>
        <p:spPr>
          <a:xfrm>
            <a:off x="6510528" y="5532120"/>
            <a:ext cx="500176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四类命中组的原始均值都较高。</a:t>
            </a:r>
            <a:endParaRPr lang="zh-CN" sz="1650" dirty="0"/>
          </a:p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下一步检查：媒体和作者构成是否也不同？</a:t>
            </a:r>
            <a:endParaRPr lang="zh-CN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文字与点赞的原始差异，也伴随媒体构成差异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变量已在第9页定义；图示为各组图片或视频帖占比，尚未调整作者与发布情境。</a:t>
            </a: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12 / 30</a:t>
            </a:r>
          </a:p>
        </p:txBody>
      </p:sp>
      <p:sp>
        <p:nvSpPr>
          <p:cNvPr id="7" name="Text 5"/>
          <p:cNvSpPr/>
          <p:nvPr/>
        </p:nvSpPr>
        <p:spPr>
          <a:xfrm>
            <a:off x="685800" y="1709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积极表达两组的图片 / 视频帖占比</a:t>
            </a:r>
            <a:endParaRPr lang="zh-CN" sz="1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" y="2221992"/>
          <a:ext cx="6537960" cy="319125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16368" y="1947672"/>
          <a:ext cx="4087368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134416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组别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帖数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涉及作者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命中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574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64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未命中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8,958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100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562088" y="4041648"/>
            <a:ext cx="400507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平均点赞：57.29 vs 35.76</a:t>
            </a:r>
            <a:endParaRPr lang="zh-CN" sz="2000" dirty="0"/>
          </a:p>
        </p:txBody>
      </p:sp>
      <p:sp>
        <p:nvSpPr>
          <p:cNvPr id="11" name="Text 7"/>
          <p:cNvSpPr/>
          <p:nvPr/>
        </p:nvSpPr>
        <p:spPr>
          <a:xfrm>
            <a:off x="7562088" y="4828032"/>
            <a:ext cx="4005072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两组的媒体和作者构成都不同，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不能把原始差异直接归给措辞。</a:t>
            </a:r>
            <a:endParaRPr lang="zh-CN" sz="1750" dirty="0"/>
          </a:p>
        </p:txBody>
      </p:sp>
      <p:sp>
        <p:nvSpPr>
          <p:cNvPr id="12" name="Text 8"/>
          <p:cNvSpPr/>
          <p:nvPr/>
        </p:nvSpPr>
        <p:spPr>
          <a:xfrm>
            <a:off x="685800" y="5943600"/>
            <a:ext cx="10853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下一步：同时纳入媒体、作者和日期，比较文字线索是否仍有额外关联。</a:t>
            </a:r>
            <a:endParaRPr lang="zh-CN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用作者与日期固定效应，进一步改善比较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历史M3：N=9,532、100位作者；作者聚类推断，五项核心系数BH校正；正文口径另行对照。</a:t>
            </a: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 / 30</a:t>
            </a:r>
          </a:p>
        </p:txBody>
      </p:sp>
      <p:sp>
        <p:nvSpPr>
          <p:cNvPr id="7" name="Shape 5"/>
          <p:cNvSpPr/>
          <p:nvPr/>
        </p:nvSpPr>
        <p:spPr>
          <a:xfrm>
            <a:off x="621792" y="1700784"/>
            <a:ext cx="10972800" cy="8595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13816" y="1938528"/>
            <a:ext cx="1058875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2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历史基线 M3：ln(1 + 点赞数) = β′X + γ′C + α作者 + δ日期 + ε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2770632"/>
            <a:ext cx="10835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X：文本长度（对数）、自律、社交、积极、问号。C：原始正文可见、有无话题标签、表情、课程分享、媒体、业务类型与时段。</a:t>
            </a: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47872"/>
          <a:ext cx="1097280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4645152"/>
                <a:gridCol w="1097280"/>
                <a:gridCol w="393192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模型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调整范围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R²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积极表达系数 / 原始p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M1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已记录作者属性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0.563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−0.050 / 0.285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M2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0.685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−0.087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 历史基线</a:t>
                      </a: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X + C + 作者、日期固定效应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0.688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 / 0.016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85800" y="5687568"/>
            <a:ext cx="10835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加入作者固定效应后拟合度提高，提示作者差异值得考虑；积极表达在M1中就已为负。</a:t>
            </a:r>
            <a:endParaRPr lang="zh-CN" sz="1750" dirty="0"/>
          </a:p>
        </p:txBody>
      </p:sp>
      <p:sp>
        <p:nvSpPr>
          <p:cNvPr id="12" name="Text 9"/>
          <p:cNvSpPr/>
          <p:nvPr/>
        </p:nvSpPr>
        <p:spPr>
          <a:xfrm>
            <a:off x="685800" y="6144768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8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这里比较的是调整后的对数结果，不能把与原始均值的差别单独归因于某一个控制项。</a:t>
            </a:r>
            <a:endParaRPr lang="zh-CN" sz="12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历史M3：全样本的指定字面线索关联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表中为M3的作者聚类推断；95%区间与p为原始值，BH q同时考虑五项核心检验。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14 / 30</a:t>
            </a: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10512"/>
          <a:ext cx="7589520" cy="914400"/>
        </p:xfrm>
        <a:graphic>
          <a:graphicData uri="http://schemas.openxmlformats.org/drawingml/2006/table">
            <a:tbl>
              <a:tblPr/>
              <a:tblGrid>
                <a:gridCol w="1993392"/>
                <a:gridCol w="941832"/>
                <a:gridCol w="2596896"/>
                <a:gridCol w="969264"/>
                <a:gridCol w="108813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文字特征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系数β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长度 ln(1+字数)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[−0.008, 0.064]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0.130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自律 / 目标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−0.119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[−0.293, 0.054]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0.176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0.293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社交 / 互助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−0.004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[−0.131, 0.122]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0.079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问号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[−0.100, 0.316]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0.307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6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0.383</a:t>
                      </a:r>
                      <a:endParaRPr lang="en-US" sz="146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430768" y="1847088"/>
            <a:ext cx="312724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积极表达：β = −0.086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8430768" y="2880360"/>
            <a:ext cx="3127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原始p = 0.016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BH q = 0.079</a:t>
            </a:r>
            <a:endParaRPr lang="zh-CN" sz="2100" dirty="0"/>
          </a:p>
        </p:txBody>
      </p:sp>
      <p:sp>
        <p:nvSpPr>
          <p:cNvPr id="10" name="Text 7"/>
          <p:cNvSpPr/>
          <p:nvPr/>
        </p:nvSpPr>
        <p:spPr>
          <a:xfrm>
            <a:off x="8430768" y="4032504"/>
            <a:ext cx="31272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在这个全样本M3中，</a:t>
            </a:r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五项BH q均未到5%；</a:t>
            </a:r>
          </a:p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不能概括其他正文口径。</a:t>
            </a:r>
          </a:p>
        </p:txBody>
      </p:sp>
      <p:sp>
        <p:nvSpPr>
          <p:cNvPr id="11" name="Text 8"/>
          <p:cNvSpPr/>
          <p:nvPr/>
        </p:nvSpPr>
        <p:spPr>
          <a:xfrm>
            <a:off x="667512" y="52852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五项文字线索仅增加0.065个百分点R²，联合检验 p = 0.130。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67512" y="576986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原始均值优势没有在调整后的比较中保留；这不足以推出“积极用词降低点赞”。</a:t>
            </a:r>
            <a:endParaRPr lang="zh-CN" sz="1700" dirty="0"/>
          </a:p>
        </p:txBody>
      </p:sp>
      <p:sp>
        <p:nvSpPr>
          <p:cNvPr id="13" name="Text 10"/>
          <p:cNvSpPr/>
          <p:nvPr/>
        </p:nvSpPr>
        <p:spPr>
          <a:xfrm>
            <a:off x="667512" y="6199632"/>
            <a:ext cx="10881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25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下一页并列三种正文口径；全样本不显著不等于所有设定都不显著。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文字表达与点赞的关联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敏感性分析：三类表达的方向与区间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横线为原始95%区间；M3/R1—R3解释ln(1+点赞)，PPML拟合点赞均值，两者尺度不同。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16 / 30</a:t>
            </a:r>
          </a:p>
        </p:txBody>
      </p:sp>
      <p:sp>
        <p:nvSpPr>
          <p:cNvPr id="7" name="Text 5"/>
          <p:cNvSpPr/>
          <p:nvPr/>
        </p:nvSpPr>
        <p:spPr>
          <a:xfrm>
            <a:off x="1691640" y="16367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自律 / 目标</a:t>
            </a:r>
            <a:endParaRPr lang="zh-CN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691640" y="2011680"/>
          <a:ext cx="31546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220279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主模型</a:t>
            </a:r>
            <a:endParaRPr lang="zh-CN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54660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仅可见正文</a:t>
            </a:r>
            <a:endParaRPr lang="zh-CN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89041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去最高1%</a:t>
            </a:r>
            <a:endParaRPr lang="zh-CN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3234233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作者等权</a:t>
            </a:r>
            <a:endParaRPr lang="zh-CN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578047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PPML计数</a:t>
            </a:r>
            <a:endParaRPr lang="zh-CN" sz="1100" dirty="0"/>
          </a:p>
        </p:txBody>
      </p:sp>
      <p:sp>
        <p:nvSpPr>
          <p:cNvPr id="14" name="Text 11"/>
          <p:cNvSpPr/>
          <p:nvPr/>
        </p:nvSpPr>
        <p:spPr>
          <a:xfrm>
            <a:off x="5074920" y="16367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社交 / 互助</a:t>
            </a:r>
            <a:endParaRPr lang="zh-CN" sz="1600" dirty="0"/>
          </a:p>
        </p:txBody>
      </p:sp>
      <p:graphicFrame>
        <p:nvGraphicFramePr>
          <p:cNvPr id="15" name="Chart 1" descr=""/>
          <p:cNvGraphicFramePr/>
          <p:nvPr/>
        </p:nvGraphicFramePr>
        <p:xfrm>
          <a:off x="5074920" y="2011680"/>
          <a:ext cx="31546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 12"/>
          <p:cNvSpPr/>
          <p:nvPr/>
        </p:nvSpPr>
        <p:spPr>
          <a:xfrm>
            <a:off x="8458200" y="163677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6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</a:t>
            </a:r>
            <a:endParaRPr lang="zh-CN" sz="1600" dirty="0"/>
          </a:p>
        </p:txBody>
      </p:sp>
      <p:graphicFrame>
        <p:nvGraphicFramePr>
          <p:cNvPr id="17" name="Chart 2" descr=""/>
          <p:cNvGraphicFramePr/>
          <p:nvPr/>
        </p:nvGraphicFramePr>
        <p:xfrm>
          <a:off x="8458200" y="2011680"/>
          <a:ext cx="315468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443984"/>
          <a:ext cx="10972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911096"/>
                <a:gridCol w="1911096"/>
                <a:gridCol w="1911096"/>
                <a:gridCol w="1911096"/>
                <a:gridCol w="1911096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积极表达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M3主模型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仅可见正文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去最高1%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作者等权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PPML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系数β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−0.086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−0.090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−0.082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−0.128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−0.135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[−0.155, −0.016]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[−0.164, −0.015]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[−0.152, −0.012]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[−0.219, −0.036]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[−0.299, 0.028]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原始p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0.016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0.019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0.022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0.007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0.103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N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5,548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9,436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4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9,532</a:t>
                      </a:r>
                      <a:endParaRPr lang="en-US" sz="124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/>
          <p:nvPr/>
        </p:nvSpPr>
        <p:spPr>
          <a:xfrm>
            <a:off x="685800" y="6199632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8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积极表达方向较一致，但PPML区间跨0；100次逐作者剔除均为负，范围[−0.100, −0.074]。</a:t>
            </a:r>
            <a:endParaRPr lang="zh-CN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原NMF成分与点赞：仅作探索性核查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冻结成分子样本N=2,470、86位作者；作者聚类。连续权重回归不等于真实语义主题效应。</a:t>
            </a:r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19 / 30</a:t>
            </a:r>
          </a:p>
        </p:txBody>
      </p:sp>
      <p:sp>
        <p:nvSpPr>
          <p:cNvPr id="7" name="Shape 5"/>
          <p:cNvSpPr/>
          <p:nvPr/>
        </p:nvSpPr>
        <p:spPr>
          <a:xfrm>
            <a:off x="621792" y="1673352"/>
            <a:ext cx="10972800" cy="630936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1856232"/>
            <a:ext cx="10634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旧成分模型：M3原有线性项 + Σ θ_k w_k（五项和为1，省去一项权重作参照）</a:t>
            </a: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670048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371600"/>
                <a:gridCol w="3474720"/>
                <a:gridCol w="1463040"/>
                <a:gridCol w="155448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相对参照成分的权重</a:t>
                      </a: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系数θ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原始95%区间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p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BH q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靠墙静蹲记录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−0.315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[−0.636, 0.005]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0.054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骑行里程记录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0.018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[−0.523, 0.558]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0.948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跑步与训练打卡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−0.471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[−1.048, 0.105]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0.108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生活感悟与问候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−0.144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[−0.278, −0.010]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0.035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0.107</a:t>
                      </a:r>
                      <a:endParaRPr lang="en-US" sz="160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94944" y="5175504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沿用旧命名，生活成分相对训练成分权重增加10个百分点，对应“1+点赞”点估计约低1.4%。</a:t>
            </a:r>
          </a:p>
        </p:txBody>
      </p:sp>
      <p:sp>
        <p:nvSpPr>
          <p:cNvPr id="11" name="Text 8"/>
          <p:cNvSpPr/>
          <p:nvPr/>
        </p:nvSpPr>
        <p:spPr>
          <a:xfrm>
            <a:off x="694944" y="5705856"/>
            <a:ext cx="10817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0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原始p = 0.035、BH q = 0.107；成分联合p = 0.166。名称未经语义验证，不能据此做真实主题反馈排序。</a:t>
            </a:r>
          </a:p>
        </p:txBody>
      </p:sp>
      <p:sp>
        <p:nvSpPr>
          <p:cNvPr id="12" name="Text 9"/>
          <p:cNvSpPr/>
          <p:nvPr/>
        </p:nvSpPr>
        <p:spPr>
          <a:xfrm>
            <a:off x="694944" y="6272784"/>
            <a:ext cx="10817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12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权重范围0–1，系数按100个百分点计；区间未计入主题估计本身的不确定性。</a:t>
            </a:r>
            <a:endParaRPr lang="zh-CN" sz="11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  文字、主题与点赞的关联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帖子主题与点赞的关联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RQ2的回答：证据对正文范围和测量方式敏感</a:t>
            </a:r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结果为观察性关联；词典与主题只覆盖部分文字信息，缺少真实曝光等条件。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21 / 30</a:t>
            </a:r>
          </a:p>
        </p:txBody>
      </p:sp>
      <p:sp>
        <p:nvSpPr>
          <p:cNvPr id="7" name="Text 5"/>
          <p:cNvSpPr/>
          <p:nvPr/>
        </p:nvSpPr>
        <p:spPr>
          <a:xfrm>
            <a:off x="713232" y="1746504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局部字面线索与点赞的证据依赖比较范围。</a:t>
            </a:r>
          </a:p>
        </p:txBody>
      </p:sp>
      <p:sp>
        <p:nvSpPr>
          <p:cNvPr id="8" name="Text 6"/>
          <p:cNvSpPr/>
          <p:nvPr/>
        </p:nvSpPr>
        <p:spPr>
          <a:xfrm>
            <a:off x="731520" y="2359152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历史全样本联合p=0.130；原始正文可见样本p=0.067；清理后非空正文p=0.040，长度与积极表达的模型内BH q约0.048。不能笼统称为“各种设定都不显著”。</a:t>
            </a:r>
          </a:p>
        </p:txBody>
      </p:sp>
      <p:sp>
        <p:nvSpPr>
          <p:cNvPr id="9" name="Text 7"/>
          <p:cNvSpPr/>
          <p:nvPr/>
        </p:nvSpPr>
        <p:spPr>
          <a:xfrm>
            <a:off x="713232" y="3648456"/>
            <a:ext cx="10698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成分编码能复现，不代表内容分类已得到验证。</a:t>
            </a:r>
          </a:p>
        </p:txBody>
      </p:sp>
      <p:sp>
        <p:nvSpPr>
          <p:cNvPr id="10" name="Text 8"/>
          <p:cNvSpPr/>
          <p:nvPr/>
        </p:nvSpPr>
        <p:spPr>
          <a:xfrm>
            <a:off x="731520" y="4251960"/>
            <a:ext cx="10652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少帖作者与标签身份对照未改变全样本的主要判断，但不能修复缺失选择或语义测量。主题多标签仍继承旧成分问题，现阶段不作真实内容类型的稳定点赞排序。</a:t>
            </a:r>
          </a:p>
        </p:txBody>
      </p:sp>
      <p:sp>
        <p:nvSpPr>
          <p:cNvPr id="11" name="Shape 9"/>
          <p:cNvSpPr/>
          <p:nvPr/>
        </p:nvSpPr>
        <p:spPr>
          <a:xfrm>
            <a:off x="676656" y="5577840"/>
            <a:ext cx="10936224" cy="612648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59536" y="5733288"/>
            <a:ext cx="10561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RQ3转向另一种反馈：评论里，用户说了什么，留言怎样被回应，又由多少人参与？</a:t>
            </a:r>
            <a:endParaRPr lang="zh-CN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评论长度、词频与发言者角色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词类命中率以各角色全部发言为分母，可重叠；角色按所在帖子确定。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22 / 30</a:t>
            </a:r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65376"/>
          <a:ext cx="64922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98080" y="1819656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4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评论较短：中位数6字符</a:t>
            </a:r>
            <a:endParaRPr lang="zh-CN" sz="2400" dirty="0"/>
          </a:p>
        </p:txBody>
      </p:sp>
      <p:sp>
        <p:nvSpPr>
          <p:cNvPr id="9" name="Text 6"/>
          <p:cNvSpPr/>
          <p:nvPr/>
        </p:nvSpPr>
        <p:spPr>
          <a:xfrm>
            <a:off x="7498080" y="2807208"/>
            <a:ext cx="4069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“加油”612条 / 431人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“谢谢”359条 / 53人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498080" y="4005072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“加油”的使用面更广，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“谢谢”的重复使用更集中。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7498080" y="4983480"/>
            <a:ext cx="4069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按角色看：读者更常赞许，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帖主更常感谢。</a:t>
            </a:r>
            <a:endParaRPr lang="zh-CN" sz="1800" dirty="0"/>
          </a:p>
        </p:txBody>
      </p:sp>
      <p:sp>
        <p:nvSpPr>
          <p:cNvPr id="12" name="Text 9"/>
          <p:cNvSpPr/>
          <p:nvPr/>
        </p:nvSpPr>
        <p:spPr>
          <a:xfrm>
            <a:off x="676656" y="5925312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所以下一步把根评论与帖主回复配对：鼓励是否更易被回复，回复里又怎样表达？</a:t>
            </a:r>
            <a:endParaRPr lang="zh-CN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评论的主要内容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鼓励留言是否更容易得到回应？感谢与回复覆盖不同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描述性对照，未作显著性或因果检验；未观察到回复，不等于实际没有回复。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23 / 30</a:t>
            </a:r>
          </a:p>
        </p:txBody>
      </p:sp>
      <p:sp>
        <p:nvSpPr>
          <p:cNvPr id="7" name="Shape 5"/>
          <p:cNvSpPr/>
          <p:nvPr/>
        </p:nvSpPr>
        <p:spPr>
          <a:xfrm>
            <a:off x="621792" y="1591056"/>
            <a:ext cx="10972800" cy="694944"/>
          </a:xfrm>
          <a:prstGeom prst="rect">
            <a:avLst/>
          </a:prstGeom>
          <a:solidFill>
            <a:srgbClr val="EDF4F0"/>
          </a:solidFill>
          <a:ln w="12700">
            <a:solidFill>
              <a:srgbClr val="EDF4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709928"/>
            <a:ext cx="10643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4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配对规则：6,609条外来根评论；从留言发出起7天内，查找明确指向该条留言的帖主直接回复。</a:t>
            </a:r>
            <a:endParaRPr lang="zh-CN" sz="1450" dirty="0"/>
          </a:p>
          <a:p>
            <a:pPr indent="0" marL="0">
              <a:buNone/>
            </a:pPr>
            <a:r>
              <a:rPr lang="zh-CN" altLang="en-US" sz="14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根评论指直接发在帖子下、未指定回复对象的留言；有回复时，只取最早一条。</a:t>
            </a:r>
            <a:endParaRPr lang="zh-CN" sz="1450" dirty="0"/>
          </a:p>
        </p:txBody>
      </p:sp>
      <p:sp>
        <p:nvSpPr>
          <p:cNvPr id="9" name="Text 7"/>
          <p:cNvSpPr/>
          <p:nvPr/>
        </p:nvSpPr>
        <p:spPr>
          <a:xfrm>
            <a:off x="676656" y="242316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多少留言观察到7天内直接回复？</a:t>
            </a:r>
            <a:endParaRPr lang="zh-CN" sz="1850" dirty="0"/>
          </a:p>
        </p:txBody>
      </p:sp>
      <p:sp>
        <p:nvSpPr>
          <p:cNvPr id="10" name="Text 8"/>
          <p:cNvSpPr/>
          <p:nvPr/>
        </p:nvSpPr>
        <p:spPr>
          <a:xfrm>
            <a:off x="6400800" y="2423160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已回复记录中，最早回复多少含感谢？</a:t>
            </a:r>
            <a:endParaRPr lang="zh-CN" sz="1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94360" y="2880360"/>
          <a:ext cx="530352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6327648" y="2880360"/>
          <a:ext cx="5303520" cy="1709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749808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分母：各组全部外来根评论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513 / 1,180；3,055 / 5,429</a:t>
            </a:r>
            <a:endParaRPr lang="zh-CN" sz="1370" dirty="0"/>
          </a:p>
        </p:txBody>
      </p:sp>
      <p:sp>
        <p:nvSpPr>
          <p:cNvPr id="14" name="Text 10"/>
          <p:cNvSpPr/>
          <p:nvPr/>
        </p:nvSpPr>
        <p:spPr>
          <a:xfrm>
            <a:off x="6483096" y="4690872"/>
            <a:ext cx="5029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分母：已观察到直接回复的记录</a:t>
            </a:r>
            <a:endParaRPr lang="zh-CN" sz="1370" dirty="0"/>
          </a:p>
          <a:p>
            <a:pPr indent="0" marL="0">
              <a:buNone/>
            </a:pPr>
            <a:r>
              <a:rPr lang="zh-CN" altLang="en-US" sz="137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137 / 513；195 / 3,055</a:t>
            </a:r>
            <a:endParaRPr lang="zh-CN" sz="1370" dirty="0"/>
          </a:p>
        </p:txBody>
      </p:sp>
      <p:sp>
        <p:nvSpPr>
          <p:cNvPr id="15" name="Text 11"/>
          <p:cNvSpPr/>
          <p:nvPr/>
        </p:nvSpPr>
        <p:spPr>
          <a:xfrm>
            <a:off x="694944" y="5477256"/>
            <a:ext cx="108356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鼓励组的观测回复覆盖低12.8个百分点；但在已回复记录中，感谢词占比高20.3个百分点。</a:t>
            </a:r>
            <a:endParaRPr lang="zh-CN" sz="1750" dirty="0"/>
          </a:p>
        </p:txBody>
      </p:sp>
      <p:sp>
        <p:nvSpPr>
          <p:cNvPr id="16" name="Text 12"/>
          <p:cNvSpPr/>
          <p:nvPr/>
        </p:nvSpPr>
        <p:spPr>
          <a:xfrm>
            <a:off x="694944" y="5934456"/>
            <a:ext cx="10835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回复时更常致谢，不等于鼓励更容易被回。作者和留言情境可能不同；接下来看看谁在接话。</a:t>
            </a:r>
            <a:endParaRPr lang="zh-CN" sz="1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评论关系网络：间接相连广，直接联系仍稀疏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节点为账号；根评论者→帖主，明确回复者→被回复用户；同向多次互动累加为边权。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24 / 30</a:t>
            </a:r>
          </a:p>
        </p:txBody>
      </p:sp>
      <p:pic>
        <p:nvPicPr>
          <p:cNvPr id="7" name="Image 0" descr="/Users/lchen/Projects/FDU-Homeworks/social-media-net-analysis/projects/group/figures/06_comment_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874520"/>
            <a:ext cx="6327648" cy="35086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96328" y="178308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2,932个有边账号 · 4,069条有向边</a:t>
            </a:r>
            <a:endParaRPr lang="zh-CN" sz="2100" dirty="0"/>
          </a:p>
        </p:txBody>
      </p:sp>
      <p:sp>
        <p:nvSpPr>
          <p:cNvPr id="9" name="Text 6"/>
          <p:cNvSpPr/>
          <p:nvPr/>
        </p:nvSpPr>
        <p:spPr>
          <a:xfrm>
            <a:off x="7196328" y="2779776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6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排除84次自我互动后，11,511次事件合并成有向边；图中省略箭头，金色为样本帖作者。</a:t>
            </a:r>
            <a:endParaRPr lang="zh-CN" sz="1650" dirty="0"/>
          </a:p>
        </p:txBody>
      </p:sp>
      <p:sp>
        <p:nvSpPr>
          <p:cNvPr id="10" name="Text 7"/>
          <p:cNvSpPr/>
          <p:nvPr/>
        </p:nvSpPr>
        <p:spPr>
          <a:xfrm>
            <a:off x="7196328" y="3950208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共同面向帖主留言，就能把许多账号间接连起。忽略方向后，94.4%处于最大连通部分；密度0.0473%，直接往来仍局限于少量账号配对。</a:t>
            </a:r>
            <a:endParaRPr lang="zh-CN" sz="1750" dirty="0"/>
          </a:p>
        </p:txBody>
      </p:sp>
      <p:sp>
        <p:nvSpPr>
          <p:cNvPr id="11" name="Text 8"/>
          <p:cNvSpPr/>
          <p:nvPr/>
        </p:nvSpPr>
        <p:spPr>
          <a:xfrm>
            <a:off x="7196328" y="55138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这张图回答了账号怎样被连起来。谁在回复谁，下一页再把明确回复单独取出比较。</a:t>
            </a:r>
            <a:endParaRPr lang="zh-CN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回话主要围绕帖主展开，用户彼此回复较少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分母为4,902次非自我明确回复，排除6,609条根评论；89%不是全部评论的回复率。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25 / 30</a:t>
            </a:r>
          </a:p>
        </p:txBody>
      </p:sp>
      <p:graphicFrame>
        <p:nvGraphicFramePr>
          <p:cNvPr id="7" name="Chart 0" descr=""/>
          <p:cNvGraphicFramePr/>
          <p:nvPr/>
        </p:nvGraphicFramePr>
        <p:xfrm>
          <a:off x="585216" y="1892808"/>
          <a:ext cx="6492240" cy="35295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516368" y="1819656"/>
            <a:ext cx="4069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9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4,361次 · 89.0%</a:t>
            </a:r>
            <a:endParaRPr lang="zh-CN" sz="2900" dirty="0"/>
          </a:p>
        </p:txBody>
      </p:sp>
      <p:sp>
        <p:nvSpPr>
          <p:cNvPr id="9" name="Text 6"/>
          <p:cNvSpPr/>
          <p:nvPr/>
        </p:nvSpPr>
        <p:spPr>
          <a:xfrm>
            <a:off x="7516368" y="2779776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读者面向帖主留言后，明确回话大多由帖主发出。其他用户彼此回复只有97次，占2.0%。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7516368" y="4325112"/>
            <a:ext cx="40690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因此，这批评论更常表现为“向帖主留言—帖主回应”，其他参与者相互回复的份额很小。</a:t>
            </a:r>
            <a:endParaRPr lang="zh-CN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5907024"/>
            <a:ext cx="108356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B97339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读者留言、帖主回话，会不会在账号之间形成双向连接？接着比较不同建边规则与观察窗口。</a:t>
            </a:r>
            <a:endParaRPr lang="zh-CN" sz="1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留言与回话形成双向连接，互惠率随观察范围变化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互惠率按有向边计：有反向连接的边数 / 全部有向边数；每边等权，排除自我互动。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26 / 30</a:t>
            </a:r>
          </a:p>
        </p:txBody>
      </p:sp>
      <p:sp>
        <p:nvSpPr>
          <p:cNvPr id="7" name="Text 5"/>
          <p:cNvSpPr/>
          <p:nvPr/>
        </p:nvSpPr>
        <p:spPr>
          <a:xfrm>
            <a:off x="713232" y="1728216"/>
            <a:ext cx="10744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7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全部互动 49.6%  →  仅明确回复 29.9%</a:t>
            </a:r>
            <a:endParaRPr lang="zh-CN" sz="2700" dirty="0"/>
          </a:p>
        </p:txBody>
      </p:sp>
      <p:sp>
        <p:nvSpPr>
          <p:cNvPr id="8" name="Text 6"/>
          <p:cNvSpPr/>
          <p:nvPr/>
        </p:nvSpPr>
        <p:spPr>
          <a:xfrm>
            <a:off x="722376" y="2487168"/>
            <a:ext cx="1073505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读者向帖主留言，帖主再回话给同一用户，就会形成双向连接。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去掉根评论后互惠率降低，“留言＋回话”是这些双向往来的重要组成。</a:t>
            </a:r>
            <a:endParaRPr lang="zh-CN" sz="1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465576"/>
          <a:ext cx="10972800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1600200"/>
                <a:gridCol w="1325880"/>
                <a:gridCol w="1325880"/>
                <a:gridCol w="1325880"/>
                <a:gridCol w="26060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观察窗口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非自我事件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有边账号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有向边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互惠率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前10位接收占比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全部已采集互动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11,511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2,932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4,069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49.6%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54.0%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各帖发布后7天内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9,451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1,376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2,278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74.1%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8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48.3%</a:t>
                      </a:r>
                      <a:endParaRPr lang="en-US" sz="148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0E8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22376" y="5394960"/>
            <a:ext cx="1072591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首周的双向连接占比更高，事件接收也略分散；但窗口内的账号和边同时改变，</a:t>
            </a:r>
            <a:endParaRPr lang="zh-CN" sz="1750" dirty="0"/>
          </a:p>
          <a:p>
            <a:pPr indent="0" marL="0">
              <a:buNone/>
            </a:pPr>
            <a:r>
              <a:rPr lang="zh-CN" altLang="en-US" sz="175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不能把差异解释为同一批关系后来变淡。首周从每条帖子的发布时间起算7天。</a:t>
            </a:r>
            <a:endParaRPr lang="zh-CN" sz="1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高互动量可能来自接触面广，或少数人反复往来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次数为收到的非自我互动事件，人数为不同发送者；“非样本帖作者”不等于从不发帖。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27 / 30</a:t>
            </a:r>
          </a:p>
        </p:txBody>
      </p:sp>
      <p:sp>
        <p:nvSpPr>
          <p:cNvPr id="7" name="Text 5"/>
          <p:cNvSpPr/>
          <p:nvPr/>
        </p:nvSpPr>
        <p:spPr>
          <a:xfrm>
            <a:off x="685800" y="168249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前10位账号接收了54.0%的互动。判断这种集中意味着什么，需把次数和人数放在一起。</a:t>
            </a:r>
            <a:endParaRPr lang="zh-CN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487168"/>
          <a:ext cx="109728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417320"/>
                <a:gridCol w="1737360"/>
                <a:gridCol w="1691640"/>
                <a:gridCol w="480060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匿名账号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样本帖作者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接收事件次数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不同发送者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这段记录中的突出形态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U1528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1,378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53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已有发送者反复留言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U0948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是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1,275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1,091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收到更多不同账号的留言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U0112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否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180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4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与极少数账号集中往来</a:t>
                      </a:r>
                      <a:endParaRPr lang="en-US" sz="16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94944" y="5175504"/>
            <a:ext cx="10835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U1528与U0948接收次数接近，前者只有53位发送者，后者有1,091位。相同“声量”背后，可以是很不一样的参与范围。</a:t>
            </a:r>
            <a:endParaRPr lang="zh-CN" sz="1800" dirty="0"/>
          </a:p>
        </p:txBody>
      </p:sp>
      <p:sp>
        <p:nvSpPr>
          <p:cNvPr id="10" name="Text 7"/>
          <p:cNvSpPr/>
          <p:nvPr/>
        </p:nvSpPr>
        <p:spPr>
          <a:xfrm>
            <a:off x="694944" y="5806440"/>
            <a:ext cx="10835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U0112的180次只来自4人。看评论区有多热闹，不能只数留言，还要看有多少人在参与。</a:t>
            </a:r>
            <a:endParaRPr lang="zh-CN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  评论中的回应与参与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C5D9D0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评论区的网络结构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RQ3的回答：评论主要怎样形成往来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评论与网络均基于已采集记录；未观察到回复不等于实际没有回复。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28 / 30</a:t>
            </a:r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读者更常鼓励，帖主更常感谢；逐条配对后，含义更清楚。</a:t>
            </a:r>
            <a:endParaRPr lang="zh-CN" sz="2300" dirty="0"/>
          </a:p>
        </p:txBody>
      </p:sp>
      <p:sp>
        <p:nvSpPr>
          <p:cNvPr id="8" name="Text 6"/>
          <p:cNvSpPr/>
          <p:nvPr/>
        </p:nvSpPr>
        <p:spPr>
          <a:xfrm>
            <a:off x="749808" y="2313432"/>
            <a:ext cx="10607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直接配对进一步说明：鼓励组已回复记录中的感谢占比更高，但观测回复覆盖反而较低。回复怎样表达，与多少留言得到回应，需要分开判断。</a:t>
            </a:r>
            <a:endParaRPr lang="zh-CN" sz="1850" dirty="0"/>
          </a:p>
        </p:txBody>
      </p:sp>
      <p:sp>
        <p:nvSpPr>
          <p:cNvPr id="9" name="Text 7"/>
          <p:cNvSpPr/>
          <p:nvPr/>
        </p:nvSpPr>
        <p:spPr>
          <a:xfrm>
            <a:off x="731520" y="3410712"/>
            <a:ext cx="10652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这些发言主要围绕帖主组织，热闹的来源也不一样。</a:t>
            </a:r>
            <a:endParaRPr lang="zh-CN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3986784"/>
            <a:ext cx="1060704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89%的明确回复由帖主发给其他用户，用户相互回复仅2%。接收次数接近的账号，可以来自53人或1,091人；所以留言量既可能反映广泛参与，也可能是已有发送者反复出现。</a:t>
            </a:r>
            <a:endParaRPr lang="zh-CN" sz="1850" dirty="0"/>
          </a:p>
        </p:txBody>
      </p:sp>
      <p:sp>
        <p:nvSpPr>
          <p:cNvPr id="11" name="Shape 9"/>
          <p:cNvSpPr/>
          <p:nvPr/>
        </p:nvSpPr>
        <p:spPr>
          <a:xfrm>
            <a:off x="676656" y="5385816"/>
            <a:ext cx="10936224" cy="822960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5550408"/>
            <a:ext cx="10533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E3ECE6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互惠率随建边规则和观察窗口变化；评论多或双向连接多，都还需要结合不同参与者人数判断。</a:t>
            </a:r>
            <a:endParaRPr lang="zh-CN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3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共同局限与后续改进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8339328" y="27432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研究结论与局限</a:t>
            </a:r>
            <a:endParaRPr lang="zh-CN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804672"/>
            <a:ext cx="11109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20332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研究局限：哪些判断还不能由这批记录回答</a:t>
            </a:r>
            <a:endParaRPr lang="zh-CN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下一步是补齐记录和统一观察窗口；若检验表达或回复做法的效果，需要另行设计实验。</a:t>
            </a:r>
            <a:endParaRPr lang="zh-CN" sz="900" dirty="0"/>
          </a:p>
        </p:txBody>
      </p:sp>
      <p:sp>
        <p:nvSpPr>
          <p:cNvPr id="6" name="Text 4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65756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29 / 30</a:t>
            </a:r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792224"/>
          <a:ext cx="10972800" cy="914400"/>
        </p:xfrm>
        <a:graphic>
          <a:graphicData uri="http://schemas.openxmlformats.org/drawingml/2006/table">
            <a:tbl>
              <a:tblPr/>
              <a:tblGrid>
                <a:gridCol w="2798064"/>
                <a:gridCol w="4736592"/>
                <a:gridCol w="3438144"/>
              </a:tblGrid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限制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它怎样影响结论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245C4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下一步需要什么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100位作者，抽样机制不明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不能把样本内容比例和回复结构直接推广到全Keep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更清楚的抽样框与作者覆盖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正文、评论覆盖不全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主题与网络代表不同子样本；未采到不等于未发生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补齐正文、评论、图像和视频内容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曝光、粉丝与采集时点缺失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累计点赞仍受未观测差异影响，固定效应不等于因果识别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统一发帖后7天，并记录实际曝光</a:t>
                      </a:r>
                      <a:endParaRPr lang="en-US" sz="1550" dirty="0">
                        <a:latin typeface="Arial Unicode MS" charset="0"/>
                        <a:ea typeface="Arial Unicode MS" charset="0"/>
                        <a:cs typeface="Arial Unicode MS" charset="0"/>
                      </a:endParaRP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字面规则与成分名称尚未验证</a:t>
                      </a: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不能据用词判定情绪；正文口径和标签边界限制结论</a:t>
                      </a: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dirty="0">
                          <a:solidFill>
                            <a:srgbClr val="20332F"/>
                          </a:solidFill>
                          <a:latin typeface="Arial Unicode MS" pitchFamily="34" charset="0"/>
                          <a:ea typeface="Arial Unicode MS" pitchFamily="34" charset="-122"/>
                          <a:cs typeface="Arial Unicode MS" pitchFamily="34" charset="-120"/>
                        </a:rPr>
                        <a:t>独立人工编码、未见样本验证，再冻结分类</a:t>
                      </a:r>
                    </a:p>
                  </a:txBody>
                  <a:tcPr marL="109728" marR="109728" marT="82296" marB="82296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7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94944" y="587959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1800" b="1" dirty="0">
                <a:solidFill>
                  <a:srgbClr val="245C4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后续先统一观察窗口，完整记录内容、参与人数和实际回复，再检验具体做法能否改变反馈。</a:t>
            </a:r>
            <a:endParaRPr lang="zh-CN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73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9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· Credit</a:t>
            </a:r>
            <a:endParaRPr lang="zh-CN" sz="900" dirty="0"/>
          </a:p>
        </p:txBody>
      </p:sp>
      <p:sp>
        <p:nvSpPr>
          <p:cNvPr id="3" name="Text 1"/>
          <p:cNvSpPr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CN" altLang="en-US" sz="1000" dirty="0">
                <a:solidFill>
                  <a:srgbClr val="BDD3C8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30 / 30</a:t>
            </a:r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5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成员分工 / Credit</a:t>
            </a:r>
            <a:endParaRPr lang="zh-CN" sz="3500" dirty="0"/>
          </a:p>
        </p:txBody>
      </p:sp>
      <p:sp>
        <p:nvSpPr>
          <p:cNvPr id="5" name="Shape 3"/>
          <p:cNvSpPr/>
          <p:nvPr/>
        </p:nvSpPr>
        <p:spPr>
          <a:xfrm>
            <a:off x="685800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36208" y="2029968"/>
            <a:ext cx="5266944" cy="3602736"/>
          </a:xfrm>
          <a:prstGeom prst="rect">
            <a:avLst/>
          </a:prstGeom>
          <a:solidFill>
            <a:srgbClr val="295347"/>
          </a:solidFill>
          <a:ln w="12700">
            <a:solidFill>
              <a:srgbClr val="295347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41832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陈霖</a:t>
            </a:r>
            <a:endParaRPr lang="zh-CN" sz="3100" dirty="0"/>
          </a:p>
        </p:txBody>
      </p:sp>
      <p:sp>
        <p:nvSpPr>
          <p:cNvPr id="8" name="Text 6"/>
          <p:cNvSpPr/>
          <p:nvPr/>
        </p:nvSpPr>
        <p:spPr>
          <a:xfrm>
            <a:off x="941832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问题的提出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数据清洗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RQ1：内容与点赞的分布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386584"/>
            <a:ext cx="4736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FFFFFF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董依心（dyx）</a:t>
            </a:r>
            <a:endParaRPr lang="zh-CN" sz="3100" dirty="0"/>
          </a:p>
        </p:txBody>
      </p:sp>
      <p:sp>
        <p:nvSpPr>
          <p:cNvPr id="10" name="Text 8"/>
          <p:cNvSpPr/>
          <p:nvPr/>
        </p:nvSpPr>
        <p:spPr>
          <a:xfrm>
            <a:off x="6492240" y="3264408"/>
            <a:ext cx="4736592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RQ2：文字、主题与点赞的关联</a:t>
            </a:r>
            <a:endParaRPr lang="zh-CN" sz="2050" dirty="0"/>
          </a:p>
          <a:p>
            <a:pPr indent="0" marL="0">
              <a:buNone/>
            </a:pPr>
            <a:r>
              <a:rPr lang="zh-CN" altLang="en-US" sz="2050" dirty="0">
                <a:solidFill>
                  <a:srgbClr val="DFEAE3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RQ3：评论中的回应与参与</a:t>
            </a:r>
            <a:endParaRPr lang="zh-CN" sz="2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5C4F"/>
                </a:solidFill>
                <a:latin typeface="Arial Unicode MS"/>
              </a:rPr>
              <a:t>RQ1  内容与点赞的分布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9327" y="27432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56F"/>
                </a:solidFill>
                <a:latin typeface="Arial Unicode MS"/>
              </a:rPr>
              <a:t>数据覆盖与描述统计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332F"/>
                </a:solidFill>
                <a:latin typeface="Arial Unicode MS"/>
              </a:rPr>
              <a:t>分类覆盖与语义：五成分不能当作完整分类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56F"/>
                </a:solidFill>
                <a:latin typeface="Arial Unicode MS"/>
              </a:rPr>
              <a:t>60条已分配帖的等额分层单轮AI筛查，不是独立人工金标准；不能推算全样本错误率。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756F"/>
                </a:solidFill>
                <a:latin typeface="Arial Unicode MS"/>
              </a:rPr>
              <a:t>06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C4F"/>
                </a:solidFill>
                <a:latin typeface="Arial Unicode MS"/>
              </a:rPr>
              <a:t>全样本中的三种记录状态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103120"/>
          <a:ext cx="608076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" y="544068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C4F"/>
                </a:solidFill>
                <a:latin typeface="Arial Unicode MS"/>
              </a:rPr>
              <a:t>2,470 / 5,414 = 45.6%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5961888"/>
            <a:ext cx="107899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5756F"/>
                </a:solidFill>
                <a:latin typeface="Arial Unicode MS"/>
              </a:rPr>
              <a:t>未入模 ≠ 没有主题；无正文 ≠ 无图像／视频内容。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6916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C4F"/>
                </a:solidFill>
                <a:latin typeface="Arial Unicode MS"/>
              </a:rPr>
              <a:t>语义与结构都需要复核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39712" y="2267712"/>
          <a:ext cx="47091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1371600"/>
              </a:tblGrid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45C4F"/>
                          </a:solidFill>
                          <a:latin typeface="Arial Unicode MS"/>
                        </a:rPr>
                        <a:t>60条筛查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245C4F"/>
                          </a:solidFill>
                          <a:latin typeface="Arial Unicode MS"/>
                        </a:rPr>
                        <a:t>帖数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支持原名称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40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仅部分支持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6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不支持所分名称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12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信息不足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20332F"/>
                          </a:solidFill>
                          <a:latin typeface="Arial Unicode MS"/>
                        </a:rPr>
                        <a:t>2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903720" y="4526280"/>
            <a:ext cx="466344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0332F"/>
                </a:solidFill>
                <a:latin typeface="Arial Unicode MS"/>
              </a:rPr>
              <a:t>静蹲类中有山河感悟、口罩提醒；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>
                <a:solidFill>
                  <a:srgbClr val="20332F"/>
                </a:solidFill>
                <a:latin typeface="Arial Unicode MS"/>
              </a:rPr>
              <a:t>跑步类中有绘画、出行和学期感受。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349240"/>
            <a:ext cx="4663440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97339"/>
                </a:solidFill>
                <a:latin typeface="Arial Unicode MS"/>
              </a:rPr>
              <a:t>删重后静蹲不再单列，出现含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B97339"/>
                </a:solidFill>
                <a:latin typeface="Arial Unicode MS"/>
              </a:rPr>
              <a:t>早餐、咖啡等词的新成分；新成分同样待验证。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5C4F"/>
                </a:solidFill>
                <a:latin typeface="Arial Unicode MS"/>
              </a:rPr>
              <a:t>RQ2  文字、成分与点赞的关联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9327" y="27432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56F"/>
                </a:solidFill>
                <a:latin typeface="Arial Unicode MS"/>
              </a:rPr>
              <a:t>文字表达与点赞的关联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332F"/>
                </a:solidFill>
                <a:latin typeface="Arial Unicode MS"/>
              </a:rPr>
              <a:t>三类词汇＋问号：为什么区分，分别观察什么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56F"/>
                </a:solidFill>
                <a:latin typeface="Arial Unicode MS"/>
              </a:rPr>
              <a:t>研究者制定的字面规则，允许重叠；不是四类穷尽性主题，也不是独立心理因子。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756F"/>
                </a:solidFill>
                <a:latin typeface="Arial Unicode MS"/>
              </a:rPr>
              <a:t>10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810512"/>
          <a:ext cx="10972799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4617720"/>
                <a:gridCol w="448056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变量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分类依据／例词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不能据此推出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自律／目标词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目标和行动进度：坚持、目标、打卡、完成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真实自律人格或训练完成情况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社交／互助词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面向他人：大家、一起、谢谢、请教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已经发生互助或关系更强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积极表达词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积极感受或赞许：开心、喜欢、棒、哈哈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已经准确判断情绪；未处理反讽否定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问号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正文出现 ? 或 ？：句式标点线索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确实在求助；反问也会命中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504688"/>
            <a:ext cx="10881360" cy="621792"/>
          </a:xfrm>
          <a:prstGeom prst="rect">
            <a:avLst/>
          </a:prstGeom>
          <a:solidFill>
            <a:srgbClr val="ED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669280"/>
            <a:ext cx="10515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C4F"/>
                </a:solidFill>
                <a:latin typeface="Arial Unicode MS"/>
              </a:rPr>
              <a:t>3,891 / 5,414 = 71.9% 的非空正文未命中任何规则；词典只覆盖局部表达。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5C4F"/>
                </a:solidFill>
                <a:latin typeface="Arial Unicode MS"/>
              </a:rPr>
              <a:t>RQ2  文字、成分与点赞的关联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9327" y="27432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56F"/>
                </a:solidFill>
                <a:latin typeface="Arial Unicode MS"/>
              </a:rPr>
              <a:t>文字表达与点赞的关联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332F"/>
                </a:solidFill>
                <a:latin typeface="Arial Unicode MS"/>
              </a:rPr>
              <a:t>语义允许交叉，但现有变量未显示明显数值共线性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56F"/>
                </a:solidFill>
                <a:latin typeface="Arial Unicode MS"/>
              </a:rPr>
              <a:t>VIF基于完整M3全部设计列；低VIF不能证明语义独立或词典有效。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756F"/>
                </a:solidFill>
                <a:latin typeface="Arial Unicode MS"/>
              </a:rPr>
              <a:t>11 / 30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21792" y="1874519"/>
          <a:ext cx="6446520" cy="34930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24927" y="1938528"/>
            <a:ext cx="41330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5C4F"/>
                </a:solidFill>
                <a:latin typeface="Arial Unicode MS"/>
              </a:rPr>
              <a:t>完整M3：182 / 182 满秩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971800"/>
            <a:ext cx="413308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332F"/>
                </a:solidFill>
                <a:latin typeface="Arial Unicode MS"/>
              </a:rPr>
              <a:t>最大两两相关 0.119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0332F"/>
                </a:solidFill>
                <a:latin typeface="Arial Unicode MS"/>
              </a:rPr>
              <a:t>作者内最大相关 0.085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343400"/>
            <a:ext cx="4133087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F"/>
                </a:solidFill>
                <a:latin typeface="Arial Unicode MS"/>
              </a:rPr>
              <a:t>182帖同时命中≥2项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32F"/>
                </a:solidFill>
                <a:latin typeface="Arial Unicode MS"/>
              </a:rPr>
              <a:t>共现可以保留，语义仍要验证。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80644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45C4F"/>
                </a:solidFill>
                <a:latin typeface="Arial Unicode MS"/>
              </a:rPr>
              <a:t>目前不需要仅因“特征可能类似”就合并；更重要的是准确解释每个规则测到了什么。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5C4F"/>
                </a:solidFill>
                <a:latin typeface="Arial Unicode MS"/>
              </a:rPr>
              <a:t>RQ2  文字、成分与点赞的关联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9327" y="27432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56F"/>
                </a:solidFill>
                <a:latin typeface="Arial Unicode MS"/>
              </a:rPr>
              <a:t>文字表达与点赞的关联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332F"/>
                </a:solidFill>
                <a:latin typeface="Arial Unicode MS"/>
              </a:rPr>
              <a:t>正文口径会改变统计判断：需要并列报告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56F"/>
                </a:solidFill>
                <a:latin typeface="Arial Unicode MS"/>
              </a:rPr>
              <a:t>作者聚类t／F推断；BH仅在各模型内校正五项，不覆盖全部探索性设定。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756F"/>
                </a:solidFill>
                <a:latin typeface="Arial Unicode MS"/>
              </a:rPr>
              <a:t>15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865376"/>
          <a:ext cx="10972797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417320"/>
                <a:gridCol w="1051560"/>
                <a:gridCol w="1874519"/>
                <a:gridCol w="1874519"/>
                <a:gridCol w="1874519"/>
              </a:tblGrid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正文范围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N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作者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五项联合p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长度BH q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积极BH q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历史全样本＋标记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9,532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100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0.130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0.293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0.079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原始正文可见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5,548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95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0.067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0.106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0.093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清理后正文非空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5,414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95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0.040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0.048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0.048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484632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97339"/>
                </a:solidFill>
                <a:latin typeface="Arial Unicode MS"/>
              </a:rPr>
              <a:t>“全部设定都不显著”不成立；“选更显著模型作答案”也不成立。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577840"/>
            <a:ext cx="1078992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32F"/>
                </a:solidFill>
                <a:latin typeface="Arial Unicode MS"/>
              </a:rPr>
              <a:t>修订分析对象：实际可观测的非空正文；旧M3保留历史对照。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32F"/>
                </a:solidFill>
                <a:latin typeface="Arial Unicode MS"/>
              </a:rPr>
              <a:t>筛选改变了比较人群，仍不能恢复缺失文字或建立用词因果作用。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5C4F"/>
                </a:solidFill>
                <a:latin typeface="Arial Unicode MS"/>
              </a:rPr>
              <a:t>RQ2  文字、成分与点赞的关联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9327" y="27432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56F"/>
                </a:solidFill>
                <a:latin typeface="Arial Unicode MS"/>
              </a:rPr>
              <a:t>文字表达与点赞的关联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332F"/>
                </a:solidFill>
                <a:latin typeface="Arial Unicode MS"/>
              </a:rPr>
              <a:t>少帖作者：主回归与主题子样本分别检查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56F"/>
                </a:solidFill>
                <a:latin typeface="Arial Unicode MS"/>
              </a:rPr>
              <a:t>作者次数指本课程样本内次数；共同斜率依赖作者内变化，单帖作者不提供该变化。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756F"/>
                </a:solidFill>
                <a:latin typeface="Arial Unicode MS"/>
              </a:rPr>
              <a:t>17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9164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C4F"/>
                </a:solidFill>
                <a:latin typeface="Arial Unicode MS"/>
              </a:rPr>
              <a:t>主样本：100人，2名单帖，中位66帖。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45C4F"/>
                </a:solidFill>
                <a:latin typeface="Arial Unicode MS"/>
              </a:rPr>
              <a:t>主题子样本：86人，10名单帖，中位14帖。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2834640"/>
          <a:ext cx="11064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606040"/>
                <a:gridCol w="1645920"/>
                <a:gridCol w="2880360"/>
                <a:gridCol w="233172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245C4F"/>
                          </a:solidFill>
                          <a:latin typeface="Arial Unicode MS"/>
                        </a:rPr>
                        <a:t>作者门槛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245C4F"/>
                          </a:solidFill>
                          <a:latin typeface="Arial Unicode MS"/>
                        </a:rPr>
                        <a:t>主模型 N／作者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245C4F"/>
                          </a:solidFill>
                          <a:latin typeface="Arial Unicode MS"/>
                        </a:rPr>
                        <a:t>五项联合p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245C4F"/>
                          </a:solidFill>
                          <a:latin typeface="Arial Unicode MS"/>
                        </a:rPr>
                        <a:t>成分模型 N／作者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245C4F"/>
                          </a:solidFill>
                          <a:latin typeface="Arial Unicode MS"/>
                        </a:rPr>
                        <a:t>成分联合p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原样本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9,532 / 100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0.130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2,470 / 86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0.166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至少5帖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9,524 / 95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0.131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2,423 / 64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0.179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至少10帖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9,462 / 87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0.130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2,309 / 48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20332F"/>
                          </a:solidFill>
                          <a:latin typeface="Arial Unicode MS"/>
                        </a:rPr>
                        <a:t>0.266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55046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20332F"/>
                </a:solidFill>
                <a:latin typeface="Arial Unicode MS"/>
              </a:rPr>
              <a:t>主样本作者内变化人数：自律76、社交42、积极64、问号32。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989320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5C4F"/>
                </a:solidFill>
                <a:latin typeface="Arial Unicode MS"/>
              </a:rPr>
              <a:t>少帖剔除未改变主判断；它不能解决缺失选择、曝光差异或标签语义问题。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5C4F"/>
                </a:solidFill>
                <a:latin typeface="Arial Unicode MS"/>
              </a:rPr>
              <a:t>RQ2  文字、成分与点赞的关联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9327" y="27432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56F"/>
                </a:solidFill>
                <a:latin typeface="Arial Unicode MS"/>
              </a:rPr>
              <a:t>文字表达与点赞的关联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332F"/>
                </a:solidFill>
                <a:latin typeface="Arial Unicode MS"/>
              </a:rPr>
              <a:t>原模型已有标签有无控制；tag内容另作对照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56F"/>
                </a:solidFill>
                <a:latin typeface="Arial Unicode MS"/>
              </a:rPr>
              <a:t>9个标签按≥30帖且≥5位作者选择，不参考点赞；拼接tag是改变测量范围的补充分析。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756F"/>
                </a:solidFill>
                <a:latin typeface="Arial Unicode MS"/>
              </a:rPr>
              <a:t>18 /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09928"/>
            <a:ext cx="108813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45C4F"/>
                </a:solidFill>
                <a:latin typeface="Arial Unicode MS"/>
              </a:rPr>
              <a:t>5,209帖有tag · 269种 · 1,517帖缺正文但有tag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2450592"/>
          <a:ext cx="109727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874519"/>
                <a:gridCol w="265176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模型设定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五项联合p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积极β／BH q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245C4F"/>
                          </a:solidFill>
                          <a:latin typeface="Arial Unicode MS"/>
                        </a:rPr>
                        <a:t>所回答的问题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历史M3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0.130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-0.086 / 0.079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正文编码＋has_tag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加9个tag身份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0.102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-0.083 / 0.088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正文范围不变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正文＋tag重编码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0.173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-0.070 / 0.167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20332F"/>
                          </a:solidFill>
                          <a:latin typeface="Arial Unicode MS"/>
                        </a:rPr>
                        <a:t>被测文字范围改变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" y="5285232"/>
            <a:ext cx="108813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B97339"/>
                </a:solidFill>
                <a:latin typeface="Arial Unicode MS"/>
              </a:rPr>
              <a:t>拼接后：自律命中 877 → 3,342；问号 125 → 354。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91616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20332F"/>
                </a:solidFill>
                <a:latin typeface="Arial Unicode MS"/>
              </a:rPr>
              <a:t>平台话题措辞不等于正文表达；tag身份是元数据，不是人工分类的标准答案。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7432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45C4F"/>
                </a:solidFill>
                <a:latin typeface="Arial Unicode MS"/>
              </a:rPr>
              <a:t>RQ2  文字、成分与点赞的关联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9327" y="27432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5756F"/>
                </a:solidFill>
                <a:latin typeface="Arial Unicode MS"/>
              </a:rPr>
              <a:t>探索性文本成分与点赞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1109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0332F"/>
                </a:solidFill>
                <a:latin typeface="Arial Unicode MS"/>
              </a:rPr>
              <a:t>连续权重、主导归类与0–1多标签是三种对象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83096"/>
            <a:ext cx="1038758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5756F"/>
                </a:solidFill>
                <a:latin typeface="Arial Unicode MS"/>
              </a:rPr>
              <a:t>阈值属本轮提出的探索性诊断；未验证旧成分语义，不能将其当作分类已修复。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63656" y="6464808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5756F"/>
                </a:solidFill>
                <a:latin typeface="Arial Unicode MS"/>
              </a:rPr>
              <a:t>20 / 30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" y="178308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246120"/>
                <a:gridCol w="5669280"/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45C4F"/>
                          </a:solidFill>
                          <a:latin typeface="Arial Unicode MS"/>
                        </a:rPr>
                        <a:t>对象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45C4F"/>
                          </a:solidFill>
                          <a:latin typeface="Arial Unicode MS"/>
                        </a:rPr>
                        <a:t>定义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245C4F"/>
                          </a:solidFill>
                          <a:latin typeface="Arial Unicode MS"/>
                        </a:rPr>
                        <a:t>互斥／回归含义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原连续权重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每帖5项权重，合计1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语义可共存；带截距省一权重避免完全共线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主导成分描述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argmax，最高权重归一类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仅描述图互斥，不能当真实分类精度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补充0–1多标签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w_k ≥ 0.20记1；允许多个1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20332F"/>
                          </a:solidFill>
                          <a:latin typeface="Arial Unicode MS"/>
                        </a:rPr>
                        <a:t>5项全入模满秩171／171；不是单一基准类比较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4572000"/>
          <a:ext cx="7452359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743200"/>
                <a:gridCol w="1828800"/>
                <a:gridCol w="1874519"/>
              </a:tblGrid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45C4F"/>
                          </a:solidFill>
                          <a:latin typeface="Arial Unicode MS"/>
                        </a:rPr>
                        <a:t>阈值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45C4F"/>
                          </a:solidFill>
                          <a:latin typeface="Arial Unicode MS"/>
                        </a:rPr>
                        <a:t>多标记帖／2,470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45C4F"/>
                          </a:solidFill>
                          <a:latin typeface="Arial Unicode MS"/>
                        </a:rPr>
                        <a:t>联合p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245C4F"/>
                          </a:solidFill>
                          <a:latin typeface="Arial Unicode MS"/>
                        </a:rPr>
                        <a:t>最小BH q</a:t>
                      </a:r>
                    </a:p>
                  </a:txBody>
                  <a:tcPr marL="91440" marR="91440" marT="64008" marB="64008" anchor="ctr">
                    <a:solidFill>
                      <a:srgbClr val="EDF4F0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0.15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1,331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0.289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0.205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0.20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1,088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0.286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0.296</a:t>
                      </a:r>
                    </a:p>
                  </a:txBody>
                  <a:tcPr marL="91440" marR="91440" marT="64008" marB="64008" anchor="ctr">
                    <a:solidFill>
                      <a:srgbClr val="F6F8F7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0.25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835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0.517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20332F"/>
                          </a:solidFill>
                          <a:latin typeface="Arial Unicode MS"/>
                        </a:rPr>
                        <a:t>0.479</a:t>
                      </a:r>
                    </a:p>
                  </a:txBody>
                  <a:tcPr marL="91440" marR="91440" marT="64008" marB="64008" anchor="ctr">
                    <a:solidFill>
                      <a:srgbClr val="FFFFFF"/>
                    </a:solidFill>
                    <a:lnL w="6000">
                      <a:solidFill>
                        <a:srgbClr val="FFFFFF"/>
                      </a:solidFill>
                    </a:lnL>
                    <a:lnR w="6000">
                      <a:solidFill>
                        <a:srgbClr val="FFFFFF"/>
                      </a:solidFill>
                    </a:lnR>
                    <a:lnT w="6000">
                      <a:solidFill>
                        <a:srgbClr val="FFFFFF"/>
                      </a:solidFill>
                    </a:lnT>
                    <a:lnB w="600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21040" y="4681728"/>
            <a:ext cx="321868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5C4F"/>
                </a:solidFill>
                <a:latin typeface="Arial Unicode MS"/>
              </a:rPr>
              <a:t>0.20阈值：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5C4F"/>
                </a:solidFill>
                <a:latin typeface="Arial Unicode MS"/>
              </a:rPr>
              <a:t>1,088帖有≥2标记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45C4F"/>
                </a:solidFill>
                <a:latin typeface="Arial Unicode MS"/>
              </a:rPr>
              <a:t>比例合计145.9%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Unicode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 Unicode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社交媒体网络分析课程小组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Keep社区内容表达与互动反馈｜老师意见修订版</dc:title>
  <dc:subject>正文可观测范围、词典测量、作者支持及探索性成分的修订分析</dc:subject>
  <dc:creator>陈霖、董依心</dc:creator>
  <cp:lastModifiedBy>陈霖、董依心</cp:lastModifiedBy>
  <cp:revision>1</cp:revision>
  <dcterms:created xsi:type="dcterms:W3CDTF">2026-10-28T06:09:09Z</dcterms:created>
  <dcterms:modified xsi:type="dcterms:W3CDTF">2026-10-28T06:09:09Z</dcterms:modified>
</cp:coreProperties>
</file>