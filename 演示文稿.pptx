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先介绍研究题目和成员。说明研究使用课程提供的Keep数据，帖子实际发表于2020年11—12月UTC，而不是文件名中的2022年。点赞是平台内反馈，不能代表运动效果。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用三个问题串联描述、解释与建议。强调研究观察统计关联，不能回答改写文案是否会因果提高点赞。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引用Richardson等2010年的随机试验：社区功能降低流失，未发现组间步数增幅显著差异。我们不把该结果套用Keep，而是据此区分参与和行为结果。课程第七周汇报允许初步结果，本稿已有完整分析，可直接用于汇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逐项说明质量发现怎样改变设计：缺失正文保留并设指示变量；评论不完整所以不做评论数全样本回归；浏览字段口径存疑所以用点赞数。清洗没有删掉低赞或高赞用户。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先解释对数图横轴。作者发帖中位数66条，最多783条，同一作者帖子不独立，后续聚类标准误对应100位作者。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用夜跑打卡生成self_discipline=1的例子说明非结构化到结构化过程。补充has_text、has_tag、表情和课程标记控制。词典拟合前固定，但没有事前注册。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解释有正文的5548帖与所有9532帖两个分母。社交词和问号分别仅42和32位作者提供内部变化，区间会较宽。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解释同一作者发帖比较。没有曝光、粉丝与统一采集时间，固定效应没有消除全部混杂。若被问到公式，请对应报告第09节。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图中误差线是原始95%聚类置信区间，未做多重检验调整。积极表达虽然区间未跨0，经过五项检验校正后证据不足。不要把模型总R²约0.688都归因于文本。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解释为什么不因长尾强行删除极端值：主模型保留，敏感性规格另行比较。PPML以原始点赞数的条件算术均值为目标，OLS刻画对数结果。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这是方法上的边界检查。规则本身能复现不代表语义测量有效，未命中也不等于没有表达。没有使用结果来反复修改词典以获取显著系数。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不要把所有回复都连向帖主。评论最晚到2021年8月，所以网络指标不作为发帖前影响力加入回归。金色表示样本作者，蓝色表示其他参与者；节点大小按加权入度对数缩放。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样本从100位作者帖子出发，根评论天然指向帖主，会形成中心。互惠率按有反向边的有向边占比，不按权重；两个网络节点集合不同，不能解释为行为下降。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提出用户层面随机分组，避免同作者跨组污染；三组可为过程记录提示、面向伙伴问题提示和常规发布，固定7天，样本量先做试点再计算。不宣称已发现提升方案。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回到三个研究问题，分别给出描述、条件关联和网络结构答案。说明所有材料都可以本地复现。附参考资料：课程NLP与网络讲义；Richardson等2010；statsmodels官方文档。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感谢听众并进入讨论。每名组员应汇报自己实际负责的内容。请在提交前替换姓名、组号与学号，并修改为真实贡献。互评需每人独立据实完成，模板不代表完成记录。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356D9A"/>
                </a:solidFill>
                <a:latin typeface="Microsoft YaHei"/>
                <a:ea typeface="Microsoft YaHei"/>
              </a:rPr>
              <a:t>KEEP COMMUNITY  /  小组项目  / 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400" b="1">
                <a:solidFill>
                  <a:srgbClr val="213444"/>
                </a:solidFill>
                <a:latin typeface="Microsoft YaHei"/>
                <a:ea typeface="Microsoft YaHei"/>
              </a:rPr>
              <a:t>什么样的健身分享更容易获得点赞？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74519"/>
            <a:ext cx="1069848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>Keep 社区帖子文本、点赞表现与评论互动网络分析</a:t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>第【待填写】组 · 【待填写：成员姓名及学号】</a:t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>100位作者 · 9,532条帖子 · 11,595条去重评论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71818B"/>
                </a:solidFill>
                <a:latin typeface="Microsoft YaHei"/>
                <a:ea typeface="Microsoft YaHei"/>
              </a:rPr>
              <a:t>Keep课程样本；观察性分析。全部数值与口径见分析报告及附带结果。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356D9A"/>
                </a:solidFill>
                <a:latin typeface="Microsoft YaHei"/>
                <a:ea typeface="Microsoft YaHe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356D9A"/>
                </a:solidFill>
                <a:latin typeface="Microsoft YaHei"/>
                <a:ea typeface="Microsoft YaHei"/>
              </a:rPr>
              <a:t>KEEP COMMUNITY  /  小组项目  / 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000" b="1">
                <a:solidFill>
                  <a:srgbClr val="213444"/>
                </a:solidFill>
                <a:latin typeface="Microsoft YaHei"/>
                <a:ea typeface="Microsoft YaHei"/>
              </a:rPr>
              <a:t>研究问题：表达方式与点赞有关吗？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74519"/>
            <a:ext cx="1069848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>RQ1：帖子、表达方式与点赞如何分布？</a:t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>RQ2：同一作者的文本特征与点赞是否相关？</a:t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>RQ3：评论连接了谁，互动是否集中？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71818B"/>
                </a:solidFill>
                <a:latin typeface="Microsoft YaHei"/>
                <a:ea typeface="Microsoft YaHei"/>
              </a:rPr>
              <a:t>Keep课程样本；观察性分析。全部数值与口径见分析报告及附带结果。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356D9A"/>
                </a:solidFill>
                <a:latin typeface="Microsoft YaHei"/>
                <a:ea typeface="Microsoft YaHe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356D9A"/>
                </a:solidFill>
                <a:latin typeface="Microsoft YaHei"/>
                <a:ea typeface="Microsoft YaHei"/>
              </a:rPr>
              <a:t>KEEP COMMUNITY  /  小组项目  / 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000" b="1">
                <a:solidFill>
                  <a:srgbClr val="213444"/>
                </a:solidFill>
                <a:latin typeface="Microsoft YaHei"/>
                <a:ea typeface="Microsoft YaHei"/>
              </a:rPr>
              <a:t>研究意义与计划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74519"/>
            <a:ext cx="1069848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>在线社区可能有助于留存，社区互动与运动成效需要区分。[1]</a:t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>计划：清洗 → 文本编码 → 固定效应回归 → 稳健性 → 网络 → 建议</a:t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>以上分析均已完成；后续实验仅为研究方案。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715000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0">
                <a:solidFill>
                  <a:srgbClr val="356D9A"/>
                </a:solidFill>
                <a:latin typeface="Microsoft YaHei"/>
                <a:ea typeface="Microsoft YaHei"/>
              </a:rPr>
              <a:t>[1] Richardson et al., Journal of Medical Internet Research, 2010;12(4):e71. doi:10.2196/jmir.1338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71818B"/>
                </a:solidFill>
                <a:latin typeface="Microsoft YaHei"/>
                <a:ea typeface="Microsoft YaHei"/>
              </a:rPr>
              <a:t>Keep课程样本；观察性分析。全部数值与口径见分析报告及附带结果。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356D9A"/>
                </a:solidFill>
                <a:latin typeface="Microsoft YaHei"/>
                <a:ea typeface="Microsoft YaHe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356D9A"/>
                </a:solidFill>
                <a:latin typeface="Microsoft YaHei"/>
                <a:ea typeface="Microsoft YaHei"/>
              </a:rPr>
              <a:t>KEEP COMMUNITY  /  小组项目  / 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000" b="1">
                <a:solidFill>
                  <a:srgbClr val="213444"/>
                </a:solidFill>
                <a:latin typeface="Microsoft YaHei"/>
                <a:ea typeface="Microsoft YaHei"/>
              </a:rPr>
              <a:t>数据核查决定能回答什么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74519"/>
            <a:ext cx="1069848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评论13,511行 → 按cmtId去重后11,595条；1,916行完全重复。</a:t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正文缺失41.8%；仅1,323帖采集到评论，其余不记为零评论。</a:t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86.9%帖子点赞高于浏览数：不用该浏览字段计算点赞率。</a:t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北京时间逐日建模；末尾跨至2021-01-01。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71818B"/>
                </a:solidFill>
                <a:latin typeface="Microsoft YaHei"/>
                <a:ea typeface="Microsoft YaHei"/>
              </a:rPr>
              <a:t>Keep课程样本；观察性分析。全部数值与口径见分析报告及附带结果。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356D9A"/>
                </a:solidFill>
                <a:latin typeface="Microsoft YaHei"/>
                <a:ea typeface="Microsoft YaHe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356D9A"/>
                </a:solidFill>
                <a:latin typeface="Microsoft YaHei"/>
                <a:ea typeface="Microsoft YaHei"/>
              </a:rPr>
              <a:t>KEEP COMMUNITY  /  小组项目  / 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000" b="1">
                <a:solidFill>
                  <a:srgbClr val="213444"/>
                </a:solidFill>
                <a:latin typeface="Microsoft YaHei"/>
                <a:ea typeface="Microsoft YaHei"/>
              </a:rPr>
              <a:t>点赞分布存在长尾</a:t>
            </a:r>
          </a:p>
        </p:txBody>
      </p:sp>
      <p:pic>
        <p:nvPicPr>
          <p:cNvPr id="4" name="Picture 3" descr="01_sample_and_lik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" y="2650122"/>
            <a:ext cx="7452360" cy="242643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828800"/>
            <a:ext cx="338328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均值37.05，中位数25，最大5,126；零点赞占3.8%。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用ln(1+点赞数)；按作者聚类；另检查计数模型。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首末本地日期不完整，不解释末尾下降为活跃度骤降。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71818B"/>
                </a:solidFill>
                <a:latin typeface="Microsoft YaHei"/>
                <a:ea typeface="Microsoft YaHei"/>
              </a:rPr>
              <a:t>Keep课程样本；观察性分析。全部数值与口径见分析报告及附带结果。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356D9A"/>
                </a:solidFill>
                <a:latin typeface="Microsoft YaHei"/>
                <a:ea typeface="Microsoft YaHe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356D9A"/>
                </a:solidFill>
                <a:latin typeface="Microsoft YaHei"/>
                <a:ea typeface="Microsoft YaHei"/>
              </a:rPr>
              <a:t>KEEP COMMUNITY  /  小组项目  /  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000" b="1">
                <a:solidFill>
                  <a:srgbClr val="213444"/>
                </a:solidFill>
                <a:latin typeface="Microsoft YaHei"/>
                <a:ea typeface="Microsoft YaHei"/>
              </a:rPr>
              <a:t>如何把正文变成回归变量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74519"/>
            <a:ext cx="1069848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>核心变量：长度、自律/目标词、社交称呼/互助词、积极表达词、问号。</a:t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>清理URL、课程后缀、表情标记；话题标签单独编码。</a:t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>词典命中可重叠；只表示字面表达，不是心理或情感量表。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71818B"/>
                </a:solidFill>
                <a:latin typeface="Microsoft YaHei"/>
                <a:ea typeface="Microsoft YaHei"/>
              </a:rPr>
              <a:t>Keep课程样本；观察性分析。全部数值与口径见分析报告及附带结果。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356D9A"/>
                </a:solidFill>
                <a:latin typeface="Microsoft YaHei"/>
                <a:ea typeface="Microsoft YaHe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356D9A"/>
                </a:solidFill>
                <a:latin typeface="Microsoft YaHei"/>
                <a:ea typeface="Microsoft YaHei"/>
              </a:rPr>
              <a:t>KEEP COMMUNITY  /  小组项目  /  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000" b="1">
                <a:solidFill>
                  <a:srgbClr val="213444"/>
                </a:solidFill>
                <a:latin typeface="Microsoft YaHei"/>
                <a:ea typeface="Microsoft YaHei"/>
              </a:rPr>
              <a:t>文本规模：注意分母和低频特征</a:t>
            </a:r>
          </a:p>
        </p:txBody>
      </p:sp>
      <p:pic>
        <p:nvPicPr>
          <p:cNvPr id="4" name="Picture 3" descr="03_text_fea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" y="2580225"/>
            <a:ext cx="7452360" cy="256622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828800"/>
            <a:ext cx="338328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自律/目标词877帖：全部帖9.2%；可见正文15.8%。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社交词159帖；问号125帖，提供作者内变化的人数较少。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高频词是逐帖去重后的文档频数，不能当作效果证据。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71818B"/>
                </a:solidFill>
                <a:latin typeface="Microsoft YaHei"/>
                <a:ea typeface="Microsoft YaHei"/>
              </a:rPr>
              <a:t>Keep课程样本；观察性分析。全部数值与口径见分析报告及附带结果。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356D9A"/>
                </a:solidFill>
                <a:latin typeface="Microsoft YaHei"/>
                <a:ea typeface="Microsoft YaHe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356D9A"/>
                </a:solidFill>
                <a:latin typeface="Microsoft YaHei"/>
                <a:ea typeface="Microsoft YaHei"/>
              </a:rPr>
              <a:t>KEEP COMMUNITY  /  小组项目  /  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000" b="1">
                <a:solidFill>
                  <a:srgbClr val="213444"/>
                </a:solidFill>
                <a:latin typeface="Microsoft YaHei"/>
                <a:ea typeface="Microsoft YaHei"/>
              </a:rPr>
              <a:t>主模型：控制作者和日期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74519"/>
            <a:ext cx="1069848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因变量 ln(1+likes)；全部9,532帖，100位作者。</a:t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作者固定效应 + 日期固定效应 + 内容形式/类型/时段及文本标记。</a:t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作者聚类CR1标准误；t分布df=99；五项核心检验BH校正。</a:t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作者内不变的性别、会员、等级等由作者固定效应吸收。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71818B"/>
                </a:solidFill>
                <a:latin typeface="Microsoft YaHei"/>
                <a:ea typeface="Microsoft YaHei"/>
              </a:rPr>
              <a:t>Keep课程样本；观察性分析。全部数值与口径见分析报告及附带结果。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356D9A"/>
                </a:solidFill>
                <a:latin typeface="Microsoft YaHei"/>
                <a:ea typeface="Microsoft YaHe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356D9A"/>
                </a:solidFill>
                <a:latin typeface="Microsoft YaHei"/>
                <a:ea typeface="Microsoft YaHei"/>
              </a:rPr>
              <a:t>KEEP COMMUNITY  /  小组项目  /  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000" b="1">
                <a:solidFill>
                  <a:srgbClr val="213444"/>
                </a:solidFill>
                <a:latin typeface="Microsoft YaHei"/>
                <a:ea typeface="Microsoft YaHei"/>
              </a:rPr>
              <a:t>主结果：没有明确的高赞用词公式</a:t>
            </a:r>
          </a:p>
        </p:txBody>
      </p:sp>
      <p:pic>
        <p:nvPicPr>
          <p:cNvPr id="4" name="Picture 3" descr="04_main_coeffici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" y="2397089"/>
            <a:ext cx="7452360" cy="29325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828800"/>
            <a:ext cx="338328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五项核心特征联合检验p=0.130；新增R²仅0.065个百分点。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积极表达词β=-0.086；原始p=0.016，BH q=0.079。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不显著不是证明无作用；现有测量下证据不足。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71818B"/>
                </a:solidFill>
                <a:latin typeface="Microsoft YaHei"/>
                <a:ea typeface="Microsoft YaHei"/>
              </a:rPr>
              <a:t>Keep课程样本；观察性分析。全部数值与口径见分析报告及附带结果。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356D9A"/>
                </a:solidFill>
                <a:latin typeface="Microsoft YaHei"/>
                <a:ea typeface="Microsoft YaHe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356D9A"/>
                </a:solidFill>
                <a:latin typeface="Microsoft YaHei"/>
                <a:ea typeface="Microsoft YaHei"/>
              </a:rPr>
              <a:t>KEEP COMMUNITY  /  小组项目  / 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000" b="1">
                <a:solidFill>
                  <a:srgbClr val="213444"/>
                </a:solidFill>
                <a:latin typeface="Microsoft YaHei"/>
                <a:ea typeface="Microsoft YaHei"/>
              </a:rPr>
              <a:t>稳健性：结论依赖尺度与规格</a:t>
            </a:r>
          </a:p>
        </p:txBody>
      </p:sp>
      <p:pic>
        <p:nvPicPr>
          <p:cNvPr id="4" name="Picture 3" descr="05_robust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" y="2716421"/>
            <a:ext cx="7452360" cy="22938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828800"/>
            <a:ext cx="338328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检查仅可见正文、去最高1%点赞、作者等权、PPML计数模型。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积极表达词的PPML区间包含0，原始p=0.103。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OLS与PPML的估计量不同；不能以某个规格显著就宣称稳健。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71818B"/>
                </a:solidFill>
                <a:latin typeface="Microsoft YaHei"/>
                <a:ea typeface="Microsoft YaHei"/>
              </a:rPr>
              <a:t>Keep课程样本；观察性分析。全部数值与口径见分析报告及附带结果。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356D9A"/>
                </a:solidFill>
                <a:latin typeface="Microsoft YaHei"/>
                <a:ea typeface="Microsoft Ya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356D9A"/>
                </a:solidFill>
                <a:latin typeface="Microsoft YaHei"/>
                <a:ea typeface="Microsoft YaHei"/>
              </a:rPr>
              <a:t>KEEP COMMUNITY  /  小组项目  / 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000" b="1">
                <a:solidFill>
                  <a:srgbClr val="213444"/>
                </a:solidFill>
                <a:latin typeface="Microsoft YaHei"/>
                <a:ea typeface="Microsoft YaHei"/>
              </a:rPr>
              <a:t>词典测量也需要接受检查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74519"/>
            <a:ext cx="1069848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>40个帖子—特征检查单元：按规则命中分层抽样，无点赞展示。</a:t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>“完成”可能指绘画；“一起”可能描述线下朋友；问号可能是反问。</a:t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>Codex辅助抽查，未做独立人工双编码；不宣称准确率。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71818B"/>
                </a:solidFill>
                <a:latin typeface="Microsoft YaHei"/>
                <a:ea typeface="Microsoft YaHei"/>
              </a:rPr>
              <a:t>Keep课程样本；观察性分析。全部数值与口径见分析报告及附带结果。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356D9A"/>
                </a:solidFill>
                <a:latin typeface="Microsoft YaHei"/>
                <a:ea typeface="Microsoft Ya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356D9A"/>
                </a:solidFill>
                <a:latin typeface="Microsoft YaHei"/>
                <a:ea typeface="Microsoft YaHei"/>
              </a:rPr>
              <a:t>KEEP COMMUNITY  /  小组项目  / 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000" b="1">
                <a:solidFill>
                  <a:srgbClr val="213444"/>
                </a:solidFill>
                <a:latin typeface="Microsoft YaHei"/>
                <a:ea typeface="Microsoft YaHei"/>
              </a:rPr>
              <a:t>评论网络：明确每条边的指向</a:t>
            </a:r>
          </a:p>
        </p:txBody>
      </p:sp>
      <p:pic>
        <p:nvPicPr>
          <p:cNvPr id="4" name="Picture 3" descr="06_comment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279" y="1851660"/>
            <a:ext cx="7255921" cy="4023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828800"/>
            <a:ext cx="338328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根评论：评论者→帖主；明确回复：回复者→replyUserId。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去重后移除84次自我互动；11,511事件合并为4,069条边。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2,932个有边节点；箭头在图中省略，原数据保持有向。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71818B"/>
                </a:solidFill>
                <a:latin typeface="Microsoft YaHei"/>
                <a:ea typeface="Microsoft YaHei"/>
              </a:rPr>
              <a:t>Keep课程样本；观察性分析。全部数值与口径见分析报告及附带结果。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356D9A"/>
                </a:solidFill>
                <a:latin typeface="Microsoft YaHei"/>
                <a:ea typeface="Microsoft YaHe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356D9A"/>
                </a:solidFill>
                <a:latin typeface="Microsoft YaHei"/>
                <a:ea typeface="Microsoft YaHei"/>
              </a:rPr>
              <a:t>KEEP COMMUNITY  /  小组项目  / 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000" b="1">
                <a:solidFill>
                  <a:srgbClr val="213444"/>
                </a:solidFill>
                <a:latin typeface="Microsoft YaHei"/>
                <a:ea typeface="Microsoft YaHei"/>
              </a:rPr>
              <a:t>互动集中，但样本边界影响很大</a:t>
            </a:r>
          </a:p>
        </p:txBody>
      </p:sp>
      <p:pic>
        <p:nvPicPr>
          <p:cNvPr id="4" name="Picture 3" descr="07_network_concent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" y="2614975"/>
            <a:ext cx="7452360" cy="249672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828800"/>
            <a:ext cx="338328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前10位接收者获得54.0%互动；第一位12.0%。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整体互惠率49.6%；仅明确回复子网络29.9%。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这是采集网络的接收事件数，不是平台影响力或独立粉丝数。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71818B"/>
                </a:solidFill>
                <a:latin typeface="Microsoft YaHei"/>
                <a:ea typeface="Microsoft YaHei"/>
              </a:rPr>
              <a:t>Keep课程样本；观察性分析。全部数值与口径见分析报告及附带结果。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356D9A"/>
                </a:solidFill>
                <a:latin typeface="Microsoft YaHei"/>
                <a:ea typeface="Microsoft YaHe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356D9A"/>
                </a:solidFill>
                <a:latin typeface="Microsoft YaHei"/>
                <a:ea typeface="Microsoft YaHei"/>
              </a:rPr>
              <a:t>KEEP COMMUNITY  /  小组项目  / 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000" b="1">
                <a:solidFill>
                  <a:srgbClr val="213444"/>
                </a:solidFill>
                <a:latin typeface="Microsoft YaHei"/>
                <a:ea typeface="Microsoft YaHei"/>
              </a:rPr>
              <a:t>建议：把表达方案交给对照实验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74519"/>
            <a:ext cx="1069848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不承诺“加某个词就会涨赞”；先保证真实、完整且易交流的内容。</a:t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固定观察窗口、记录真实曝光；按作者随机分组评估提示文案。</a:t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关注低反馈用户与回复质量，同时验证抽样是否造成集中。</a:t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未执行的实验是后续设计，不是已证实的增长方案。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71818B"/>
                </a:solidFill>
                <a:latin typeface="Microsoft YaHei"/>
                <a:ea typeface="Microsoft YaHei"/>
              </a:rPr>
              <a:t>Keep课程样本；观察性分析。全部数值与口径见分析报告及附带结果。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356D9A"/>
                </a:solidFill>
                <a:latin typeface="Microsoft YaHei"/>
                <a:ea typeface="Microsoft YaHe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356D9A"/>
                </a:solidFill>
                <a:latin typeface="Microsoft YaHei"/>
                <a:ea typeface="Microsoft YaHei"/>
              </a:rPr>
              <a:t>KEEP COMMUNITY  /  小组项目  / 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000" b="1">
                <a:solidFill>
                  <a:srgbClr val="213444"/>
                </a:solidFill>
                <a:latin typeface="Microsoft YaHei"/>
                <a:ea typeface="Microsoft YaHei"/>
              </a:rPr>
              <a:t>结论、局限与可复现性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74519"/>
            <a:ext cx="1069848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主结论：没有充分证据支持稳定的高赞词汇策略。</a:t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100位作者课程样本，抽样机制不明；正文/视觉缺失；曝光和统一采集时点未知。</a:t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代码、原始Keep数据、特征表、回归结果与已执行Notebook全部随附。</a:t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数值独立复核；填好组号、成员后按课程要求打包提交。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71818B"/>
                </a:solidFill>
                <a:latin typeface="Microsoft YaHei"/>
                <a:ea typeface="Microsoft YaHei"/>
              </a:rPr>
              <a:t>Keep课程样本；观察性分析。全部数值与口径见分析报告及附带结果。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356D9A"/>
                </a:solidFill>
                <a:latin typeface="Microsoft YaHei"/>
                <a:ea typeface="Microsoft YaHe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356D9A"/>
                </a:solidFill>
                <a:latin typeface="Microsoft YaHei"/>
                <a:ea typeface="Microsoft YaHei"/>
              </a:rPr>
              <a:t>KEEP COMMUNITY  /  小组项目  / 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000" b="1">
                <a:solidFill>
                  <a:srgbClr val="213444"/>
                </a:solidFill>
                <a:latin typeface="Microsoft YaHei"/>
                <a:ea typeface="Microsoft YaHei"/>
              </a:rPr>
              <a:t>小组分工与讨论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74519"/>
            <a:ext cx="1069848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成员A【待填写】：研究问题与背景（1—3页）</a:t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成员B【待填写】：数据与文本（4—7页）</a:t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成员C【待填写】：模型与检验（8—11页）</a:t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成员D【待填写】：网络、建议与总结（12—16页）</a:t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此为建议分工，须按真实人数和贡献修订。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71818B"/>
                </a:solidFill>
                <a:latin typeface="Microsoft YaHei"/>
                <a:ea typeface="Microsoft YaHei"/>
              </a:rPr>
              <a:t>Keep课程样本；观察性分析。全部数值与口径见分析报告及附带结果。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356D9A"/>
                </a:solidFill>
                <a:latin typeface="Microsoft YaHei"/>
                <a:ea typeface="Microsoft YaHei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