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6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导读" id="{3366f9b7-0131-dc66-ac19-dd78fb2eef65}">
          <p14:sldIdLst>
            <p14:sldId id="256"/>
            <p14:sldId id="257"/>
          </p14:sldIdLst>
        </p14:section>
        <p14:section name="01 研究设计与样本" id="{5f77efa2-2cf7-d87d-42ec-20a210ada782}">
          <p14:sldIdLst>
            <p14:sldId id="258"/>
            <p14:sldId id="259"/>
          </p14:sldIdLst>
        </p14:section>
        <p14:section name="02 文字表达与点赞" id="{537904b7-365c-d289-063d-ced812dd0fec}">
          <p14:sldIdLst>
            <p14:sldId id="260"/>
            <p14:sldId id="261"/>
            <p14:sldId id="262"/>
          </p14:sldIdLst>
        </p14:section>
        <p14:section name="03 主题与作者构成" id="{07126e78-4bce-7182-1b5c-cc4caf4cfdb7}">
          <p14:sldIdLst>
            <p14:sldId id="263"/>
            <p14:sldId id="264"/>
          </p14:sldIdLst>
        </p14:section>
        <p14:section name="04 评论语言与直接承接" id="{16ee171b-197c-391e-0ac5-bf24a76672b9}">
          <p14:sldIdLst>
            <p14:sldId id="265"/>
            <p14:sldId id="266"/>
          </p14:sldIdLst>
        </p14:section>
        <p14:section name="05 评论网络与互动形态" id="{ae988814-0cf2-f050-b4be-032b2e0dc9f7}">
          <p14:sldIdLst>
            <p14:sldId id="267"/>
            <p14:sldId id="268"/>
            <p14:sldId id="269"/>
            <p14:sldId id="270"/>
          </p14:sldIdLst>
        </p14:section>
        <p14:section name="06 综合结论与建议" id="{61b1416c-18aa-70d2-ef0b-8b2b95ccdf25}">
          <p14:sldIdLst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平均点赞</c:v>
                </c:pt>
              </c:strCache>
            </c:strRef>
          </c:tx>
          <c:spPr>
            <a:solidFill>
              <a:srgbClr val="6550B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523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图片</c:v>
                  </c:pt>
                  <c:pt idx="1">
                    <c:v>视频</c:v>
                  </c:pt>
                  <c:pt idx="2">
                    <c:v>纯文字</c:v>
                  </c:pt>
                  <c:pt idx="3">
                    <c:v>无媒体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51.03</c:v>
                </c:pt>
                <c:pt idx="1">
                  <c:v>48.05</c:v>
                </c:pt>
                <c:pt idx="2">
                  <c:v>7.94</c:v>
                </c:pt>
                <c:pt idx="3">
                  <c:v>3.91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300" u="none">
                  <a:solidFill>
                    <a:srgbClr val="2523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C697D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12700" cap="flat">
              <a:solidFill>
                <a:srgbClr val="E8E5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697D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命中该表达</c:v>
                </c:pt>
              </c:strCache>
            </c:strRef>
          </c:tx>
          <c:spPr>
            <a:solidFill>
              <a:srgbClr val="6550B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523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自律或目标</c:v>
                  </c:pt>
                  <c:pt idx="1">
                    <c:v>社交或互助</c:v>
                  </c:pt>
                  <c:pt idx="2">
                    <c:v>积极表达</c:v>
                  </c:pt>
                  <c:pt idx="3">
                    <c:v>问号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63.67</c:v>
                </c:pt>
                <c:pt idx="1">
                  <c:v>89.96</c:v>
                </c:pt>
                <c:pt idx="2">
                  <c:v>57.29</c:v>
                </c:pt>
                <c:pt idx="3">
                  <c:v>111.15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未命中</c:v>
                </c:pt>
              </c:strCache>
            </c:strRef>
          </c:tx>
          <c:spPr>
            <a:solidFill>
              <a:srgbClr val="28847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523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自律或目标</c:v>
                  </c:pt>
                  <c:pt idx="1">
                    <c:v>社交或互助</c:v>
                  </c:pt>
                  <c:pt idx="2">
                    <c:v>积极表达</c:v>
                  </c:pt>
                  <c:pt idx="3">
                    <c:v>问号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34.36</c:v>
                </c:pt>
                <c:pt idx="1">
                  <c:v>36.16</c:v>
                </c:pt>
                <c:pt idx="2">
                  <c:v>35.76</c:v>
                </c:pt>
                <c:pt idx="3">
                  <c:v>36.07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2523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697D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"/>
          <c:min val="0"/>
        </c:scaling>
        <c:delete val="0"/>
        <c:axPos val="l"/>
        <c:majorGridlines>
          <c:spPr>
            <a:ln w="12700" cap="flat">
              <a:solidFill>
                <a:srgbClr val="E8E5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697D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Arial Unicode MS"/>
              <a:cs typeface="Arial Unicode M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主导主题占比</c:v>
                </c:pt>
              </c:strCache>
            </c:strRef>
          </c:tx>
          <c:spPr>
            <a:solidFill>
              <a:srgbClr val="6550B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523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运动与训练交流</c:v>
                  </c:pt>
                  <c:pt idx="1">
                    <c:v>生活感悟与问候</c:v>
                  </c:pt>
                  <c:pt idx="2">
                    <c:v>跑步与训练打卡</c:v>
                  </c:pt>
                  <c:pt idx="3">
                    <c:v>靠墙静蹲记录</c:v>
                  </c:pt>
                  <c:pt idx="4">
                    <c:v>骑行里程记录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52.7</c:v>
                </c:pt>
                <c:pt idx="1">
                  <c:v>35.8</c:v>
                </c:pt>
                <c:pt idx="2">
                  <c:v>4.6</c:v>
                </c:pt>
                <c:pt idx="3">
                  <c:v>3.4</c:v>
                </c:pt>
                <c:pt idx="4">
                  <c:v>3.4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2523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C697D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"/>
          <c:min val="0"/>
        </c:scaling>
        <c:delete val="0"/>
        <c:axPos val="b"/>
        <c:majorGridlines>
          <c:spPr>
            <a:ln w="12700" cap="flat">
              <a:solidFill>
                <a:srgbClr val="E8E5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697D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按帖子统计</c:v>
                </c:pt>
              </c:strCache>
            </c:strRef>
          </c:tx>
          <c:spPr>
            <a:solidFill>
              <a:srgbClr val="6550B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523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靠墙静蹲</c:v>
                  </c:pt>
                  <c:pt idx="1">
                    <c:v>骑行记录</c:v>
                  </c:pt>
                  <c:pt idx="2">
                    <c:v>训练交流</c:v>
                  </c:pt>
                  <c:pt idx="3">
                    <c:v>跑步打卡</c:v>
                  </c:pt>
                  <c:pt idx="4">
                    <c:v>生活问候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3.4</c:v>
                </c:pt>
                <c:pt idx="1">
                  <c:v>3.4</c:v>
                </c:pt>
                <c:pt idx="2">
                  <c:v>52.7</c:v>
                </c:pt>
                <c:pt idx="3">
                  <c:v>4.6</c:v>
                </c:pt>
                <c:pt idx="4">
                  <c:v>35.8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每位作者等权</c:v>
                </c:pt>
              </c:strCache>
            </c:strRef>
          </c:tx>
          <c:spPr>
            <a:solidFill>
              <a:srgbClr val="288475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523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靠墙静蹲</c:v>
                  </c:pt>
                  <c:pt idx="1">
                    <c:v>骑行记录</c:v>
                  </c:pt>
                  <c:pt idx="2">
                    <c:v>训练交流</c:v>
                  </c:pt>
                  <c:pt idx="3">
                    <c:v>跑步打卡</c:v>
                  </c:pt>
                  <c:pt idx="4">
                    <c:v>生活问候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0.6</c:v>
                </c:pt>
                <c:pt idx="1">
                  <c:v>2.9</c:v>
                </c:pt>
                <c:pt idx="2">
                  <c:v>52.6</c:v>
                </c:pt>
                <c:pt idx="3">
                  <c:v>5.7</c:v>
                </c:pt>
                <c:pt idx="4">
                  <c:v>38.2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523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697D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"/>
          <c:min val="0"/>
        </c:scaling>
        <c:delete val="0"/>
        <c:axPos val="b"/>
        <c:majorGridlines>
          <c:spPr>
            <a:ln w="12700" cap="flat">
              <a:solidFill>
                <a:srgbClr val="E8E5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697D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Arial Unicode MS"/>
              <a:cs typeface="Arial Unicode M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其他用户（7,192条）</c:v>
                </c:pt>
              </c:strCache>
            </c:strRef>
          </c:tx>
          <c:spPr>
            <a:solidFill>
              <a:srgbClr val="6550B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523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鼓励或赞许词</c:v>
                  </c:pt>
                  <c:pt idx="1">
                    <c:v>感谢词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16.9</c:v>
                </c:pt>
                <c:pt idx="1">
                  <c:v>0.6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帖主（4,403条）</c:v>
                </c:pt>
              </c:strCache>
            </c:strRef>
          </c:tx>
          <c:spPr>
            <a:solidFill>
              <a:srgbClr val="288475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523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鼓励或赞许词</c:v>
                  </c:pt>
                  <c:pt idx="1">
                    <c:v>感谢词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4.5</c:v>
                </c:pt>
                <c:pt idx="1">
                  <c:v>7.9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2523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C697D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12700" cap="flat">
              <a:solidFill>
                <a:srgbClr val="E8E5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697D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Arial Unicode MS"/>
              <a:cs typeface="Arial Unicode M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明确回复的角色份额</c:v>
                </c:pt>
              </c:strCache>
            </c:strRef>
          </c:tx>
          <c:spPr>
            <a:solidFill>
              <a:srgbClr val="6550B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523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帖主 → 其他用户</c:v>
                  </c:pt>
                  <c:pt idx="1">
                    <c:v>其他用户 → 帖主</c:v>
                  </c:pt>
                  <c:pt idx="2">
                    <c:v>其他用户 → 其他用户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89</c:v>
                </c:pt>
                <c:pt idx="1">
                  <c:v>9.1</c:v>
                </c:pt>
                <c:pt idx="2">
                  <c:v>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2523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C697D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5"/>
          <c:min val="0"/>
        </c:scaling>
        <c:delete val="0"/>
        <c:axPos val="b"/>
        <c:majorGridlines>
          <c:spPr>
            <a:ln w="12700" cap="flat">
              <a:solidFill>
                <a:srgbClr val="E8E5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C697D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 25 秒】
本次汇报研究Keep社区中的内容表达与互动反馈。我们主要回答两个问题：帖子怎样写，与点赞有什么关联；评论区中的留言，又是怎样被接住和组织起来的。接下来会沿着内容与互动两条主线，介绍分析方法和核心发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 45 秒】
汇报分为六章。第一章说明样本和比较范围；第二章分析具体文字表达与点赞；第三章进一步看整篇正文的主题。第四章从评论语言追踪到直接回复，第五章把这些发言放进用户关系网络。最后整合结果，提出建议与研究边界。这样的顺序也是实际分析过程：先核清数据，再比较内容，最后理解互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 60 秒】
分析使用100位作者的9,532条帖子。评论原有13,511行，按评论ID删除1,916行重复记录后，剩下11,595条，分布在1,323帖下。这里有两个关键处理：没有可用正文的帖子仍保留，另记录正文是否可用；由于大量帖子点赞高于记录浏览数，我们使用累计点赞，而不计算点赞率。可见正文与清理后非空正文也要区分，分别是5,548和5,414帖。其余帖子没有采到评论，不能当成零评论。后面的内容与互动结论，都只针对这批实际记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 45 秒】
点赞分布具有明显长尾：均值37.05，中位数25，最高超过五千。图中不同媒体形式的基准也很不一样，图片和视频帖平均约五十个赞，纯文字和无媒体帖只有个位数。此外，一位高产作者最多发布783帖，表达习惯会被重复计入。因此，某种措辞对应更多点赞，可能同时反映媒体和作者差异。下一章会通过逐步控制，改变比较条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 75 秒】
我们先把正文清理，再编码五项特征：正文长度，自律目标词、社交互助词、积极表达词和问号。词表命中记为一，不同维度可以重叠，但这些只是字面线索，不能直接当作心理状态。然后依次估计三个模型。M1控制媒体形式等已记录条件；M2加入作者固定效应，扣除作者之间相对稳定的差别；M3再控制发帖日期，作为主模型。因变量是ln一加点赞数，推断时按作者聚类，并做五项多重比较校正。模型仍缺少真实曝光和完整内容，所以估计的是调整后的关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 75 秒】
先看左图，四类表达的命中帖都具有原始平均点赞优势。以积极表达为例，是57.29对35.76。但控制作者、日期和其他已记录条件后，积极表达的关联转为负向，对应一加点赞数的条件几何均值约低8.2%。这里改变的是比较对象：原始分组把不同作者和内容放在一起；调整后的模型更多利用同一作者不同帖子的变化。高反馈作者可能较常使用积极词，同一作者也可能在不同情境里这样表达。反转因此是理解作者与内容构成的线索，还不能说积极用词降低点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 75 秒】
方向变化之外，还要看证据强度。积极表达原始p值是0.016，但五项检验一起做BH校正后，q值为0.079，未达到百分之五标准；其他四项原始区间都包含零。五项文字特征只增加0.065个百分点的解释度，整组联合检验p值为0.130。敏感性检验中，只看可见正文、去掉最高百分之一点赞、作者等权以及逐一剔除作者，积极表达都保留负向；不过计数模型PPML的区间跨零。因此可以说方向较一致，但幅度和精度会变化，更不能形成某个词稳定提高或降低点赞的策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 60 秒】
词典只能识别指定的表达，我们再用主题模型概括整篇正文。先筛选至少三个有效词的文本，构建TF-IDF矩阵，用NMF提取预先固定的五个主题。排除八条成分贡献接近零的正文后，最终分析2,470帖、86位作者。图中按每帖权重最大的主题归类，训练交流占52.7%，生活感悟与问候占35.8%，其余是三类具体运动记录。主题名称不参考点赞。这说明社区有效正文既谈训练，也容纳日常感受，不能只用打卡次数概括内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 60 秒】
主题出现得多，还可能因为少数作者反复记录。为此，我们先算每位作者内部的主题比例，再让86位作者等权。静蹲从按帖统计的3.4%降至0.6%，其85帖中，最大作者贡献了91.8%。训练与生活表达的主要份额则仍然保留。所以按帖看的是内容产量，等权看的是平均作者构成。最后把连续主题权重加入回归，整体联合p值为0.166，单项校正后也未达到标准。内容常见与具有反馈优势，仍然要分别判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 55 秒】
评论以短句为主，清理后长度中位数只有六个字符。加油覆盖431位用户，谢谢却只覆盖53人，所以词频还要结合参与面理解。按所在帖子划分角色后，其他用户的赞许词命中率16.9%，帖主为4.5%；感谢词则相反，帖主7.9%，其他用户0.6%。这呈现出读者赞许、帖主感谢的分工。不过，总体分组还不能确认具体哪句赞许接到了感谢，下一步需要直接配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 80 秒】
直接配对从6,609条外来根评论出发，要求回复来自帖主、属于同一帖子，明确指向该根评论及作者，并发生在根评论后七天内；每条只取最早观测回复，最终配对3,568条。表中要分清两个分母。以全部根评论为分母，鼓励组观察到直接回复的比例为43.5%，另一组56.3%，鼓励组较低。只看已回复记录，最早回复含感谢词的比例却是26.7%对6.4%，鼓励组更高。这说明回话怎样表达，与哪些留言被接住，是两个维度。两组帖主和情境有差别，不能把覆盖差异解释成鼓励词带来的效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 60 秒】
接下来把评论转成有向加权网络。根评论指向帖主，明确回复指向被回复用户；同一对账号同方向的多次互动合并成一条边，次数作为权重。文本统计的11,595条评论排除84次自我互动后，形成11,511次网络事件、4,069条有向边，涉及2,932个账号。图中金色为样本作者，蓝色为其他参与者，节点大小按接收量的对数缩放。图上省略箭头是为了阅读，统计仍然保留方向。这样就可以把评论总量拆回谁向谁发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 50 秒】
忽略方向后，94.4%的账号处于最大的连通部分，但直接关系密度很低。这意味着大家能通过共同评论对象间接串起来，并不代表彼此经常交谈。再看4,902次明确回复，89%由帖主发给其他用户，而其他用户彼此回复只有2%。因此，这批评论区最主要的组织方式，是读者向帖主留言，帖主承接回应，参与者之间的横向对话占比较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 60 秒】
接收事件集中在部分账号，前十位占了54%。但相似接收量，可以对应完全不同的参与面。U1528收到1,378次互动，只有53位发送者；U0948收到1,275次，却来自1,091位发送者。前者更多包含已有账号的重复留言，后者覆盖面明显更广。因此接收事件数，也就是加权入度，反映声量；不同发送者人数，也就是入度，反映关系范围。评价评论活跃时，应同时报告这两项，不能把评论多直接当成参与面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 55 秒】
评论主要发生在发帖后的早期：64.5%在二十四小时内，82.2%在七天内。在线程层面，57%观察到帖主参与；只在这些已参与线程里，帖主首回距根评论的中位间隔约两小时。线程参与包括留言串内的回复，比直接匹配根评论的条件宽，两个比例不能替代。关系层面，全量互惠率为49.6%，仅明确回复为29.9%，也体现根评论加帖主回话形成双向连接。概括来说，互动发生得较早，并且主要由帖主承接，但时间、关系和留言三个层次要分别衡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 70 秒】
将两条分析线合在一起，可以形成三点建议。第一，表达的原始优势会随着作者和情境调整而变化，创作者不必依赖固定关键词模板，可以关注完整内容和持续记录。第二，评论活跃不能只按总量衡量，平台还应看独立参与者和留言承接，关注长期缺少反馈的人。第三，既然评论集中在发帖早期，可以尝试及时回应。不过，这些都是与观察结果对应的参考方向，配图或者早回复能否提高后续互动，现有数据还没有识别，需要进一步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 50 秒】
最后说明边界。样本只有100位作者，抽样机制不明；正文和评论都有缺口，也缺少真实曝光和统一采集时点，所以不能外推到全平台，更不能把点赞等同于运动坚持或留存。后续若获得实验权限，可以按作者随机分组，比较两类表达提示和常规发布，统一观察发帖后七天，同时记录曝光、独立互动人数与回复质量。这样才能从关联分析进一步判断实际效果，这个实验目前尚未实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 30 秒】
最后总结三点：表达的原始优势，需要结合作者和情境理解；训练交流与生活表达并存，但内容频次也受高产作者影响；评论主要围绕帖主展开，评价活跃应同时看次数、人数和回应覆盖。这就是本次内容分析与评论网络共同给出的认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9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B6ADC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课程小组汇报 · 基于排版优化版分析报告</a:t>
            </a:r>
            <a:endParaRPr lang="zh-CN" sz="950" dirty="0"/>
          </a:p>
        </p:txBody>
      </p:sp>
      <p:sp>
        <p:nvSpPr>
          <p:cNvPr id="3" name="Text 1"/>
          <p:cNvSpPr/>
          <p:nvPr/>
        </p:nvSpPr>
        <p:spPr>
          <a:xfrm>
            <a:off x="10954512" y="6446520"/>
            <a:ext cx="740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D5CEE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01 / 18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5760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BAAED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 COMMUNITY</a:t>
            </a:r>
            <a:endParaRPr lang="zh-CN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8138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内容怎样获得反馈，</a:t>
            </a:r>
            <a:endParaRPr lang="zh-CN" sz="3500" dirty="0"/>
          </a:p>
          <a:p>
            <a:pPr algn="l" indent="0" marL="0">
              <a:buNone/>
            </a:pPr>
            <a:r>
              <a:rPr lang="zh-CN" altLang="en-US" sz="3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评论怎样形成往来</a:t>
            </a:r>
            <a:endParaRPr lang="zh-CN" sz="3500" dirty="0"/>
          </a:p>
        </p:txBody>
      </p:sp>
      <p:sp>
        <p:nvSpPr>
          <p:cNvPr id="6" name="Text 4"/>
          <p:cNvSpPr/>
          <p:nvPr/>
        </p:nvSpPr>
        <p:spPr>
          <a:xfrm>
            <a:off x="630936" y="320954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500" dirty="0">
                <a:solidFill>
                  <a:srgbClr val="E5DDF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Keep社区内容表达与互动反馈分析</a:t>
            </a:r>
            <a:endParaRPr lang="zh-CN" sz="2500" dirty="0"/>
          </a:p>
        </p:txBody>
      </p:sp>
      <p:sp>
        <p:nvSpPr>
          <p:cNvPr id="7" name="Text 5"/>
          <p:cNvSpPr/>
          <p:nvPr/>
        </p:nvSpPr>
        <p:spPr>
          <a:xfrm>
            <a:off x="630936" y="4005072"/>
            <a:ext cx="7772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CEC4D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从帖子文字、作者构成与评论关系，</a:t>
            </a:r>
            <a:endParaRPr lang="zh-CN" sz="1900" dirty="0"/>
          </a:p>
          <a:p>
            <a:pPr algn="l" indent="0" marL="0">
              <a:buNone/>
            </a:pPr>
            <a:r>
              <a:rPr lang="zh-CN" altLang="en-US" sz="1900" dirty="0">
                <a:solidFill>
                  <a:srgbClr val="CEC4D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理解这批社区记录中的反馈差异与交流方式。</a:t>
            </a:r>
            <a:endParaRPr lang="zh-CN" sz="1900" dirty="0"/>
          </a:p>
        </p:txBody>
      </p:sp>
      <p:sp>
        <p:nvSpPr>
          <p:cNvPr id="8" name="Text 6"/>
          <p:cNvSpPr/>
          <p:nvPr/>
        </p:nvSpPr>
        <p:spPr>
          <a:xfrm>
            <a:off x="630936" y="5532120"/>
            <a:ext cx="10881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两条分析线：表达与点赞的关联，以及评论中的留言与回应。</a:t>
            </a:r>
            <a:endParaRPr lang="zh-CN" sz="1800" dirty="0"/>
          </a:p>
        </p:txBody>
      </p:sp>
      <p:sp>
        <p:nvSpPr>
          <p:cNvPr id="9" name="Shape 7"/>
          <p:cNvSpPr/>
          <p:nvPr/>
        </p:nvSpPr>
        <p:spPr>
          <a:xfrm>
            <a:off x="8879738" y="2465222"/>
            <a:ext cx="1068934" cy="876910"/>
          </a:xfrm>
          <a:prstGeom prst="line">
            <a:avLst/>
          </a:prstGeom>
          <a:noFill/>
          <a:ln w="25400">
            <a:solidFill>
              <a:srgbClr val="6D608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9948672" y="2510028"/>
            <a:ext cx="800100" cy="832104"/>
          </a:xfrm>
          <a:prstGeom prst="line">
            <a:avLst/>
          </a:prstGeom>
          <a:noFill/>
          <a:ln w="25400">
            <a:solidFill>
              <a:srgbClr val="6D608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9052560" y="3342132"/>
            <a:ext cx="896112" cy="768096"/>
          </a:xfrm>
          <a:prstGeom prst="line">
            <a:avLst/>
          </a:prstGeom>
          <a:noFill/>
          <a:ln w="25400">
            <a:solidFill>
              <a:srgbClr val="6D608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 flipV="1">
            <a:off x="9948672" y="3342132"/>
            <a:ext cx="921715" cy="761695"/>
          </a:xfrm>
          <a:prstGeom prst="line">
            <a:avLst/>
          </a:prstGeom>
          <a:noFill/>
          <a:ln w="25400">
            <a:solidFill>
              <a:srgbClr val="6D608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9948672" y="3262122"/>
            <a:ext cx="1072134" cy="80010"/>
          </a:xfrm>
          <a:prstGeom prst="line">
            <a:avLst/>
          </a:prstGeom>
          <a:noFill/>
          <a:ln w="25400">
            <a:solidFill>
              <a:srgbClr val="6D608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9884664" y="3342132"/>
            <a:ext cx="64008" cy="1088136"/>
          </a:xfrm>
          <a:prstGeom prst="line">
            <a:avLst/>
          </a:prstGeom>
          <a:noFill/>
          <a:ln w="25400">
            <a:solidFill>
              <a:srgbClr val="6D608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0" y="3086100"/>
            <a:ext cx="512064" cy="512064"/>
          </a:xfrm>
          <a:prstGeom prst="ellipse">
            <a:avLst/>
          </a:prstGeom>
          <a:solidFill>
            <a:srgbClr val="288475"/>
          </a:solidFill>
          <a:ln w="12700">
            <a:solidFill>
              <a:srgbClr val="28847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32520" y="2318004"/>
            <a:ext cx="294437" cy="294437"/>
          </a:xfrm>
          <a:prstGeom prst="ellipse">
            <a:avLst/>
          </a:prstGeom>
          <a:solidFill>
            <a:srgbClr val="8775C5"/>
          </a:solidFill>
          <a:ln w="12700">
            <a:solidFill>
              <a:srgbClr val="8775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88752" y="2350008"/>
            <a:ext cx="320040" cy="320040"/>
          </a:xfrm>
          <a:prstGeom prst="ellipse">
            <a:avLst/>
          </a:prstGeom>
          <a:solidFill>
            <a:srgbClr val="8775C5"/>
          </a:solidFill>
          <a:ln w="12700">
            <a:solidFill>
              <a:srgbClr val="8775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60536" y="3918204"/>
            <a:ext cx="384048" cy="384048"/>
          </a:xfrm>
          <a:prstGeom prst="ellipse">
            <a:avLst/>
          </a:prstGeom>
          <a:solidFill>
            <a:srgbClr val="8775C5"/>
          </a:solidFill>
          <a:ln w="12700">
            <a:solidFill>
              <a:srgbClr val="8775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16768" y="3950208"/>
            <a:ext cx="307238" cy="307238"/>
          </a:xfrm>
          <a:prstGeom prst="ellipse">
            <a:avLst/>
          </a:prstGeom>
          <a:solidFill>
            <a:srgbClr val="8775C5"/>
          </a:solidFill>
          <a:ln w="12700">
            <a:solidFill>
              <a:srgbClr val="8775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08792" y="3150108"/>
            <a:ext cx="224028" cy="224028"/>
          </a:xfrm>
          <a:prstGeom prst="ellipse">
            <a:avLst/>
          </a:prstGeom>
          <a:solidFill>
            <a:srgbClr val="8775C5"/>
          </a:solidFill>
          <a:ln w="12700">
            <a:solidFill>
              <a:srgbClr val="8775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56648" y="4302252"/>
            <a:ext cx="256032" cy="256032"/>
          </a:xfrm>
          <a:prstGeom prst="ellipse">
            <a:avLst/>
          </a:prstGeom>
          <a:solidFill>
            <a:srgbClr val="8775C5"/>
          </a:solidFill>
          <a:ln w="12700">
            <a:solidFill>
              <a:srgbClr val="8775C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 社区研究  /  汇报导读</a:t>
            </a:r>
            <a:endParaRPr lang="zh-CN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09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汇报路线：从内容比较走向评论往来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六章依次对应报告第1—3、4、5、6、7、8—9章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10954512" y="6446520"/>
            <a:ext cx="740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02 / 18</a:t>
            </a:r>
            <a:endParaRPr lang="zh-CN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3566160" cy="1435608"/>
          </a:xfrm>
          <a:prstGeom prst="roundRect">
            <a:avLst>
              <a:gd name="adj" fmla="val 7643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" y="1874520"/>
            <a:ext cx="393192" cy="393192"/>
          </a:xfrm>
          <a:prstGeom prst="ellipse">
            <a:avLst/>
          </a:prstGeom>
          <a:solidFill>
            <a:srgbClr val="6550B8"/>
          </a:solidFill>
          <a:ln w="12700">
            <a:solidFill>
              <a:srgbClr val="6550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892808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01</a:t>
            </a:r>
            <a:endParaRPr lang="zh-CN" sz="1300" dirty="0"/>
          </a:p>
        </p:txBody>
      </p:sp>
      <p:sp>
        <p:nvSpPr>
          <p:cNvPr id="9" name="Text 7"/>
          <p:cNvSpPr/>
          <p:nvPr/>
        </p:nvSpPr>
        <p:spPr>
          <a:xfrm>
            <a:off x="1207008" y="1901952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9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研究设计与样本</a:t>
            </a:r>
            <a:endParaRPr lang="zh-CN" sz="1900" dirty="0"/>
          </a:p>
        </p:txBody>
      </p:sp>
      <p:sp>
        <p:nvSpPr>
          <p:cNvPr id="10" name="Text 8"/>
          <p:cNvSpPr/>
          <p:nvPr/>
        </p:nvSpPr>
        <p:spPr>
          <a:xfrm>
            <a:off x="685800" y="2496312"/>
            <a:ext cx="3200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数据清洗与比较范围</a:t>
            </a:r>
            <a:endParaRPr lang="zh-CN" sz="1600" dirty="0"/>
          </a:p>
        </p:txBody>
      </p:sp>
      <p:sp>
        <p:nvSpPr>
          <p:cNvPr id="11" name="Shape 9"/>
          <p:cNvSpPr/>
          <p:nvPr/>
        </p:nvSpPr>
        <p:spPr>
          <a:xfrm>
            <a:off x="4315968" y="1691640"/>
            <a:ext cx="3566160" cy="1435608"/>
          </a:xfrm>
          <a:prstGeom prst="roundRect">
            <a:avLst>
              <a:gd name="adj" fmla="val 7643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1874520"/>
            <a:ext cx="393192" cy="393192"/>
          </a:xfrm>
          <a:prstGeom prst="ellipse">
            <a:avLst/>
          </a:prstGeom>
          <a:solidFill>
            <a:srgbClr val="6550B8"/>
          </a:solidFill>
          <a:ln w="12700">
            <a:solidFill>
              <a:srgbClr val="6550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1892808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02</a:t>
            </a:r>
            <a:endParaRPr lang="zh-CN" sz="1300" dirty="0"/>
          </a:p>
        </p:txBody>
      </p:sp>
      <p:sp>
        <p:nvSpPr>
          <p:cNvPr id="14" name="Text 12"/>
          <p:cNvSpPr/>
          <p:nvPr/>
        </p:nvSpPr>
        <p:spPr>
          <a:xfrm>
            <a:off x="5020056" y="1901952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9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文字表达与点赞</a:t>
            </a:r>
            <a:endParaRPr lang="zh-CN" sz="1900" dirty="0"/>
          </a:p>
        </p:txBody>
      </p:sp>
      <p:sp>
        <p:nvSpPr>
          <p:cNvPr id="15" name="Text 13"/>
          <p:cNvSpPr/>
          <p:nvPr/>
        </p:nvSpPr>
        <p:spPr>
          <a:xfrm>
            <a:off x="4498848" y="2496312"/>
            <a:ext cx="3200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原始差异与调整后关联</a:t>
            </a:r>
            <a:endParaRPr lang="zh-CN" sz="1600" dirty="0"/>
          </a:p>
        </p:txBody>
      </p:sp>
      <p:sp>
        <p:nvSpPr>
          <p:cNvPr id="16" name="Shape 14"/>
          <p:cNvSpPr/>
          <p:nvPr/>
        </p:nvSpPr>
        <p:spPr>
          <a:xfrm>
            <a:off x="8129016" y="1691640"/>
            <a:ext cx="3566160" cy="1435608"/>
          </a:xfrm>
          <a:prstGeom prst="roundRect">
            <a:avLst>
              <a:gd name="adj" fmla="val 7643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93608" y="1874520"/>
            <a:ext cx="393192" cy="393192"/>
          </a:xfrm>
          <a:prstGeom prst="ellipse">
            <a:avLst/>
          </a:prstGeom>
          <a:solidFill>
            <a:srgbClr val="6550B8"/>
          </a:solidFill>
          <a:ln w="12700">
            <a:solidFill>
              <a:srgbClr val="6550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93608" y="1892808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03</a:t>
            </a:r>
            <a:endParaRPr lang="zh-CN" sz="1300" dirty="0"/>
          </a:p>
        </p:txBody>
      </p:sp>
      <p:sp>
        <p:nvSpPr>
          <p:cNvPr id="19" name="Text 17"/>
          <p:cNvSpPr/>
          <p:nvPr/>
        </p:nvSpPr>
        <p:spPr>
          <a:xfrm>
            <a:off x="8833104" y="1901952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9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主题与作者构成</a:t>
            </a:r>
            <a:endParaRPr lang="zh-CN" sz="1900" dirty="0"/>
          </a:p>
        </p:txBody>
      </p:sp>
      <p:sp>
        <p:nvSpPr>
          <p:cNvPr id="20" name="Text 18"/>
          <p:cNvSpPr/>
          <p:nvPr/>
        </p:nvSpPr>
        <p:spPr>
          <a:xfrm>
            <a:off x="8311896" y="2496312"/>
            <a:ext cx="3200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内容产量与作者平均构成</a:t>
            </a:r>
            <a:endParaRPr lang="zh-CN" sz="1600" dirty="0"/>
          </a:p>
        </p:txBody>
      </p:sp>
      <p:sp>
        <p:nvSpPr>
          <p:cNvPr id="21" name="Shape 19"/>
          <p:cNvSpPr/>
          <p:nvPr/>
        </p:nvSpPr>
        <p:spPr>
          <a:xfrm>
            <a:off x="502920" y="3392424"/>
            <a:ext cx="3566160" cy="1435608"/>
          </a:xfrm>
          <a:prstGeom prst="roundRect">
            <a:avLst>
              <a:gd name="adj" fmla="val 7643"/>
            </a:avLst>
          </a:prstGeom>
          <a:solidFill>
            <a:srgbClr val="E8F4F0"/>
          </a:solidFill>
          <a:ln w="12700">
            <a:solidFill>
              <a:srgbClr val="E8F4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7512" y="3575304"/>
            <a:ext cx="393192" cy="393192"/>
          </a:xfrm>
          <a:prstGeom prst="ellipse">
            <a:avLst/>
          </a:prstGeom>
          <a:solidFill>
            <a:srgbClr val="288475"/>
          </a:solidFill>
          <a:ln w="12700">
            <a:solidFill>
              <a:srgbClr val="2884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3593592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04</a:t>
            </a:r>
            <a:endParaRPr lang="zh-CN" sz="1300" dirty="0"/>
          </a:p>
        </p:txBody>
      </p:sp>
      <p:sp>
        <p:nvSpPr>
          <p:cNvPr id="24" name="Text 22"/>
          <p:cNvSpPr/>
          <p:nvPr/>
        </p:nvSpPr>
        <p:spPr>
          <a:xfrm>
            <a:off x="1207008" y="3602736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9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评论语言与直接承接</a:t>
            </a:r>
            <a:endParaRPr lang="zh-CN" sz="1900" dirty="0"/>
          </a:p>
        </p:txBody>
      </p:sp>
      <p:sp>
        <p:nvSpPr>
          <p:cNvPr id="25" name="Text 23"/>
          <p:cNvSpPr/>
          <p:nvPr/>
        </p:nvSpPr>
        <p:spPr>
          <a:xfrm>
            <a:off x="685800" y="4197096"/>
            <a:ext cx="3200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语言角色与直接回复配对</a:t>
            </a:r>
            <a:endParaRPr lang="zh-CN" sz="1600" dirty="0"/>
          </a:p>
        </p:txBody>
      </p:sp>
      <p:sp>
        <p:nvSpPr>
          <p:cNvPr id="26" name="Shape 24"/>
          <p:cNvSpPr/>
          <p:nvPr/>
        </p:nvSpPr>
        <p:spPr>
          <a:xfrm>
            <a:off x="4315968" y="3392424"/>
            <a:ext cx="3566160" cy="1435608"/>
          </a:xfrm>
          <a:prstGeom prst="roundRect">
            <a:avLst>
              <a:gd name="adj" fmla="val 7643"/>
            </a:avLst>
          </a:prstGeom>
          <a:solidFill>
            <a:srgbClr val="E8F4F0"/>
          </a:solidFill>
          <a:ln w="12700">
            <a:solidFill>
              <a:srgbClr val="E8F4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80560" y="3575304"/>
            <a:ext cx="393192" cy="393192"/>
          </a:xfrm>
          <a:prstGeom prst="ellipse">
            <a:avLst/>
          </a:prstGeom>
          <a:solidFill>
            <a:srgbClr val="288475"/>
          </a:solidFill>
          <a:ln w="12700">
            <a:solidFill>
              <a:srgbClr val="28847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0" y="3593592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05</a:t>
            </a:r>
            <a:endParaRPr lang="zh-CN" sz="1300" dirty="0"/>
          </a:p>
        </p:txBody>
      </p:sp>
      <p:sp>
        <p:nvSpPr>
          <p:cNvPr id="29" name="Text 27"/>
          <p:cNvSpPr/>
          <p:nvPr/>
        </p:nvSpPr>
        <p:spPr>
          <a:xfrm>
            <a:off x="5020056" y="3602736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9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评论网络与互动形态</a:t>
            </a:r>
            <a:endParaRPr lang="zh-CN" sz="1900" dirty="0"/>
          </a:p>
        </p:txBody>
      </p:sp>
      <p:sp>
        <p:nvSpPr>
          <p:cNvPr id="30" name="Text 28"/>
          <p:cNvSpPr/>
          <p:nvPr/>
        </p:nvSpPr>
        <p:spPr>
          <a:xfrm>
            <a:off x="4498848" y="4197096"/>
            <a:ext cx="3200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回话角色、参与人数与时序</a:t>
            </a:r>
            <a:endParaRPr lang="zh-CN" sz="1600" dirty="0"/>
          </a:p>
        </p:txBody>
      </p:sp>
      <p:sp>
        <p:nvSpPr>
          <p:cNvPr id="31" name="Shape 29"/>
          <p:cNvSpPr/>
          <p:nvPr/>
        </p:nvSpPr>
        <p:spPr>
          <a:xfrm>
            <a:off x="8129016" y="3392424"/>
            <a:ext cx="3566160" cy="1435608"/>
          </a:xfrm>
          <a:prstGeom prst="roundRect">
            <a:avLst>
              <a:gd name="adj" fmla="val 7643"/>
            </a:avLst>
          </a:prstGeom>
          <a:solidFill>
            <a:srgbClr val="E8F4F0"/>
          </a:solidFill>
          <a:ln w="12700">
            <a:solidFill>
              <a:srgbClr val="E8F4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93608" y="3575304"/>
            <a:ext cx="393192" cy="393192"/>
          </a:xfrm>
          <a:prstGeom prst="ellipse">
            <a:avLst/>
          </a:prstGeom>
          <a:solidFill>
            <a:srgbClr val="288475"/>
          </a:solidFill>
          <a:ln w="12700">
            <a:solidFill>
              <a:srgbClr val="28847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93608" y="3593592"/>
            <a:ext cx="3931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06</a:t>
            </a:r>
            <a:endParaRPr lang="zh-CN" sz="1300" dirty="0"/>
          </a:p>
        </p:txBody>
      </p:sp>
      <p:sp>
        <p:nvSpPr>
          <p:cNvPr id="34" name="Text 32"/>
          <p:cNvSpPr/>
          <p:nvPr/>
        </p:nvSpPr>
        <p:spPr>
          <a:xfrm>
            <a:off x="8833104" y="3602736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9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综合结论与建议</a:t>
            </a:r>
            <a:endParaRPr lang="zh-CN" sz="1900" dirty="0"/>
          </a:p>
        </p:txBody>
      </p:sp>
      <p:sp>
        <p:nvSpPr>
          <p:cNvPr id="35" name="Text 33"/>
          <p:cNvSpPr/>
          <p:nvPr/>
        </p:nvSpPr>
        <p:spPr>
          <a:xfrm>
            <a:off x="8311896" y="4197096"/>
            <a:ext cx="3200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证据支持什么，下一步验证什么</a:t>
            </a:r>
            <a:endParaRPr lang="zh-CN" sz="1600" dirty="0"/>
          </a:p>
        </p:txBody>
      </p:sp>
      <p:sp>
        <p:nvSpPr>
          <p:cNvPr id="36" name="Shape 34"/>
          <p:cNvSpPr/>
          <p:nvPr/>
        </p:nvSpPr>
        <p:spPr>
          <a:xfrm>
            <a:off x="502920" y="5596128"/>
            <a:ext cx="11183112" cy="585216"/>
          </a:xfrm>
          <a:prstGeom prst="roundRect">
            <a:avLst>
              <a:gd name="adj" fmla="val 18750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944" y="57424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研究问题</a:t>
            </a:r>
            <a:endParaRPr lang="zh-CN" sz="1400" dirty="0"/>
          </a:p>
        </p:txBody>
      </p:sp>
      <p:sp>
        <p:nvSpPr>
          <p:cNvPr id="38" name="Text 36"/>
          <p:cNvSpPr/>
          <p:nvPr/>
        </p:nvSpPr>
        <p:spPr>
          <a:xfrm>
            <a:off x="1700784" y="5733288"/>
            <a:ext cx="9738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2920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先看哪些内容获得反馈，再看评论由谁发起、向谁集中，以及如何得到回应。</a:t>
            </a:r>
            <a:endParaRPr lang="zh-CN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 社区研究  /  01  研究设计与样本</a:t>
            </a:r>
            <a:endParaRPr lang="zh-CN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09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数据与覆盖：先明确哪些记录能够比较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源报告 §2.1、§3.1 · PDF第4、6页；发帖日期与时段统一为北京时间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10954512" y="6446520"/>
            <a:ext cx="740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03 / 18</a:t>
            </a:r>
            <a:endParaRPr lang="zh-CN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664208"/>
            <a:ext cx="3547872" cy="1088136"/>
          </a:xfrm>
          <a:prstGeom prst="roundRect">
            <a:avLst>
              <a:gd name="adj" fmla="val 10084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73936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9,532帖</a:t>
            </a:r>
            <a:endParaRPr lang="zh-CN" sz="3200" dirty="0"/>
          </a:p>
        </p:txBody>
      </p:sp>
      <p:sp>
        <p:nvSpPr>
          <p:cNvPr id="8" name="Text 6"/>
          <p:cNvSpPr/>
          <p:nvPr/>
        </p:nvSpPr>
        <p:spPr>
          <a:xfrm>
            <a:off x="685800" y="235915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3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来自100位课程样本作者</a:t>
            </a:r>
            <a:endParaRPr lang="zh-CN" sz="1350" dirty="0"/>
          </a:p>
        </p:txBody>
      </p:sp>
      <p:sp>
        <p:nvSpPr>
          <p:cNvPr id="9" name="Shape 7"/>
          <p:cNvSpPr/>
          <p:nvPr/>
        </p:nvSpPr>
        <p:spPr>
          <a:xfrm>
            <a:off x="4315968" y="1664208"/>
            <a:ext cx="3547872" cy="1088136"/>
          </a:xfrm>
          <a:prstGeom prst="roundRect">
            <a:avLst>
              <a:gd name="adj" fmla="val 10084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8848" y="1773936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11,595条</a:t>
            </a:r>
            <a:endParaRPr lang="zh-CN" sz="3200" dirty="0"/>
          </a:p>
        </p:txBody>
      </p:sp>
      <p:sp>
        <p:nvSpPr>
          <p:cNvPr id="11" name="Text 9"/>
          <p:cNvSpPr/>
          <p:nvPr/>
        </p:nvSpPr>
        <p:spPr>
          <a:xfrm>
            <a:off x="4498848" y="235915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3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评论去重后规模；原始13,511行</a:t>
            </a:r>
            <a:endParaRPr lang="zh-CN" sz="1350" dirty="0"/>
          </a:p>
        </p:txBody>
      </p:sp>
      <p:sp>
        <p:nvSpPr>
          <p:cNvPr id="12" name="Shape 10"/>
          <p:cNvSpPr/>
          <p:nvPr/>
        </p:nvSpPr>
        <p:spPr>
          <a:xfrm>
            <a:off x="8129016" y="1664208"/>
            <a:ext cx="3557016" cy="1088136"/>
          </a:xfrm>
          <a:prstGeom prst="roundRect">
            <a:avLst>
              <a:gd name="adj" fmla="val 10084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11896" y="1773936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1,323帖</a:t>
            </a:r>
            <a:endParaRPr lang="zh-CN" sz="3200" dirty="0"/>
          </a:p>
        </p:txBody>
      </p:sp>
      <p:sp>
        <p:nvSpPr>
          <p:cNvPr id="14" name="Text 12"/>
          <p:cNvSpPr/>
          <p:nvPr/>
        </p:nvSpPr>
        <p:spPr>
          <a:xfrm>
            <a:off x="8311896" y="235915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3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有已采集评论，其余覆盖未知</a:t>
            </a:r>
            <a:endParaRPr lang="zh-CN" sz="13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044952"/>
          <a:ext cx="11183112" cy="914400"/>
        </p:xfrm>
        <a:graphic>
          <a:graphicData uri="http://schemas.openxmlformats.org/drawingml/2006/table">
            <a:tbl>
              <a:tblPr/>
              <a:tblGrid>
                <a:gridCol w="2971800"/>
                <a:gridCol w="4160520"/>
                <a:gridCol w="405079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核查发现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50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采用的处理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50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对分析的影响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50B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3,984帖没有可用正文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保留帖子，文本计数设0，另加正文可用标记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主回归使用全部帖子；主题另筛有效正文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8,286帖点赞大于记录浏览数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不计算点赞率，使用累计点赞数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不能直接比较曝光转化效率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正文与评论记录各有缺口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5,548帖可见正文，清理后非空5,414帖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未采到评论不等于没有评论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502920" y="5596128"/>
            <a:ext cx="11183112" cy="585216"/>
          </a:xfrm>
          <a:prstGeom prst="roundRect">
            <a:avLst>
              <a:gd name="adj" fmla="val 18750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4944" y="57424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比较范围</a:t>
            </a:r>
            <a:endParaRPr lang="zh-CN" sz="1400" dirty="0"/>
          </a:p>
        </p:txBody>
      </p:sp>
      <p:sp>
        <p:nvSpPr>
          <p:cNvPr id="18" name="Text 15"/>
          <p:cNvSpPr/>
          <p:nvPr/>
        </p:nvSpPr>
        <p:spPr>
          <a:xfrm>
            <a:off x="1700784" y="5733288"/>
            <a:ext cx="9738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2920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帖子发表于2020年11—12月（UTC）；抽样机制与统一采集时点未提供。</a:t>
            </a:r>
            <a:endParaRPr lang="zh-CN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 社区研究  /  01  研究设计与样本</a:t>
            </a:r>
            <a:endParaRPr lang="zh-CN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09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比较背景：点赞长尾，媒体与作者也有差异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源报告 §3.2、附录A.5 · PDF第7、25页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10954512" y="6446520"/>
            <a:ext cx="740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04 / 18</a:t>
            </a:r>
            <a:endParaRPr lang="zh-CN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719072"/>
          <a:ext cx="6629400" cy="34564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726680" y="166420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少量高赞拉高平均水平</a:t>
            </a:r>
            <a:endParaRPr lang="zh-CN" sz="1500" dirty="0"/>
          </a:p>
        </p:txBody>
      </p:sp>
      <p:sp>
        <p:nvSpPr>
          <p:cNvPr id="8" name="Text 5"/>
          <p:cNvSpPr/>
          <p:nvPr/>
        </p:nvSpPr>
        <p:spPr>
          <a:xfrm>
            <a:off x="7726680" y="2002536"/>
            <a:ext cx="391363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平均点赞37.05，中位数25，最高5,126；描述普通帖子时，也需要看中位数。</a:t>
            </a:r>
            <a:endParaRPr lang="zh-CN" sz="1750" dirty="0"/>
          </a:p>
        </p:txBody>
      </p:sp>
      <p:sp>
        <p:nvSpPr>
          <p:cNvPr id="9" name="Text 6"/>
          <p:cNvSpPr/>
          <p:nvPr/>
        </p:nvSpPr>
        <p:spPr>
          <a:xfrm>
            <a:off x="7726680" y="289560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媒体形式的反馈基准不同</a:t>
            </a:r>
            <a:endParaRPr lang="zh-CN" sz="1500" dirty="0"/>
          </a:p>
        </p:txBody>
      </p:sp>
      <p:sp>
        <p:nvSpPr>
          <p:cNvPr id="10" name="Text 7"/>
          <p:cNvSpPr/>
          <p:nvPr/>
        </p:nvSpPr>
        <p:spPr>
          <a:xfrm>
            <a:off x="7726680" y="3233928"/>
            <a:ext cx="391363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图片和视频帖平均约51和48个赞，纯文字与无媒体帖约8和4个，差距明显。</a:t>
            </a:r>
            <a:endParaRPr lang="zh-CN" sz="1750" dirty="0"/>
          </a:p>
        </p:txBody>
      </p:sp>
      <p:sp>
        <p:nvSpPr>
          <p:cNvPr id="11" name="Text 8"/>
          <p:cNvSpPr/>
          <p:nvPr/>
        </p:nvSpPr>
        <p:spPr>
          <a:xfrm>
            <a:off x="7726680" y="412699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高产作者会被反复计入</a:t>
            </a:r>
            <a:endParaRPr lang="zh-CN" sz="1500" dirty="0"/>
          </a:p>
        </p:txBody>
      </p:sp>
      <p:sp>
        <p:nvSpPr>
          <p:cNvPr id="12" name="Text 9"/>
          <p:cNvSpPr/>
          <p:nvPr/>
        </p:nvSpPr>
        <p:spPr>
          <a:xfrm>
            <a:off x="7726680" y="4465320"/>
            <a:ext cx="391363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作者发帖数中位数66帖，最多783帖；其表达习惯会在按帖统计中出现更多次。</a:t>
            </a:r>
            <a:endParaRPr lang="zh-CN" sz="1750" dirty="0"/>
          </a:p>
        </p:txBody>
      </p:sp>
      <p:sp>
        <p:nvSpPr>
          <p:cNvPr id="13" name="Shape 10"/>
          <p:cNvSpPr/>
          <p:nvPr/>
        </p:nvSpPr>
        <p:spPr>
          <a:xfrm>
            <a:off x="502920" y="5596128"/>
            <a:ext cx="11183112" cy="585216"/>
          </a:xfrm>
          <a:prstGeom prst="roundRect">
            <a:avLst>
              <a:gd name="adj" fmla="val 18750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" y="57424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分析起点</a:t>
            </a:r>
            <a:endParaRPr lang="zh-CN" sz="1400" dirty="0"/>
          </a:p>
        </p:txBody>
      </p:sp>
      <p:sp>
        <p:nvSpPr>
          <p:cNvPr id="15" name="Text 12"/>
          <p:cNvSpPr/>
          <p:nvPr/>
        </p:nvSpPr>
        <p:spPr>
          <a:xfrm>
            <a:off x="1700784" y="5733288"/>
            <a:ext cx="9738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2920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讨论文字差异时，必须把媒体形式、作者和已记录的发布情境一起考虑。</a:t>
            </a:r>
            <a:endParaRPr lang="zh-CN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 社区研究  /  02  文字表达与点赞</a:t>
            </a:r>
            <a:endParaRPr lang="zh-CN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09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分析过程：文字编码后，逐步控制作者与日期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源报告 §2.2—2.3、附录A.1 · PDF第5、23页；因变量为ln(1+点赞数)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10954512" y="6446520"/>
            <a:ext cx="740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05 / 18</a:t>
            </a:r>
            <a:endParaRPr lang="zh-CN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673352"/>
            <a:ext cx="2039112" cy="978408"/>
          </a:xfrm>
          <a:prstGeom prst="roundRect">
            <a:avLst>
              <a:gd name="adj" fmla="val 11215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" y="18288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正文长度</a:t>
            </a:r>
            <a:endParaRPr lang="zh-CN" sz="1800" dirty="0"/>
          </a:p>
        </p:txBody>
      </p:sp>
      <p:sp>
        <p:nvSpPr>
          <p:cNvPr id="8" name="Text 6"/>
          <p:cNvSpPr/>
          <p:nvPr/>
        </p:nvSpPr>
        <p:spPr>
          <a:xfrm>
            <a:off x="630936" y="22860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ln(1+清理后字数)</a:t>
            </a:r>
            <a:endParaRPr lang="zh-CN" sz="1250" dirty="0"/>
          </a:p>
        </p:txBody>
      </p:sp>
      <p:sp>
        <p:nvSpPr>
          <p:cNvPr id="9" name="Shape 7"/>
          <p:cNvSpPr/>
          <p:nvPr/>
        </p:nvSpPr>
        <p:spPr>
          <a:xfrm>
            <a:off x="2788920" y="1673352"/>
            <a:ext cx="2039112" cy="978408"/>
          </a:xfrm>
          <a:prstGeom prst="roundRect">
            <a:avLst>
              <a:gd name="adj" fmla="val 11215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16936" y="18288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自律或目标</a:t>
            </a:r>
            <a:endParaRPr lang="zh-CN" sz="1800" dirty="0"/>
          </a:p>
        </p:txBody>
      </p:sp>
      <p:sp>
        <p:nvSpPr>
          <p:cNvPr id="11" name="Text 9"/>
          <p:cNvSpPr/>
          <p:nvPr/>
        </p:nvSpPr>
        <p:spPr>
          <a:xfrm>
            <a:off x="2916936" y="22860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坚持、目标、打卡</a:t>
            </a:r>
            <a:endParaRPr lang="zh-CN" sz="1250" dirty="0"/>
          </a:p>
        </p:txBody>
      </p:sp>
      <p:sp>
        <p:nvSpPr>
          <p:cNvPr id="12" name="Shape 10"/>
          <p:cNvSpPr/>
          <p:nvPr/>
        </p:nvSpPr>
        <p:spPr>
          <a:xfrm>
            <a:off x="5074920" y="1673352"/>
            <a:ext cx="2039112" cy="978408"/>
          </a:xfrm>
          <a:prstGeom prst="roundRect">
            <a:avLst>
              <a:gd name="adj" fmla="val 11215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02936" y="18288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社交或互助</a:t>
            </a:r>
            <a:endParaRPr lang="zh-CN" sz="1800" dirty="0"/>
          </a:p>
        </p:txBody>
      </p:sp>
      <p:sp>
        <p:nvSpPr>
          <p:cNvPr id="14" name="Text 12"/>
          <p:cNvSpPr/>
          <p:nvPr/>
        </p:nvSpPr>
        <p:spPr>
          <a:xfrm>
            <a:off x="5202936" y="22860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大家、一起、谢谢</a:t>
            </a:r>
            <a:endParaRPr lang="zh-CN" sz="1250" dirty="0"/>
          </a:p>
        </p:txBody>
      </p:sp>
      <p:sp>
        <p:nvSpPr>
          <p:cNvPr id="15" name="Shape 13"/>
          <p:cNvSpPr/>
          <p:nvPr/>
        </p:nvSpPr>
        <p:spPr>
          <a:xfrm>
            <a:off x="7360920" y="1673352"/>
            <a:ext cx="2039112" cy="978408"/>
          </a:xfrm>
          <a:prstGeom prst="roundRect">
            <a:avLst>
              <a:gd name="adj" fmla="val 11215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8936" y="18288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积极表达</a:t>
            </a:r>
            <a:endParaRPr lang="zh-CN" sz="1800" dirty="0"/>
          </a:p>
        </p:txBody>
      </p:sp>
      <p:sp>
        <p:nvSpPr>
          <p:cNvPr id="17" name="Text 15"/>
          <p:cNvSpPr/>
          <p:nvPr/>
        </p:nvSpPr>
        <p:spPr>
          <a:xfrm>
            <a:off x="7488936" y="22860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开心、喜欢、哈哈</a:t>
            </a:r>
            <a:endParaRPr lang="zh-CN" sz="1250" dirty="0"/>
          </a:p>
        </p:txBody>
      </p:sp>
      <p:sp>
        <p:nvSpPr>
          <p:cNvPr id="18" name="Shape 16"/>
          <p:cNvSpPr/>
          <p:nvPr/>
        </p:nvSpPr>
        <p:spPr>
          <a:xfrm>
            <a:off x="9646920" y="1673352"/>
            <a:ext cx="2039112" cy="978408"/>
          </a:xfrm>
          <a:prstGeom prst="roundRect">
            <a:avLst>
              <a:gd name="adj" fmla="val 11215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74936" y="18288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问号</a:t>
            </a:r>
            <a:endParaRPr lang="zh-CN" sz="1800" dirty="0"/>
          </a:p>
        </p:txBody>
      </p:sp>
      <p:sp>
        <p:nvSpPr>
          <p:cNvPr id="20" name="Text 18"/>
          <p:cNvSpPr/>
          <p:nvPr/>
        </p:nvSpPr>
        <p:spPr>
          <a:xfrm>
            <a:off x="9774936" y="22860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半角或全角问号</a:t>
            </a:r>
            <a:endParaRPr lang="zh-CN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3099816"/>
            <a:ext cx="3566160" cy="1773936"/>
          </a:xfrm>
          <a:prstGeom prst="roundRect">
            <a:avLst>
              <a:gd name="adj" fmla="val 6186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7512" y="3282696"/>
            <a:ext cx="438912" cy="438912"/>
          </a:xfrm>
          <a:prstGeom prst="ellipse">
            <a:avLst/>
          </a:prstGeom>
          <a:solidFill>
            <a:srgbClr val="6550B8"/>
          </a:solidFill>
          <a:ln w="12700">
            <a:solidFill>
              <a:srgbClr val="6550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3300984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M1</a:t>
            </a:r>
            <a:endParaRPr lang="zh-CN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334670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9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基础关联</a:t>
            </a:r>
            <a:endParaRPr lang="zh-CN" sz="1900" dirty="0"/>
          </a:p>
        </p:txBody>
      </p:sp>
      <p:sp>
        <p:nvSpPr>
          <p:cNvPr id="25" name="Text 23"/>
          <p:cNvSpPr/>
          <p:nvPr/>
        </p:nvSpPr>
        <p:spPr>
          <a:xfrm>
            <a:off x="667512" y="3977640"/>
            <a:ext cx="32369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控制媒体形式、业务类型、时段和作者属性</a:t>
            </a:r>
            <a:endParaRPr lang="zh-CN" sz="1700" dirty="0"/>
          </a:p>
        </p:txBody>
      </p:sp>
      <p:sp>
        <p:nvSpPr>
          <p:cNvPr id="26" name="Shape 24"/>
          <p:cNvSpPr/>
          <p:nvPr/>
        </p:nvSpPr>
        <p:spPr>
          <a:xfrm>
            <a:off x="4315968" y="3099816"/>
            <a:ext cx="3566160" cy="1773936"/>
          </a:xfrm>
          <a:prstGeom prst="roundRect">
            <a:avLst>
              <a:gd name="adj" fmla="val 6186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80560" y="3282696"/>
            <a:ext cx="438912" cy="438912"/>
          </a:xfrm>
          <a:prstGeom prst="ellipse">
            <a:avLst/>
          </a:prstGeom>
          <a:solidFill>
            <a:srgbClr val="6550B8"/>
          </a:solidFill>
          <a:ln w="12700">
            <a:solidFill>
              <a:srgbClr val="6550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0" y="3300984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M2</a:t>
            </a:r>
            <a:endParaRPr lang="zh-CN" sz="1400" dirty="0"/>
          </a:p>
        </p:txBody>
      </p:sp>
      <p:sp>
        <p:nvSpPr>
          <p:cNvPr id="29" name="Text 27"/>
          <p:cNvSpPr/>
          <p:nvPr/>
        </p:nvSpPr>
        <p:spPr>
          <a:xfrm>
            <a:off x="5093208" y="334670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9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加作者固定效应</a:t>
            </a:r>
            <a:endParaRPr lang="zh-CN" sz="1900" dirty="0"/>
          </a:p>
        </p:txBody>
      </p:sp>
      <p:sp>
        <p:nvSpPr>
          <p:cNvPr id="30" name="Text 28"/>
          <p:cNvSpPr/>
          <p:nvPr/>
        </p:nvSpPr>
        <p:spPr>
          <a:xfrm>
            <a:off x="4480560" y="3977640"/>
            <a:ext cx="32369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扣除作者间不随帖子变化的差别，利用作者内变化</a:t>
            </a:r>
            <a:endParaRPr lang="zh-CN" sz="1700" dirty="0"/>
          </a:p>
        </p:txBody>
      </p:sp>
      <p:sp>
        <p:nvSpPr>
          <p:cNvPr id="31" name="Shape 29"/>
          <p:cNvSpPr/>
          <p:nvPr/>
        </p:nvSpPr>
        <p:spPr>
          <a:xfrm>
            <a:off x="8129016" y="3099816"/>
            <a:ext cx="3566160" cy="1773936"/>
          </a:xfrm>
          <a:prstGeom prst="roundRect">
            <a:avLst>
              <a:gd name="adj" fmla="val 6186"/>
            </a:avLst>
          </a:prstGeom>
          <a:solidFill>
            <a:srgbClr val="E8F4F0"/>
          </a:solidFill>
          <a:ln w="12700">
            <a:solidFill>
              <a:srgbClr val="E8F4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93608" y="3282696"/>
            <a:ext cx="438912" cy="438912"/>
          </a:xfrm>
          <a:prstGeom prst="ellipse">
            <a:avLst/>
          </a:prstGeom>
          <a:solidFill>
            <a:srgbClr val="288475"/>
          </a:solidFill>
          <a:ln w="12700">
            <a:solidFill>
              <a:srgbClr val="28847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93608" y="3300984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M3</a:t>
            </a:r>
            <a:endParaRPr lang="zh-CN" sz="1400" dirty="0"/>
          </a:p>
        </p:txBody>
      </p:sp>
      <p:sp>
        <p:nvSpPr>
          <p:cNvPr id="34" name="Text 32"/>
          <p:cNvSpPr/>
          <p:nvPr/>
        </p:nvSpPr>
        <p:spPr>
          <a:xfrm>
            <a:off x="8906256" y="334670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9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再加日期固定效应</a:t>
            </a:r>
            <a:endParaRPr lang="zh-CN" sz="1900" dirty="0"/>
          </a:p>
        </p:txBody>
      </p:sp>
      <p:sp>
        <p:nvSpPr>
          <p:cNvPr id="35" name="Text 33"/>
          <p:cNvSpPr/>
          <p:nvPr/>
        </p:nvSpPr>
        <p:spPr>
          <a:xfrm>
            <a:off x="8293608" y="3977640"/>
            <a:ext cx="32369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扣除各日期共有差别，作为主模型</a:t>
            </a:r>
            <a:endParaRPr lang="zh-CN" sz="1700" dirty="0"/>
          </a:p>
        </p:txBody>
      </p:sp>
      <p:sp>
        <p:nvSpPr>
          <p:cNvPr id="36" name="Text 34"/>
          <p:cNvSpPr/>
          <p:nvPr/>
        </p:nvSpPr>
        <p:spPr>
          <a:xfrm>
            <a:off x="603504" y="5120640"/>
            <a:ext cx="10972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固定词表命中记1，维度可重叠；标准误按作者聚类，五项核心系数做BH多重比较校正。</a:t>
            </a:r>
            <a:endParaRPr lang="zh-CN" sz="1600" dirty="0"/>
          </a:p>
        </p:txBody>
      </p:sp>
      <p:sp>
        <p:nvSpPr>
          <p:cNvPr id="37" name="Shape 35"/>
          <p:cNvSpPr/>
          <p:nvPr/>
        </p:nvSpPr>
        <p:spPr>
          <a:xfrm>
            <a:off x="502920" y="5596128"/>
            <a:ext cx="11183112" cy="585216"/>
          </a:xfrm>
          <a:prstGeom prst="roundRect">
            <a:avLst>
              <a:gd name="adj" fmla="val 18750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" y="57424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方法含义</a:t>
            </a:r>
            <a:endParaRPr lang="zh-CN" sz="1400" dirty="0"/>
          </a:p>
        </p:txBody>
      </p:sp>
      <p:sp>
        <p:nvSpPr>
          <p:cNvPr id="39" name="Text 37"/>
          <p:cNvSpPr/>
          <p:nvPr/>
        </p:nvSpPr>
        <p:spPr>
          <a:xfrm>
            <a:off x="1700784" y="5733288"/>
            <a:ext cx="9738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2920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词典识别字面线索；固定效应改善可比性，实际曝光和完整内容仍未观测。</a:t>
            </a:r>
            <a:endParaRPr lang="zh-CN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 社区研究  /  02  文字表达与点赞</a:t>
            </a:r>
            <a:endParaRPr lang="zh-CN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09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核心变化：原始表达优势在调整后发生反转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源报告 §4.1—4.2 · PDF第8—9页；各特征可以重叠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10954512" y="6446520"/>
            <a:ext cx="740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06 / 18</a:t>
            </a:r>
            <a:endParaRPr lang="zh-CN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719072"/>
          <a:ext cx="6720840" cy="36301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726680" y="166420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原始分组：四类均有优势</a:t>
            </a:r>
            <a:endParaRPr lang="zh-CN" sz="1500" dirty="0"/>
          </a:p>
        </p:txBody>
      </p:sp>
      <p:sp>
        <p:nvSpPr>
          <p:cNvPr id="8" name="Text 5"/>
          <p:cNvSpPr/>
          <p:nvPr/>
        </p:nvSpPr>
        <p:spPr>
          <a:xfrm>
            <a:off x="7726680" y="2002536"/>
            <a:ext cx="391363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积极表达帖平均57.29个赞，未命中帖35.76个；其他三类也对应更高原始均值。</a:t>
            </a:r>
            <a:endParaRPr lang="zh-CN" sz="1750" dirty="0"/>
          </a:p>
        </p:txBody>
      </p:sp>
      <p:sp>
        <p:nvSpPr>
          <p:cNvPr id="9" name="Text 6"/>
          <p:cNvSpPr/>
          <p:nvPr/>
        </p:nvSpPr>
        <p:spPr>
          <a:xfrm>
            <a:off x="7726680" y="289560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调整后：积极表达转为负向</a:t>
            </a:r>
            <a:endParaRPr lang="zh-CN" sz="1500" dirty="0"/>
          </a:p>
        </p:txBody>
      </p:sp>
      <p:sp>
        <p:nvSpPr>
          <p:cNvPr id="10" name="Text 7"/>
          <p:cNvSpPr/>
          <p:nvPr/>
        </p:nvSpPr>
        <p:spPr>
          <a:xfrm>
            <a:off x="7726680" y="3233928"/>
            <a:ext cx="391363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控制作者、日期和已记录情境后，“1+点赞数”的条件几何均值约低8.2%。</a:t>
            </a:r>
            <a:endParaRPr lang="zh-CN" sz="1750" dirty="0"/>
          </a:p>
        </p:txBody>
      </p:sp>
      <p:sp>
        <p:nvSpPr>
          <p:cNvPr id="11" name="Text 8"/>
          <p:cNvSpPr/>
          <p:nvPr/>
        </p:nvSpPr>
        <p:spPr>
          <a:xfrm>
            <a:off x="7726680" y="412699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改变的是比较对象</a:t>
            </a:r>
            <a:endParaRPr lang="zh-CN" sz="1500" dirty="0"/>
          </a:p>
        </p:txBody>
      </p:sp>
      <p:sp>
        <p:nvSpPr>
          <p:cNvPr id="12" name="Text 9"/>
          <p:cNvSpPr/>
          <p:nvPr/>
        </p:nvSpPr>
        <p:spPr>
          <a:xfrm>
            <a:off x="7726680" y="4465320"/>
            <a:ext cx="391363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组间差异混合着作者和内容构成；作者内比较进一步追问同一作者何时这样写。</a:t>
            </a:r>
            <a:endParaRPr lang="zh-CN" sz="1750" dirty="0"/>
          </a:p>
        </p:txBody>
      </p:sp>
      <p:sp>
        <p:nvSpPr>
          <p:cNvPr id="13" name="Shape 10"/>
          <p:cNvSpPr/>
          <p:nvPr/>
        </p:nvSpPr>
        <p:spPr>
          <a:xfrm>
            <a:off x="502920" y="5596128"/>
            <a:ext cx="11183112" cy="585216"/>
          </a:xfrm>
          <a:prstGeom prst="roundRect">
            <a:avLst>
              <a:gd name="adj" fmla="val 18750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" y="57424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解释线索</a:t>
            </a:r>
            <a:endParaRPr lang="zh-CN" sz="1400" dirty="0"/>
          </a:p>
        </p:txBody>
      </p:sp>
      <p:sp>
        <p:nvSpPr>
          <p:cNvPr id="15" name="Text 12"/>
          <p:cNvSpPr/>
          <p:nvPr/>
        </p:nvSpPr>
        <p:spPr>
          <a:xfrm>
            <a:off x="1700784" y="5733288"/>
            <a:ext cx="9738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2920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反转提示应结合作者与发布情境理解，不能解释成积极用词本身降低点赞。</a:t>
            </a:r>
            <a:endParaRPr lang="zh-CN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 社区研究  /  02  文字表达与点赞</a:t>
            </a:r>
            <a:endParaRPr lang="zh-CN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09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结果强度：方向有线索，稳定关键词效果尚无证据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源报告 §4.2—4.3、附录A.1—A.2 · PDF第9—10、23—24页；表中为原始95%区间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10954512" y="6446520"/>
            <a:ext cx="740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07 / 18</a:t>
            </a:r>
            <a:endParaRPr lang="zh-CN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82496"/>
          <a:ext cx="68122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051560"/>
                <a:gridCol w="2057400"/>
                <a:gridCol w="9601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核心文字线索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50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M3系数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50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原始95%置信区间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50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BH q值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50B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正文长度 ln(1+字数)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0.028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[-0.008, 0.064]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0.293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自律或目标词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−0.119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[-0.293, 0.054]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0.293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社交称呼或互助词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−0.004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[-0.131, 0.122]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0.946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积极表达词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−0.086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[-0.155, −0.016]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0.079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问号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0.108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[-0.100, 0.316]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0.383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680960" y="1682496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单项与整组都要报告</a:t>
            </a:r>
            <a:endParaRPr lang="zh-CN" sz="1500" dirty="0"/>
          </a:p>
        </p:txBody>
      </p:sp>
      <p:sp>
        <p:nvSpPr>
          <p:cNvPr id="8" name="Text 5"/>
          <p:cNvSpPr/>
          <p:nvPr/>
        </p:nvSpPr>
        <p:spPr>
          <a:xfrm>
            <a:off x="7680960" y="2020824"/>
            <a:ext cx="40050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积极表达原始p=0.016，但BH q=0.079；其他四项原始区间都包含0。</a:t>
            </a:r>
            <a:endParaRPr lang="zh-CN" sz="1750" dirty="0"/>
          </a:p>
        </p:txBody>
      </p:sp>
      <p:sp>
        <p:nvSpPr>
          <p:cNvPr id="9" name="Text 6"/>
          <p:cNvSpPr/>
          <p:nvPr/>
        </p:nvSpPr>
        <p:spPr>
          <a:xfrm>
            <a:off x="7680960" y="2944368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文本的新增信息很少</a:t>
            </a:r>
            <a:endParaRPr lang="zh-CN" sz="1500" dirty="0"/>
          </a:p>
        </p:txBody>
      </p:sp>
      <p:sp>
        <p:nvSpPr>
          <p:cNvPr id="10" name="Text 7"/>
          <p:cNvSpPr/>
          <p:nvPr/>
        </p:nvSpPr>
        <p:spPr>
          <a:xfrm>
            <a:off x="7680960" y="3282696"/>
            <a:ext cx="40050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五项特征只增加0.065个百分点R²，联合检验p=0.130。</a:t>
            </a:r>
            <a:endParaRPr lang="zh-CN" sz="1750" dirty="0"/>
          </a:p>
        </p:txBody>
      </p:sp>
      <p:sp>
        <p:nvSpPr>
          <p:cNvPr id="11" name="Text 8"/>
          <p:cNvSpPr/>
          <p:nvPr/>
        </p:nvSpPr>
        <p:spPr>
          <a:xfrm>
            <a:off x="7680960" y="4206240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敏感性支持方向而非因果</a:t>
            </a:r>
            <a:endParaRPr lang="zh-CN" sz="1500" dirty="0"/>
          </a:p>
        </p:txBody>
      </p:sp>
      <p:sp>
        <p:nvSpPr>
          <p:cNvPr id="12" name="Text 9"/>
          <p:cNvSpPr/>
          <p:nvPr/>
        </p:nvSpPr>
        <p:spPr>
          <a:xfrm>
            <a:off x="7680960" y="4544568"/>
            <a:ext cx="40050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样本调整、100次逐作者剔除均保留负向；PPML点估计为负，区间跨0。</a:t>
            </a:r>
            <a:endParaRPr lang="zh-CN" sz="1750" dirty="0"/>
          </a:p>
        </p:txBody>
      </p:sp>
      <p:sp>
        <p:nvSpPr>
          <p:cNvPr id="13" name="Shape 10"/>
          <p:cNvSpPr/>
          <p:nvPr/>
        </p:nvSpPr>
        <p:spPr>
          <a:xfrm>
            <a:off x="502920" y="5596128"/>
            <a:ext cx="11183112" cy="585216"/>
          </a:xfrm>
          <a:prstGeom prst="roundRect">
            <a:avLst>
              <a:gd name="adj" fmla="val 18750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" y="57424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阶段结论</a:t>
            </a:r>
            <a:endParaRPr lang="zh-CN" sz="1400" dirty="0"/>
          </a:p>
        </p:txBody>
      </p:sp>
      <p:sp>
        <p:nvSpPr>
          <p:cNvPr id="15" name="Text 12"/>
          <p:cNvSpPr/>
          <p:nvPr/>
        </p:nvSpPr>
        <p:spPr>
          <a:xfrm>
            <a:off x="1700784" y="5733288"/>
            <a:ext cx="9738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2920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作者和情境调整改变了表达的原始优势，现有证据不足以支持稳定的文案模板。</a:t>
            </a:r>
            <a:endParaRPr lang="zh-CN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 社区研究  /  03  主题与作者构成</a:t>
            </a:r>
            <a:endParaRPr lang="zh-CN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09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主题分析：有效正文同时容纳训练与生活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源报告 §5.1、附录A.3 · PDF第11、24页；描述占比以2,470帖、86位作者为范围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10954512" y="6446520"/>
            <a:ext cx="740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08 / 18</a:t>
            </a:r>
            <a:endParaRPr lang="zh-CN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746504"/>
          <a:ext cx="6675120" cy="35478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726680" y="166420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补充词典之外的内容信息</a:t>
            </a:r>
            <a:endParaRPr lang="zh-CN" sz="1500" dirty="0"/>
          </a:p>
        </p:txBody>
      </p:sp>
      <p:sp>
        <p:nvSpPr>
          <p:cNvPr id="8" name="Text 5"/>
          <p:cNvSpPr/>
          <p:nvPr/>
        </p:nvSpPr>
        <p:spPr>
          <a:xfrm>
            <a:off x="7726680" y="2002536"/>
            <a:ext cx="391363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至少3个有效词的2,478条正文构建TF-IDF矩阵，用NMF提取预先固定的五个主题。</a:t>
            </a:r>
            <a:endParaRPr lang="zh-CN" sz="1750" dirty="0"/>
          </a:p>
        </p:txBody>
      </p:sp>
      <p:sp>
        <p:nvSpPr>
          <p:cNvPr id="9" name="Text 6"/>
          <p:cNvSpPr/>
          <p:nvPr/>
        </p:nvSpPr>
        <p:spPr>
          <a:xfrm>
            <a:off x="7726680" y="289560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最终聚焦有效正文</a:t>
            </a:r>
            <a:endParaRPr lang="zh-CN" sz="1500" dirty="0"/>
          </a:p>
        </p:txBody>
      </p:sp>
      <p:sp>
        <p:nvSpPr>
          <p:cNvPr id="10" name="Text 7"/>
          <p:cNvSpPr/>
          <p:nvPr/>
        </p:nvSpPr>
        <p:spPr>
          <a:xfrm>
            <a:off x="7726680" y="3233928"/>
            <a:ext cx="391363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排除8条近零贡献正文，最终2,470帖、86位作者；按权重最大的主题描述占比。</a:t>
            </a:r>
            <a:endParaRPr lang="zh-CN" sz="1750" dirty="0"/>
          </a:p>
        </p:txBody>
      </p:sp>
      <p:sp>
        <p:nvSpPr>
          <p:cNvPr id="11" name="Text 8"/>
          <p:cNvSpPr/>
          <p:nvPr/>
        </p:nvSpPr>
        <p:spPr>
          <a:xfrm>
            <a:off x="7726680" y="412699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两条主要内容线索</a:t>
            </a:r>
            <a:endParaRPr lang="zh-CN" sz="1500" dirty="0"/>
          </a:p>
        </p:txBody>
      </p:sp>
      <p:sp>
        <p:nvSpPr>
          <p:cNvPr id="12" name="Text 9"/>
          <p:cNvSpPr/>
          <p:nvPr/>
        </p:nvSpPr>
        <p:spPr>
          <a:xfrm>
            <a:off x="7726680" y="4465320"/>
            <a:ext cx="391363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训练交流占52.7%，生活感悟与问候占35.8%；主题按关键词和正文命名，不参考点赞。</a:t>
            </a:r>
            <a:endParaRPr lang="zh-CN" sz="1750" dirty="0"/>
          </a:p>
        </p:txBody>
      </p:sp>
      <p:sp>
        <p:nvSpPr>
          <p:cNvPr id="13" name="Shape 10"/>
          <p:cNvSpPr/>
          <p:nvPr/>
        </p:nvSpPr>
        <p:spPr>
          <a:xfrm>
            <a:off x="502920" y="5596128"/>
            <a:ext cx="11183112" cy="585216"/>
          </a:xfrm>
          <a:prstGeom prst="roundRect">
            <a:avLst>
              <a:gd name="adj" fmla="val 18750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" y="57424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内容发现</a:t>
            </a:r>
            <a:endParaRPr lang="zh-CN" sz="1400" dirty="0"/>
          </a:p>
        </p:txBody>
      </p:sp>
      <p:sp>
        <p:nvSpPr>
          <p:cNvPr id="15" name="Text 12"/>
          <p:cNvSpPr/>
          <p:nvPr/>
        </p:nvSpPr>
        <p:spPr>
          <a:xfrm>
            <a:off x="1700784" y="5733288"/>
            <a:ext cx="9738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2920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只看运动项目和打卡记录，会漏掉有效正文中相当重要的生活感受与问候。</a:t>
            </a:r>
            <a:endParaRPr lang="zh-CN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 社区研究  /  03  主题与作者构成</a:t>
            </a:r>
            <a:endParaRPr lang="zh-CN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09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作者等权：区分内容产量与作者平均构成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源报告 §5.2—5.3、附录A.3 · PDF第11—12、24页；两组沿用同一主题分配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10954512" y="6446520"/>
            <a:ext cx="740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09 / 18</a:t>
            </a:r>
            <a:endParaRPr lang="zh-CN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737360"/>
          <a:ext cx="667512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726680" y="166420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改变权重，检验作者影响</a:t>
            </a:r>
            <a:endParaRPr lang="zh-CN" sz="1500" dirty="0"/>
          </a:p>
        </p:txBody>
      </p:sp>
      <p:sp>
        <p:nvSpPr>
          <p:cNvPr id="8" name="Text 5"/>
          <p:cNvSpPr/>
          <p:nvPr/>
        </p:nvSpPr>
        <p:spPr>
          <a:xfrm>
            <a:off x="7726680" y="2002536"/>
            <a:ext cx="391363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先计算每位作者内部的主题比例，再对86位作者平均，避免高产作者重复贡献。</a:t>
            </a:r>
            <a:endParaRPr lang="zh-CN" sz="1750" dirty="0"/>
          </a:p>
        </p:txBody>
      </p:sp>
      <p:sp>
        <p:nvSpPr>
          <p:cNvPr id="9" name="Text 6"/>
          <p:cNvSpPr/>
          <p:nvPr/>
        </p:nvSpPr>
        <p:spPr>
          <a:xfrm>
            <a:off x="7726680" y="289560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小主题收缩，主要格局保留</a:t>
            </a:r>
            <a:endParaRPr lang="zh-CN" sz="1500" dirty="0"/>
          </a:p>
        </p:txBody>
      </p:sp>
      <p:sp>
        <p:nvSpPr>
          <p:cNvPr id="10" name="Text 7"/>
          <p:cNvSpPr/>
          <p:nvPr/>
        </p:nvSpPr>
        <p:spPr>
          <a:xfrm>
            <a:off x="7726680" y="3233928"/>
            <a:ext cx="391363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静蹲从3.4%降至0.6%，最大作者贡献91.8%；训练与生活仍占主要篇幅。</a:t>
            </a:r>
            <a:endParaRPr lang="zh-CN" sz="1750" dirty="0"/>
          </a:p>
        </p:txBody>
      </p:sp>
      <p:sp>
        <p:nvSpPr>
          <p:cNvPr id="11" name="Text 8"/>
          <p:cNvSpPr/>
          <p:nvPr/>
        </p:nvSpPr>
        <p:spPr>
          <a:xfrm>
            <a:off x="7726680" y="412699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常见主题不等于反馈优势</a:t>
            </a:r>
            <a:endParaRPr lang="zh-CN" sz="1500" dirty="0"/>
          </a:p>
        </p:txBody>
      </p:sp>
      <p:sp>
        <p:nvSpPr>
          <p:cNvPr id="12" name="Text 9"/>
          <p:cNvSpPr/>
          <p:nvPr/>
        </p:nvSpPr>
        <p:spPr>
          <a:xfrm>
            <a:off x="7726680" y="4465320"/>
            <a:ext cx="391363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主题加入回归后的联合p=0.166，所有单项BH q值均大于0.05，增量证据有限。</a:t>
            </a:r>
            <a:endParaRPr lang="zh-CN" sz="1750" dirty="0"/>
          </a:p>
        </p:txBody>
      </p:sp>
      <p:sp>
        <p:nvSpPr>
          <p:cNvPr id="13" name="Shape 10"/>
          <p:cNvSpPr/>
          <p:nvPr/>
        </p:nvSpPr>
        <p:spPr>
          <a:xfrm>
            <a:off x="502920" y="5596128"/>
            <a:ext cx="11183112" cy="585216"/>
          </a:xfrm>
          <a:prstGeom prst="roundRect">
            <a:avLst>
              <a:gd name="adj" fmla="val 18750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" y="57424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阶段结论</a:t>
            </a:r>
            <a:endParaRPr lang="zh-CN" sz="1400" dirty="0"/>
          </a:p>
        </p:txBody>
      </p:sp>
      <p:sp>
        <p:nvSpPr>
          <p:cNvPr id="15" name="Text 12"/>
          <p:cNvSpPr/>
          <p:nvPr/>
        </p:nvSpPr>
        <p:spPr>
          <a:xfrm>
            <a:off x="1700784" y="5733288"/>
            <a:ext cx="9738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2920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训练与生活并存较稳定；少数人的持续记录，也会塑造看起来常见的内容主题。</a:t>
            </a:r>
            <a:endParaRPr lang="zh-CN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 社区研究  /  04  评论语言与直接承接</a:t>
            </a:r>
            <a:endParaRPr lang="zh-CN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09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评论语言：读者更常赞许，帖主更常感谢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源报告 §6.1—6.2 · PDF第13—14页；角色按每条发言所在帖子确定，词类可重叠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10954512" y="6446520"/>
            <a:ext cx="740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10 / 18</a:t>
            </a:r>
            <a:endParaRPr lang="zh-CN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737360"/>
          <a:ext cx="672084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726680" y="166420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简短发言承载日常交流</a:t>
            </a:r>
            <a:endParaRPr lang="zh-CN" sz="1500" dirty="0"/>
          </a:p>
        </p:txBody>
      </p:sp>
      <p:sp>
        <p:nvSpPr>
          <p:cNvPr id="8" name="Text 5"/>
          <p:cNvSpPr/>
          <p:nvPr/>
        </p:nvSpPr>
        <p:spPr>
          <a:xfrm>
            <a:off x="7726680" y="2002536"/>
            <a:ext cx="391363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清理后评论长度中位数只有6个字符，常见赞许、感谢与招呼，交流经常通过少量文字完成。</a:t>
            </a:r>
            <a:endParaRPr lang="zh-CN" sz="1750" dirty="0"/>
          </a:p>
        </p:txBody>
      </p:sp>
      <p:sp>
        <p:nvSpPr>
          <p:cNvPr id="9" name="Text 6"/>
          <p:cNvSpPr/>
          <p:nvPr/>
        </p:nvSpPr>
        <p:spPr>
          <a:xfrm>
            <a:off x="7726680" y="289560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词频还需结合参与人数</a:t>
            </a:r>
            <a:endParaRPr lang="zh-CN" sz="1500" dirty="0"/>
          </a:p>
        </p:txBody>
      </p:sp>
      <p:sp>
        <p:nvSpPr>
          <p:cNvPr id="10" name="Text 7"/>
          <p:cNvSpPr/>
          <p:nvPr/>
        </p:nvSpPr>
        <p:spPr>
          <a:xfrm>
            <a:off x="7726680" y="3233928"/>
            <a:ext cx="391363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“加油”612条、431人；“谢谢”359条、53人。高频既可能来自面广，也可能来自反复使用。</a:t>
            </a:r>
            <a:endParaRPr lang="zh-CN" sz="1750" dirty="0"/>
          </a:p>
        </p:txBody>
      </p:sp>
      <p:sp>
        <p:nvSpPr>
          <p:cNvPr id="11" name="Text 8"/>
          <p:cNvSpPr/>
          <p:nvPr/>
        </p:nvSpPr>
        <p:spPr>
          <a:xfrm>
            <a:off x="7726680" y="412699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角色分工需要继续配对</a:t>
            </a:r>
            <a:endParaRPr lang="zh-CN" sz="1500" dirty="0"/>
          </a:p>
        </p:txBody>
      </p:sp>
      <p:sp>
        <p:nvSpPr>
          <p:cNvPr id="12" name="Text 9"/>
          <p:cNvSpPr/>
          <p:nvPr/>
        </p:nvSpPr>
        <p:spPr>
          <a:xfrm>
            <a:off x="7726680" y="4465320"/>
            <a:ext cx="391363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赞许更多出现在其他用户发言，感谢更多出现在帖主发言；总体分布尚未定位具体承接。</a:t>
            </a:r>
            <a:endParaRPr lang="zh-CN" sz="1750" dirty="0"/>
          </a:p>
        </p:txBody>
      </p:sp>
      <p:sp>
        <p:nvSpPr>
          <p:cNvPr id="13" name="Shape 10"/>
          <p:cNvSpPr/>
          <p:nvPr/>
        </p:nvSpPr>
        <p:spPr>
          <a:xfrm>
            <a:off x="502920" y="5596128"/>
            <a:ext cx="11183112" cy="585216"/>
          </a:xfrm>
          <a:prstGeom prst="roundRect">
            <a:avLst>
              <a:gd name="adj" fmla="val 18750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" y="57424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下一步</a:t>
            </a:r>
            <a:endParaRPr lang="zh-CN" sz="1400" dirty="0"/>
          </a:p>
        </p:txBody>
      </p:sp>
      <p:sp>
        <p:nvSpPr>
          <p:cNvPr id="15" name="Text 12"/>
          <p:cNvSpPr/>
          <p:nvPr/>
        </p:nvSpPr>
        <p:spPr>
          <a:xfrm>
            <a:off x="1700784" y="5733288"/>
            <a:ext cx="9738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2920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从“谁常说什么”继续追踪到：一条留言之后，是否出现帖主的直接回应？</a:t>
            </a:r>
            <a:endParaRPr lang="zh-CN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 社区研究  /  04  评论语言与直接承接</a:t>
            </a:r>
            <a:endParaRPr lang="zh-CN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09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直接承接：感谢更常见，回复覆盖却较低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源报告 §6.3、附录A.4 · PDF第14—15、25页；7天从根评论发出时起算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10954512" y="6446520"/>
            <a:ext cx="740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11 / 18</a:t>
            </a:r>
            <a:endParaRPr lang="zh-CN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673352"/>
            <a:ext cx="3566160" cy="987552"/>
          </a:xfrm>
          <a:prstGeom prst="roundRect">
            <a:avLst>
              <a:gd name="adj" fmla="val 11111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819656"/>
            <a:ext cx="3255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6,609条根评论</a:t>
            </a:r>
            <a:endParaRPr lang="zh-CN" sz="2100" dirty="0"/>
          </a:p>
        </p:txBody>
      </p:sp>
      <p:sp>
        <p:nvSpPr>
          <p:cNvPr id="8" name="Text 6"/>
          <p:cNvSpPr/>
          <p:nvPr/>
        </p:nvSpPr>
        <p:spPr>
          <a:xfrm>
            <a:off x="658368" y="2313432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其他用户发给帖主的根评论</a:t>
            </a:r>
            <a:endParaRPr lang="zh-CN" sz="1250" dirty="0"/>
          </a:p>
        </p:txBody>
      </p:sp>
      <p:sp>
        <p:nvSpPr>
          <p:cNvPr id="9" name="Shape 7"/>
          <p:cNvSpPr/>
          <p:nvPr/>
        </p:nvSpPr>
        <p:spPr>
          <a:xfrm>
            <a:off x="4315968" y="1673352"/>
            <a:ext cx="3566160" cy="987552"/>
          </a:xfrm>
          <a:prstGeom prst="roundRect">
            <a:avLst>
              <a:gd name="adj" fmla="val 11111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71416" y="1819656"/>
            <a:ext cx="3255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同帖＋明确指向＋7天内</a:t>
            </a:r>
            <a:endParaRPr lang="zh-CN" sz="1800" dirty="0"/>
          </a:p>
        </p:txBody>
      </p:sp>
      <p:sp>
        <p:nvSpPr>
          <p:cNvPr id="11" name="Text 9"/>
          <p:cNvSpPr/>
          <p:nvPr/>
        </p:nvSpPr>
        <p:spPr>
          <a:xfrm>
            <a:off x="4471416" y="2313432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每条仅取最早观测到的帖主直接回复</a:t>
            </a:r>
            <a:endParaRPr lang="zh-CN" sz="1250" dirty="0"/>
          </a:p>
        </p:txBody>
      </p:sp>
      <p:sp>
        <p:nvSpPr>
          <p:cNvPr id="12" name="Shape 10"/>
          <p:cNvSpPr/>
          <p:nvPr/>
        </p:nvSpPr>
        <p:spPr>
          <a:xfrm>
            <a:off x="8129016" y="1673352"/>
            <a:ext cx="3566160" cy="987552"/>
          </a:xfrm>
          <a:prstGeom prst="roundRect">
            <a:avLst>
              <a:gd name="adj" fmla="val 11111"/>
            </a:avLst>
          </a:prstGeom>
          <a:solidFill>
            <a:srgbClr val="E8F4F0"/>
          </a:solidFill>
          <a:ln w="12700">
            <a:solidFill>
              <a:srgbClr val="E8F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84464" y="1819656"/>
            <a:ext cx="3255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100" b="1" dirty="0">
                <a:solidFill>
                  <a:srgbClr val="28847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3,568条配对成功</a:t>
            </a:r>
            <a:endParaRPr lang="zh-CN" sz="2100" dirty="0"/>
          </a:p>
        </p:txBody>
      </p:sp>
      <p:sp>
        <p:nvSpPr>
          <p:cNvPr id="14" name="Text 12"/>
          <p:cNvSpPr/>
          <p:nvPr/>
        </p:nvSpPr>
        <p:spPr>
          <a:xfrm>
            <a:off x="8284464" y="2313432"/>
            <a:ext cx="3255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定位到根评论本身的直接承接</a:t>
            </a:r>
            <a:endParaRPr lang="zh-CN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017520"/>
          <a:ext cx="1118311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25880"/>
                <a:gridCol w="3127248"/>
                <a:gridCol w="3986784"/>
              </a:tblGrid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根评论组别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50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根评论数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50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7天内直接回复覆盖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50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已回复中，最早回复含感谢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50B8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命中鼓励或赞许词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1,180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43.5%（513条）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26.7%（137 / 513）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8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未命中鼓励或赞许词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5,429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56.3%（3,055条）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52338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6.4%（195 / 3,055）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630936" y="4992624"/>
            <a:ext cx="10945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直接回复覆盖：分母是各组全部根评论。感谢表达占比：分母只包括已观察到直接回复的记录。</a:t>
            </a:r>
            <a:endParaRPr lang="zh-CN" sz="1700" dirty="0"/>
          </a:p>
        </p:txBody>
      </p:sp>
      <p:sp>
        <p:nvSpPr>
          <p:cNvPr id="17" name="Shape 14"/>
          <p:cNvSpPr/>
          <p:nvPr/>
        </p:nvSpPr>
        <p:spPr>
          <a:xfrm>
            <a:off x="502920" y="5596128"/>
            <a:ext cx="11183112" cy="585216"/>
          </a:xfrm>
          <a:prstGeom prst="roundRect">
            <a:avLst>
              <a:gd name="adj" fmla="val 18750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4944" y="57424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不同维度</a:t>
            </a:r>
            <a:endParaRPr lang="zh-CN" sz="1400" dirty="0"/>
          </a:p>
        </p:txBody>
      </p:sp>
      <p:sp>
        <p:nvSpPr>
          <p:cNvPr id="19" name="Text 16"/>
          <p:cNvSpPr/>
          <p:nvPr/>
        </p:nvSpPr>
        <p:spPr>
          <a:xfrm>
            <a:off x="1700784" y="5733288"/>
            <a:ext cx="9738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2920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已经回复时怎样表达，与整组留言中多少得到回复，可以呈现不同方向。</a:t>
            </a:r>
            <a:endParaRPr lang="zh-CN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 社区研究  /  05  评论网络与互动形态</a:t>
            </a:r>
            <a:endParaRPr lang="zh-CN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09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网络构建：把每次发言放回它所指向的账号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源报告 §7.1、附录A.4 · PDF第16—17、25页；图沿用报告图11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10954512" y="6446520"/>
            <a:ext cx="740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12 / 18</a:t>
            </a:r>
            <a:endParaRPr lang="zh-CN" sz="1100" dirty="0"/>
          </a:p>
        </p:txBody>
      </p:sp>
      <p:pic>
        <p:nvPicPr>
          <p:cNvPr id="6" name="Image 0" descr="/Users/lchen/Projects/FDU-Homeworks/social-media-net-analysis/projects/group/figures/06_comment_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91640"/>
            <a:ext cx="6675120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26680" y="16642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先确定方向与权重</a:t>
            </a:r>
            <a:endParaRPr lang="zh-CN" sz="1500" dirty="0"/>
          </a:p>
        </p:txBody>
      </p:sp>
      <p:sp>
        <p:nvSpPr>
          <p:cNvPr id="8" name="Text 5"/>
          <p:cNvSpPr/>
          <p:nvPr/>
        </p:nvSpPr>
        <p:spPr>
          <a:xfrm>
            <a:off x="7726680" y="2002536"/>
            <a:ext cx="3931920" cy="810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根评论指向帖主，明确回复指向被回复用户；同一方向的多次事件合并，次数累加为边权。</a:t>
            </a:r>
            <a:endParaRPr lang="zh-CN" sz="1750" dirty="0"/>
          </a:p>
        </p:txBody>
      </p:sp>
      <p:sp>
        <p:nvSpPr>
          <p:cNvPr id="9" name="Text 6"/>
          <p:cNvSpPr/>
          <p:nvPr/>
        </p:nvSpPr>
        <p:spPr>
          <a:xfrm>
            <a:off x="7726680" y="29504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再区分事件、边与账号</a:t>
            </a:r>
            <a:endParaRPr lang="zh-CN" sz="1500" dirty="0"/>
          </a:p>
        </p:txBody>
      </p:sp>
      <p:sp>
        <p:nvSpPr>
          <p:cNvPr id="10" name="Text 7"/>
          <p:cNvSpPr/>
          <p:nvPr/>
        </p:nvSpPr>
        <p:spPr>
          <a:xfrm>
            <a:off x="7726680" y="3288792"/>
            <a:ext cx="3931920" cy="810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11,595条评论排除84次自我互动后，11,511次事件形成4,069条有向边、2,932个有边账号。</a:t>
            </a:r>
            <a:endParaRPr lang="zh-CN" sz="1750" dirty="0"/>
          </a:p>
        </p:txBody>
      </p:sp>
      <p:sp>
        <p:nvSpPr>
          <p:cNvPr id="11" name="Text 8"/>
          <p:cNvSpPr/>
          <p:nvPr/>
        </p:nvSpPr>
        <p:spPr>
          <a:xfrm>
            <a:off x="7726680" y="4236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图形辅助理解结构</a:t>
            </a:r>
            <a:endParaRPr lang="zh-CN" sz="1500" dirty="0"/>
          </a:p>
        </p:txBody>
      </p:sp>
      <p:sp>
        <p:nvSpPr>
          <p:cNvPr id="12" name="Text 9"/>
          <p:cNvSpPr/>
          <p:nvPr/>
        </p:nvSpPr>
        <p:spPr>
          <a:xfrm>
            <a:off x="7726680" y="4575048"/>
            <a:ext cx="3931920" cy="810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金色为样本作者，蓝色为其他账号；节点按接收量对数缩放，为便于阅读省略箭头。</a:t>
            </a:r>
            <a:endParaRPr lang="zh-CN" sz="1750" dirty="0"/>
          </a:p>
        </p:txBody>
      </p:sp>
      <p:sp>
        <p:nvSpPr>
          <p:cNvPr id="13" name="Shape 10"/>
          <p:cNvSpPr/>
          <p:nvPr/>
        </p:nvSpPr>
        <p:spPr>
          <a:xfrm>
            <a:off x="502920" y="5596128"/>
            <a:ext cx="11183112" cy="585216"/>
          </a:xfrm>
          <a:prstGeom prst="roundRect">
            <a:avLst>
              <a:gd name="adj" fmla="val 18750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" y="57424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关系含义</a:t>
            </a:r>
            <a:endParaRPr lang="zh-CN" sz="1400" dirty="0"/>
          </a:p>
        </p:txBody>
      </p:sp>
      <p:sp>
        <p:nvSpPr>
          <p:cNvPr id="15" name="Text 12"/>
          <p:cNvSpPr/>
          <p:nvPr/>
        </p:nvSpPr>
        <p:spPr>
          <a:xfrm>
            <a:off x="1700784" y="5733288"/>
            <a:ext cx="9738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2920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10次同方向留言是一条权重为10的边；网络账号同时包含发送者与接收者。</a:t>
            </a:r>
            <a:endParaRPr lang="zh-CN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 社区研究  /  05  评论网络与互动形态</a:t>
            </a:r>
            <a:endParaRPr lang="zh-CN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09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网络结构：间接相连广，回话主要由帖主承担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源报告 §7.2 · PDF第17页；角色占比以4,902次非自我明确回复为分母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10954512" y="6446520"/>
            <a:ext cx="740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13 / 18</a:t>
            </a:r>
            <a:endParaRPr lang="zh-CN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847088"/>
          <a:ext cx="6675120" cy="31729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726680" y="166420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大多数账号能间接串起</a:t>
            </a:r>
            <a:endParaRPr lang="zh-CN" sz="1500" dirty="0"/>
          </a:p>
        </p:txBody>
      </p:sp>
      <p:sp>
        <p:nvSpPr>
          <p:cNvPr id="8" name="Text 5"/>
          <p:cNvSpPr/>
          <p:nvPr/>
        </p:nvSpPr>
        <p:spPr>
          <a:xfrm>
            <a:off x="7726680" y="2002536"/>
            <a:ext cx="391363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最大弱连通部分包含94.4%的有边账号；网络密度仅0.0473%，直接联系仍稀疏。</a:t>
            </a:r>
            <a:endParaRPr lang="zh-CN" sz="1750" dirty="0"/>
          </a:p>
        </p:txBody>
      </p:sp>
      <p:sp>
        <p:nvSpPr>
          <p:cNvPr id="9" name="Text 6"/>
          <p:cNvSpPr/>
          <p:nvPr/>
        </p:nvSpPr>
        <p:spPr>
          <a:xfrm>
            <a:off x="7726680" y="289560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明确回话高度依赖帖主</a:t>
            </a:r>
            <a:endParaRPr lang="zh-CN" sz="1500" dirty="0"/>
          </a:p>
        </p:txBody>
      </p:sp>
      <p:sp>
        <p:nvSpPr>
          <p:cNvPr id="10" name="Text 7"/>
          <p:cNvSpPr/>
          <p:nvPr/>
        </p:nvSpPr>
        <p:spPr>
          <a:xfrm>
            <a:off x="7726680" y="3233928"/>
            <a:ext cx="391363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帖主回复其他用户4,361次，占89.0%；其他用户彼此回复97次，占2.0%。</a:t>
            </a:r>
            <a:endParaRPr lang="zh-CN" sz="1750" dirty="0"/>
          </a:p>
        </p:txBody>
      </p:sp>
      <p:sp>
        <p:nvSpPr>
          <p:cNvPr id="11" name="Text 8"/>
          <p:cNvSpPr/>
          <p:nvPr/>
        </p:nvSpPr>
        <p:spPr>
          <a:xfrm>
            <a:off x="7726680" y="4126992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连通与横向对话要区分</a:t>
            </a:r>
            <a:endParaRPr lang="zh-CN" sz="1500" dirty="0"/>
          </a:p>
        </p:txBody>
      </p:sp>
      <p:sp>
        <p:nvSpPr>
          <p:cNvPr id="12" name="Text 9"/>
          <p:cNvSpPr/>
          <p:nvPr/>
        </p:nvSpPr>
        <p:spPr>
          <a:xfrm>
            <a:off x="7726680" y="4465320"/>
            <a:ext cx="391363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用户经由共同评论对象间接相连，实际回话则主要围绕帖主展开。</a:t>
            </a:r>
            <a:endParaRPr lang="zh-CN" sz="1750" dirty="0"/>
          </a:p>
        </p:txBody>
      </p:sp>
      <p:sp>
        <p:nvSpPr>
          <p:cNvPr id="13" name="Shape 10"/>
          <p:cNvSpPr/>
          <p:nvPr/>
        </p:nvSpPr>
        <p:spPr>
          <a:xfrm>
            <a:off x="502920" y="5596128"/>
            <a:ext cx="11183112" cy="585216"/>
          </a:xfrm>
          <a:prstGeom prst="roundRect">
            <a:avLst>
              <a:gd name="adj" fmla="val 18750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" y="57424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结构发现</a:t>
            </a:r>
            <a:endParaRPr lang="zh-CN" sz="1400" dirty="0"/>
          </a:p>
        </p:txBody>
      </p:sp>
      <p:sp>
        <p:nvSpPr>
          <p:cNvPr id="15" name="Text 12"/>
          <p:cNvSpPr/>
          <p:nvPr/>
        </p:nvSpPr>
        <p:spPr>
          <a:xfrm>
            <a:off x="1700784" y="5733288"/>
            <a:ext cx="9738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2920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多人留言形成参与广度，帖主持续回应构成主要承接；横向接话只占很小份额。</a:t>
            </a:r>
            <a:endParaRPr lang="zh-CN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 社区研究  /  05  评论网络与互动形态</a:t>
            </a:r>
            <a:endParaRPr lang="zh-CN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09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互动规模：相似评论量，可以来自很不同的人数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源报告 §7.3 · PDF第17—18页；次数与人数均包括根评论和明确回复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10954512" y="6446520"/>
            <a:ext cx="740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14 / 18</a:t>
            </a:r>
            <a:endParaRPr lang="zh-CN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709928"/>
            <a:ext cx="5431536" cy="2907792"/>
          </a:xfrm>
          <a:prstGeom prst="roundRect">
            <a:avLst>
              <a:gd name="adj" fmla="val 3774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11096"/>
            <a:ext cx="4974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U1528</a:t>
            </a:r>
            <a:endParaRPr lang="zh-CN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49743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4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1,378次</a:t>
            </a:r>
            <a:endParaRPr lang="zh-CN" sz="3400" dirty="0"/>
          </a:p>
        </p:txBody>
      </p:sp>
      <p:sp>
        <p:nvSpPr>
          <p:cNvPr id="9" name="Text 7"/>
          <p:cNvSpPr/>
          <p:nvPr/>
        </p:nvSpPr>
        <p:spPr>
          <a:xfrm>
            <a:off x="731520" y="3209544"/>
            <a:ext cx="49743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500" b="1" dirty="0">
                <a:solidFill>
                  <a:srgbClr val="28847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53位发送者</a:t>
            </a:r>
            <a:endParaRPr lang="zh-CN" sz="2500" dirty="0"/>
          </a:p>
        </p:txBody>
      </p:sp>
      <p:sp>
        <p:nvSpPr>
          <p:cNvPr id="10" name="Text 8"/>
          <p:cNvSpPr/>
          <p:nvPr/>
        </p:nvSpPr>
        <p:spPr>
          <a:xfrm>
            <a:off x="731520" y="3931920"/>
            <a:ext cx="49743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已有发送者反复留言的份量较大</a:t>
            </a:r>
            <a:endParaRPr lang="zh-CN" sz="1800" dirty="0"/>
          </a:p>
        </p:txBody>
      </p:sp>
      <p:sp>
        <p:nvSpPr>
          <p:cNvPr id="11" name="Shape 9"/>
          <p:cNvSpPr/>
          <p:nvPr/>
        </p:nvSpPr>
        <p:spPr>
          <a:xfrm>
            <a:off x="6254496" y="1709928"/>
            <a:ext cx="5431536" cy="2907792"/>
          </a:xfrm>
          <a:prstGeom prst="roundRect">
            <a:avLst>
              <a:gd name="adj" fmla="val 3774"/>
            </a:avLst>
          </a:prstGeom>
          <a:solidFill>
            <a:srgbClr val="E8F4F0"/>
          </a:solidFill>
          <a:ln w="12700">
            <a:solidFill>
              <a:srgbClr val="E8F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83096" y="1911096"/>
            <a:ext cx="4974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U0948</a:t>
            </a:r>
            <a:endParaRPr lang="zh-CN" sz="2000" dirty="0"/>
          </a:p>
        </p:txBody>
      </p:sp>
      <p:sp>
        <p:nvSpPr>
          <p:cNvPr id="13" name="Text 11"/>
          <p:cNvSpPr/>
          <p:nvPr/>
        </p:nvSpPr>
        <p:spPr>
          <a:xfrm>
            <a:off x="6483096" y="2514600"/>
            <a:ext cx="49743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4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1,275次</a:t>
            </a:r>
            <a:endParaRPr lang="zh-CN" sz="3400" dirty="0"/>
          </a:p>
        </p:txBody>
      </p:sp>
      <p:sp>
        <p:nvSpPr>
          <p:cNvPr id="14" name="Text 12"/>
          <p:cNvSpPr/>
          <p:nvPr/>
        </p:nvSpPr>
        <p:spPr>
          <a:xfrm>
            <a:off x="6483096" y="3209544"/>
            <a:ext cx="49743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500" b="1" dirty="0">
                <a:solidFill>
                  <a:srgbClr val="28847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1,091位发送者</a:t>
            </a:r>
            <a:endParaRPr lang="zh-CN" sz="2500" dirty="0"/>
          </a:p>
        </p:txBody>
      </p:sp>
      <p:sp>
        <p:nvSpPr>
          <p:cNvPr id="15" name="Text 13"/>
          <p:cNvSpPr/>
          <p:nvPr/>
        </p:nvSpPr>
        <p:spPr>
          <a:xfrm>
            <a:off x="6483096" y="3931920"/>
            <a:ext cx="49743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接收量相近，却覆盖更多不同账号</a:t>
            </a:r>
            <a:endParaRPr lang="zh-CN" sz="1800" dirty="0"/>
          </a:p>
        </p:txBody>
      </p:sp>
      <p:sp>
        <p:nvSpPr>
          <p:cNvPr id="16" name="Text 14"/>
          <p:cNvSpPr/>
          <p:nvPr/>
        </p:nvSpPr>
        <p:spPr>
          <a:xfrm>
            <a:off x="630936" y="4892040"/>
            <a:ext cx="109453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前10位账号接收了54.0%的非自我互动事件。事件次数（加权入度）衡量声量，不同发送者人数（入度）衡量接收关系的范围。</a:t>
            </a:r>
            <a:endParaRPr lang="zh-CN" sz="1800" dirty="0"/>
          </a:p>
        </p:txBody>
      </p:sp>
      <p:sp>
        <p:nvSpPr>
          <p:cNvPr id="17" name="Shape 15"/>
          <p:cNvSpPr/>
          <p:nvPr/>
        </p:nvSpPr>
        <p:spPr>
          <a:xfrm>
            <a:off x="502920" y="5806440"/>
            <a:ext cx="11183112" cy="585216"/>
          </a:xfrm>
          <a:prstGeom prst="roundRect">
            <a:avLst>
              <a:gd name="adj" fmla="val 18750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" y="5952744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衡量方式</a:t>
            </a:r>
            <a:endParaRPr lang="zh-CN" sz="1400" dirty="0"/>
          </a:p>
        </p:txBody>
      </p:sp>
      <p:sp>
        <p:nvSpPr>
          <p:cNvPr id="19" name="Text 17"/>
          <p:cNvSpPr/>
          <p:nvPr/>
        </p:nvSpPr>
        <p:spPr>
          <a:xfrm>
            <a:off x="1700784" y="5943600"/>
            <a:ext cx="9738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2920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不能只按评论总量判断活跃程度，还要区分参与广度与已有关系中的重复往来。</a:t>
            </a:r>
            <a:endParaRPr lang="zh-CN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 社区研究  /  05  评论网络与互动形态</a:t>
            </a:r>
            <a:endParaRPr lang="zh-CN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09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互动时序：评论集中在早期，帖主在线程中承接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源报告 §7.4、附录A.4 · PDF第18—19、25页；时序分母11,595条评论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10954512" y="6446520"/>
            <a:ext cx="740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15 / 18</a:t>
            </a:r>
            <a:endParaRPr lang="zh-CN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3547872" cy="1088136"/>
          </a:xfrm>
          <a:prstGeom prst="roundRect">
            <a:avLst>
              <a:gd name="adj" fmla="val 10084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01368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64.5%</a:t>
            </a:r>
            <a:endParaRPr lang="zh-CN" sz="3200" dirty="0"/>
          </a:p>
        </p:txBody>
      </p:sp>
      <p:sp>
        <p:nvSpPr>
          <p:cNvPr id="8" name="Text 6"/>
          <p:cNvSpPr/>
          <p:nvPr/>
        </p:nvSpPr>
        <p:spPr>
          <a:xfrm>
            <a:off x="685800" y="2386584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3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评论发生在发帖后24小时内</a:t>
            </a:r>
            <a:endParaRPr lang="zh-CN" sz="1350" dirty="0"/>
          </a:p>
        </p:txBody>
      </p:sp>
      <p:sp>
        <p:nvSpPr>
          <p:cNvPr id="9" name="Shape 7"/>
          <p:cNvSpPr/>
          <p:nvPr/>
        </p:nvSpPr>
        <p:spPr>
          <a:xfrm>
            <a:off x="4315968" y="1691640"/>
            <a:ext cx="3547872" cy="1088136"/>
          </a:xfrm>
          <a:prstGeom prst="roundRect">
            <a:avLst>
              <a:gd name="adj" fmla="val 10084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8848" y="1801368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82.2%</a:t>
            </a:r>
            <a:endParaRPr lang="zh-CN" sz="3200" dirty="0"/>
          </a:p>
        </p:txBody>
      </p:sp>
      <p:sp>
        <p:nvSpPr>
          <p:cNvPr id="11" name="Text 9"/>
          <p:cNvSpPr/>
          <p:nvPr/>
        </p:nvSpPr>
        <p:spPr>
          <a:xfrm>
            <a:off x="4498848" y="2386584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3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评论发生在发帖后7天内</a:t>
            </a:r>
            <a:endParaRPr lang="zh-CN" sz="1350" dirty="0"/>
          </a:p>
        </p:txBody>
      </p:sp>
      <p:sp>
        <p:nvSpPr>
          <p:cNvPr id="12" name="Shape 10"/>
          <p:cNvSpPr/>
          <p:nvPr/>
        </p:nvSpPr>
        <p:spPr>
          <a:xfrm>
            <a:off x="8129016" y="1691640"/>
            <a:ext cx="3557016" cy="1088136"/>
          </a:xfrm>
          <a:prstGeom prst="roundRect">
            <a:avLst>
              <a:gd name="adj" fmla="val 10084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11896" y="1801368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2.05小时</a:t>
            </a:r>
            <a:endParaRPr lang="zh-CN" sz="3200" dirty="0"/>
          </a:p>
        </p:txBody>
      </p:sp>
      <p:sp>
        <p:nvSpPr>
          <p:cNvPr id="14" name="Text 12"/>
          <p:cNvSpPr/>
          <p:nvPr/>
        </p:nvSpPr>
        <p:spPr>
          <a:xfrm>
            <a:off x="8311896" y="2386584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3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已参与线程：首回距根评论中位数</a:t>
            </a:r>
            <a:endParaRPr lang="zh-CN" sz="1350" dirty="0"/>
          </a:p>
        </p:txBody>
      </p:sp>
      <p:sp>
        <p:nvSpPr>
          <p:cNvPr id="15" name="Shape 13"/>
          <p:cNvSpPr/>
          <p:nvPr/>
        </p:nvSpPr>
        <p:spPr>
          <a:xfrm>
            <a:off x="502920" y="3246120"/>
            <a:ext cx="5358384" cy="1920240"/>
          </a:xfrm>
          <a:prstGeom prst="roundRect">
            <a:avLst>
              <a:gd name="adj" fmla="val 5714"/>
            </a:avLst>
          </a:prstGeom>
          <a:solidFill>
            <a:srgbClr val="E8F4F0"/>
          </a:solidFill>
          <a:ln w="12700">
            <a:solidFill>
              <a:srgbClr val="E8F4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44768" y="3246120"/>
            <a:ext cx="5541264" cy="1920240"/>
          </a:xfrm>
          <a:prstGeom prst="roundRect">
            <a:avLst>
              <a:gd name="adj" fmla="val 5714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" y="3447288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28847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57.0%的根评论线程有帖主参与</a:t>
            </a:r>
            <a:endParaRPr lang="zh-CN" sz="2000" dirty="0"/>
          </a:p>
        </p:txBody>
      </p:sp>
      <p:sp>
        <p:nvSpPr>
          <p:cNvPr id="18" name="Text 16"/>
          <p:cNvSpPr/>
          <p:nvPr/>
        </p:nvSpPr>
        <p:spPr>
          <a:xfrm>
            <a:off x="722376" y="4050792"/>
            <a:ext cx="49011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线程参与包括留言串内的回复；第4章直接配对则要求明确指向根评论本身，且限根评论后7天。</a:t>
            </a:r>
            <a:endParaRPr lang="zh-CN" sz="1800" dirty="0"/>
          </a:p>
        </p:txBody>
      </p:sp>
      <p:sp>
        <p:nvSpPr>
          <p:cNvPr id="19" name="Text 17"/>
          <p:cNvSpPr/>
          <p:nvPr/>
        </p:nvSpPr>
        <p:spPr>
          <a:xfrm>
            <a:off x="6364224" y="34472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双向连接体现留言与回话</a:t>
            </a:r>
            <a:endParaRPr lang="zh-CN" sz="2000" dirty="0"/>
          </a:p>
        </p:txBody>
      </p:sp>
      <p:sp>
        <p:nvSpPr>
          <p:cNvPr id="20" name="Text 18"/>
          <p:cNvSpPr/>
          <p:nvPr/>
        </p:nvSpPr>
        <p:spPr>
          <a:xfrm>
            <a:off x="6364224" y="4050792"/>
            <a:ext cx="5029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全量网络互惠率49.6%，仅明确回复为29.9%；根评论与帖主回复，能够组成账号间的双向关系。</a:t>
            </a:r>
            <a:endParaRPr lang="zh-CN" sz="1800" dirty="0"/>
          </a:p>
        </p:txBody>
      </p:sp>
      <p:sp>
        <p:nvSpPr>
          <p:cNvPr id="21" name="Shape 19"/>
          <p:cNvSpPr/>
          <p:nvPr/>
        </p:nvSpPr>
        <p:spPr>
          <a:xfrm>
            <a:off x="502920" y="5596128"/>
            <a:ext cx="11183112" cy="585216"/>
          </a:xfrm>
          <a:prstGeom prst="roundRect">
            <a:avLst>
              <a:gd name="adj" fmla="val 18750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" y="57424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口径区别</a:t>
            </a:r>
            <a:endParaRPr lang="zh-CN" sz="1400" dirty="0"/>
          </a:p>
        </p:txBody>
      </p:sp>
      <p:sp>
        <p:nvSpPr>
          <p:cNvPr id="23" name="Text 21"/>
          <p:cNvSpPr/>
          <p:nvPr/>
        </p:nvSpPr>
        <p:spPr>
          <a:xfrm>
            <a:off x="1700784" y="5733288"/>
            <a:ext cx="9738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2920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评论发生时间从发帖起算；直接配对与线程首回从根评论起算，三类指标分别衡量。</a:t>
            </a:r>
            <a:endParaRPr lang="zh-CN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 社区研究  /  06  综合结论与建议</a:t>
            </a:r>
            <a:endParaRPr lang="zh-CN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09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综合判断与建议：把证据落实到内容和承接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源报告 §8.1—8.2、§9.2 · PDF第20—21页；建议效果仍需后续验证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10954512" y="6446520"/>
            <a:ext cx="740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16 / 18</a:t>
            </a:r>
            <a:endParaRPr lang="zh-CN" sz="1100" dirty="0"/>
          </a:p>
        </p:txBody>
      </p:sp>
      <p:sp>
        <p:nvSpPr>
          <p:cNvPr id="6" name="Shape 4"/>
          <p:cNvSpPr/>
          <p:nvPr/>
        </p:nvSpPr>
        <p:spPr>
          <a:xfrm>
            <a:off x="557784" y="1783080"/>
            <a:ext cx="438912" cy="438912"/>
          </a:xfrm>
          <a:prstGeom prst="ellipse">
            <a:avLst/>
          </a:prstGeom>
          <a:solidFill>
            <a:srgbClr val="6550B8"/>
          </a:solidFill>
          <a:ln w="12700">
            <a:solidFill>
              <a:srgbClr val="6550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801368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</a:t>
            </a:r>
            <a:endParaRPr lang="zh-CN" sz="1700" dirty="0"/>
          </a:p>
        </p:txBody>
      </p:sp>
      <p:sp>
        <p:nvSpPr>
          <p:cNvPr id="8" name="Text 6"/>
          <p:cNvSpPr/>
          <p:nvPr/>
        </p:nvSpPr>
        <p:spPr>
          <a:xfrm>
            <a:off x="1234440" y="16916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表达要结合作者</a:t>
            </a:r>
            <a:endParaRPr lang="zh-CN" sz="2000" dirty="0"/>
          </a:p>
        </p:txBody>
      </p:sp>
      <p:sp>
        <p:nvSpPr>
          <p:cNvPr id="9" name="Text 7"/>
          <p:cNvSpPr/>
          <p:nvPr/>
        </p:nvSpPr>
        <p:spPr>
          <a:xfrm>
            <a:off x="1234440" y="2221992"/>
            <a:ext cx="4114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原始高赞与调整后关联不同，文本增量较少。</a:t>
            </a:r>
            <a:endParaRPr lang="zh-CN" sz="1700" dirty="0"/>
          </a:p>
        </p:txBody>
      </p:sp>
      <p:sp>
        <p:nvSpPr>
          <p:cNvPr id="10" name="Text 8"/>
          <p:cNvSpPr/>
          <p:nvPr/>
        </p:nvSpPr>
        <p:spPr>
          <a:xfrm>
            <a:off x="5943600" y="1847088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创作者不依赖固定关键词模板，关注完整内容与持续记录。</a:t>
            </a:r>
            <a:endParaRPr lang="zh-CN" sz="1900" dirty="0"/>
          </a:p>
        </p:txBody>
      </p:sp>
      <p:sp>
        <p:nvSpPr>
          <p:cNvPr id="11" name="Shape 9"/>
          <p:cNvSpPr/>
          <p:nvPr/>
        </p:nvSpPr>
        <p:spPr>
          <a:xfrm>
            <a:off x="557784" y="2990088"/>
            <a:ext cx="438912" cy="438912"/>
          </a:xfrm>
          <a:prstGeom prst="ellipse">
            <a:avLst/>
          </a:prstGeom>
          <a:solidFill>
            <a:srgbClr val="288475"/>
          </a:solidFill>
          <a:ln w="12700">
            <a:solidFill>
              <a:srgbClr val="2884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" y="3008376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</a:t>
            </a:r>
            <a:endParaRPr lang="zh-CN" sz="1700" dirty="0"/>
          </a:p>
        </p:txBody>
      </p:sp>
      <p:sp>
        <p:nvSpPr>
          <p:cNvPr id="13" name="Text 11"/>
          <p:cNvSpPr/>
          <p:nvPr/>
        </p:nvSpPr>
        <p:spPr>
          <a:xfrm>
            <a:off x="1234440" y="28986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活跃要看参与面</a:t>
            </a:r>
            <a:endParaRPr lang="zh-CN" sz="2000" dirty="0"/>
          </a:p>
        </p:txBody>
      </p:sp>
      <p:sp>
        <p:nvSpPr>
          <p:cNvPr id="14" name="Text 12"/>
          <p:cNvSpPr/>
          <p:nvPr/>
        </p:nvSpPr>
        <p:spPr>
          <a:xfrm>
            <a:off x="1234440" y="3429000"/>
            <a:ext cx="4114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相近接收量对应不同人数，回话主要围绕帖主。</a:t>
            </a:r>
            <a:endParaRPr lang="zh-CN" sz="1700" dirty="0"/>
          </a:p>
        </p:txBody>
      </p:sp>
      <p:sp>
        <p:nvSpPr>
          <p:cNvPr id="15" name="Text 13"/>
          <p:cNvSpPr/>
          <p:nvPr/>
        </p:nvSpPr>
        <p:spPr>
          <a:xfrm>
            <a:off x="5943600" y="3054096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运营同时观察事件量、独立参与者和留言承接，关注低反馈者。</a:t>
            </a:r>
            <a:endParaRPr lang="zh-CN" sz="1900" dirty="0"/>
          </a:p>
        </p:txBody>
      </p:sp>
      <p:sp>
        <p:nvSpPr>
          <p:cNvPr id="16" name="Shape 14"/>
          <p:cNvSpPr/>
          <p:nvPr/>
        </p:nvSpPr>
        <p:spPr>
          <a:xfrm>
            <a:off x="557784" y="4197096"/>
            <a:ext cx="438912" cy="438912"/>
          </a:xfrm>
          <a:prstGeom prst="ellipse">
            <a:avLst/>
          </a:prstGeom>
          <a:solidFill>
            <a:srgbClr val="6550B8"/>
          </a:solidFill>
          <a:ln w="12700">
            <a:solidFill>
              <a:srgbClr val="6550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" y="4215384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</a:t>
            </a:r>
            <a:endParaRPr lang="zh-CN" sz="1700" dirty="0"/>
          </a:p>
        </p:txBody>
      </p:sp>
      <p:sp>
        <p:nvSpPr>
          <p:cNvPr id="18" name="Text 16"/>
          <p:cNvSpPr/>
          <p:nvPr/>
        </p:nvSpPr>
        <p:spPr>
          <a:xfrm>
            <a:off x="1234440" y="410565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早期回应值得关注</a:t>
            </a:r>
            <a:endParaRPr lang="zh-CN" sz="2000" dirty="0"/>
          </a:p>
        </p:txBody>
      </p:sp>
      <p:sp>
        <p:nvSpPr>
          <p:cNvPr id="19" name="Text 17"/>
          <p:cNvSpPr/>
          <p:nvPr/>
        </p:nvSpPr>
        <p:spPr>
          <a:xfrm>
            <a:off x="1234440" y="4636008"/>
            <a:ext cx="4114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多数评论出现在发帖后的早期，帖主承担主要回复。</a:t>
            </a:r>
            <a:endParaRPr lang="zh-CN" sz="1700" dirty="0"/>
          </a:p>
        </p:txBody>
      </p:sp>
      <p:sp>
        <p:nvSpPr>
          <p:cNvPr id="20" name="Text 18"/>
          <p:cNvSpPr/>
          <p:nvPr/>
        </p:nvSpPr>
        <p:spPr>
          <a:xfrm>
            <a:off x="5943600" y="4261104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尝试及时承接留言，但回复是否促进后续互动仍需检验。</a:t>
            </a:r>
            <a:endParaRPr lang="zh-CN" sz="1900" dirty="0"/>
          </a:p>
        </p:txBody>
      </p:sp>
      <p:sp>
        <p:nvSpPr>
          <p:cNvPr id="21" name="Shape 19"/>
          <p:cNvSpPr/>
          <p:nvPr/>
        </p:nvSpPr>
        <p:spPr>
          <a:xfrm>
            <a:off x="502920" y="5596128"/>
            <a:ext cx="11183112" cy="585216"/>
          </a:xfrm>
          <a:prstGeom prst="roundRect">
            <a:avLst>
              <a:gd name="adj" fmla="val 18750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" y="57424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实践方向</a:t>
            </a:r>
            <a:endParaRPr lang="zh-CN" sz="1400" dirty="0"/>
          </a:p>
        </p:txBody>
      </p:sp>
      <p:sp>
        <p:nvSpPr>
          <p:cNvPr id="23" name="Text 21"/>
          <p:cNvSpPr/>
          <p:nvPr/>
        </p:nvSpPr>
        <p:spPr>
          <a:xfrm>
            <a:off x="1700784" y="5733288"/>
            <a:ext cx="9738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2920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内容投入与互动支持值得继续探索；当前观察性结果提供设计线索，效果需验证。</a:t>
            </a:r>
            <a:endParaRPr lang="zh-CN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 社区研究  /  06  综合结论与建议</a:t>
            </a:r>
            <a:endParaRPr lang="zh-CN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09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000" b="1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研究边界与下一步：用统一窗口检验实际效果</a:t>
            </a:r>
            <a:endParaRPr lang="zh-CN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源报告 §9.3—9.4 · PDF第22页；所述随机实验尚未实施</a:t>
            </a:r>
            <a:endParaRPr lang="zh-CN" sz="950" dirty="0"/>
          </a:p>
        </p:txBody>
      </p:sp>
      <p:sp>
        <p:nvSpPr>
          <p:cNvPr id="5" name="Text 3"/>
          <p:cNvSpPr/>
          <p:nvPr/>
        </p:nvSpPr>
        <p:spPr>
          <a:xfrm>
            <a:off x="10954512" y="6446520"/>
            <a:ext cx="740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C697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17 / 18</a:t>
            </a:r>
            <a:endParaRPr lang="zh-CN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5358384" cy="3639312"/>
          </a:xfrm>
          <a:prstGeom prst="roundRect">
            <a:avLst>
              <a:gd name="adj" fmla="val 3015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44768" y="1691640"/>
            <a:ext cx="5541264" cy="3639312"/>
          </a:xfrm>
          <a:prstGeom prst="roundRect">
            <a:avLst>
              <a:gd name="adj" fmla="val 3015"/>
            </a:avLst>
          </a:prstGeom>
          <a:solidFill>
            <a:srgbClr val="E8F4F0"/>
          </a:solidFill>
          <a:ln w="12700">
            <a:solidFill>
              <a:srgbClr val="E8F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920240"/>
            <a:ext cx="4892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4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当前结论适用到哪里</a:t>
            </a:r>
            <a:endParaRPr lang="zh-CN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样本与记录有限</a:t>
            </a:r>
            <a:endParaRPr lang="zh-CN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2990088"/>
            <a:ext cx="4892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只有100位课程样本作者，抽样机制不明；正文和评论覆盖不全，不能推广到全平台。</a:t>
            </a:r>
            <a:endParaRPr lang="zh-CN" sz="1750" dirty="0"/>
          </a:p>
        </p:txBody>
      </p:sp>
      <p:sp>
        <p:nvSpPr>
          <p:cNvPr id="11" name="Text 9"/>
          <p:cNvSpPr/>
          <p:nvPr/>
        </p:nvSpPr>
        <p:spPr>
          <a:xfrm>
            <a:off x="731520" y="393192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仍是平台内关联</a:t>
            </a:r>
            <a:endParaRPr lang="zh-CN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4270248"/>
            <a:ext cx="4892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缺少真实曝光、粉丝数、统一采集时点和完整内容；点赞不等于运动效果或用户留存。</a:t>
            </a:r>
            <a:endParaRPr lang="zh-CN" sz="1750" dirty="0"/>
          </a:p>
        </p:txBody>
      </p:sp>
      <p:sp>
        <p:nvSpPr>
          <p:cNvPr id="13" name="Text 11"/>
          <p:cNvSpPr/>
          <p:nvPr/>
        </p:nvSpPr>
        <p:spPr>
          <a:xfrm>
            <a:off x="6373368" y="1920240"/>
            <a:ext cx="5029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400" b="1" dirty="0">
                <a:solidFill>
                  <a:srgbClr val="28847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下一步怎样验证</a:t>
            </a:r>
            <a:endParaRPr lang="zh-CN" sz="2400" dirty="0"/>
          </a:p>
        </p:txBody>
      </p:sp>
      <p:sp>
        <p:nvSpPr>
          <p:cNvPr id="14" name="Text 12"/>
          <p:cNvSpPr/>
          <p:nvPr/>
        </p:nvSpPr>
        <p:spPr>
          <a:xfrm>
            <a:off x="6373368" y="26517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按作者随机分组</a:t>
            </a:r>
            <a:endParaRPr lang="zh-CN" sz="1500" dirty="0"/>
          </a:p>
        </p:txBody>
      </p:sp>
      <p:sp>
        <p:nvSpPr>
          <p:cNvPr id="15" name="Text 13"/>
          <p:cNvSpPr/>
          <p:nvPr/>
        </p:nvSpPr>
        <p:spPr>
          <a:xfrm>
            <a:off x="6373368" y="2990088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比较运动过程记录提示、面向伙伴的问题提示和常规发布，减少同一作者跨组的干扰。</a:t>
            </a:r>
            <a:endParaRPr lang="zh-CN" sz="1750" dirty="0"/>
          </a:p>
        </p:txBody>
      </p:sp>
      <p:sp>
        <p:nvSpPr>
          <p:cNvPr id="16" name="Text 14"/>
          <p:cNvSpPr/>
          <p:nvPr/>
        </p:nvSpPr>
        <p:spPr>
          <a:xfrm>
            <a:off x="6373368" y="39319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统一发帖后7天观察</a:t>
            </a:r>
            <a:endParaRPr lang="zh-CN" sz="1500" dirty="0"/>
          </a:p>
        </p:txBody>
      </p:sp>
      <p:sp>
        <p:nvSpPr>
          <p:cNvPr id="17" name="Text 15"/>
          <p:cNvSpPr/>
          <p:nvPr/>
        </p:nvSpPr>
        <p:spPr>
          <a:xfrm>
            <a:off x="6373368" y="4270248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50" dirty="0">
                <a:solidFill>
                  <a:srgbClr val="25233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记录实际曝光、独立互动人数、后续发布行为与回复质量；试点后再估计所需样本量。</a:t>
            </a:r>
            <a:endParaRPr lang="zh-CN" sz="1750" dirty="0"/>
          </a:p>
        </p:txBody>
      </p:sp>
      <p:sp>
        <p:nvSpPr>
          <p:cNvPr id="18" name="Shape 16"/>
          <p:cNvSpPr/>
          <p:nvPr/>
        </p:nvSpPr>
        <p:spPr>
          <a:xfrm>
            <a:off x="502920" y="5596128"/>
            <a:ext cx="11183112" cy="585216"/>
          </a:xfrm>
          <a:prstGeom prst="roundRect">
            <a:avLst>
              <a:gd name="adj" fmla="val 18750"/>
            </a:avLst>
          </a:prstGeom>
          <a:solidFill>
            <a:srgbClr val="EFECF8"/>
          </a:solidFill>
          <a:ln w="12700">
            <a:solidFill>
              <a:srgbClr val="EFEC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" y="57424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b="1" dirty="0">
                <a:solidFill>
                  <a:srgbClr val="6550B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后续方向</a:t>
            </a:r>
            <a:endParaRPr lang="zh-CN" sz="1400" dirty="0"/>
          </a:p>
        </p:txBody>
      </p:sp>
      <p:sp>
        <p:nvSpPr>
          <p:cNvPr id="20" name="Text 18"/>
          <p:cNvSpPr/>
          <p:nvPr/>
        </p:nvSpPr>
        <p:spPr>
          <a:xfrm>
            <a:off x="1700784" y="5733288"/>
            <a:ext cx="9738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29204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用更完整的曝光与内容记录，加上随机实验，推进对表达和互动效果的判断。</a:t>
            </a:r>
            <a:endParaRPr lang="zh-CN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9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950" dirty="0">
                <a:solidFill>
                  <a:srgbClr val="B6ADC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依据排版优化版报告 §9.5；方法文献与完整结果见源报告第23—26页</a:t>
            </a:r>
            <a:endParaRPr lang="zh-CN" sz="950" dirty="0"/>
          </a:p>
        </p:txBody>
      </p:sp>
      <p:sp>
        <p:nvSpPr>
          <p:cNvPr id="3" name="Text 1"/>
          <p:cNvSpPr/>
          <p:nvPr/>
        </p:nvSpPr>
        <p:spPr>
          <a:xfrm>
            <a:off x="10954512" y="6446520"/>
            <a:ext cx="740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D5CEE4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18 / 18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40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6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最后的判断</a:t>
            </a:r>
            <a:endParaRPr lang="zh-CN" sz="3600" dirty="0"/>
          </a:p>
        </p:txBody>
      </p:sp>
      <p:sp>
        <p:nvSpPr>
          <p:cNvPr id="5" name="Shape 3"/>
          <p:cNvSpPr/>
          <p:nvPr/>
        </p:nvSpPr>
        <p:spPr>
          <a:xfrm>
            <a:off x="658368" y="1773936"/>
            <a:ext cx="475488" cy="475488"/>
          </a:xfrm>
          <a:prstGeom prst="ellipse">
            <a:avLst/>
          </a:prstGeom>
          <a:solidFill>
            <a:srgbClr val="288475"/>
          </a:solidFill>
          <a:ln w="12700">
            <a:solidFill>
              <a:srgbClr val="2884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792224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01</a:t>
            </a:r>
            <a:endParaRPr lang="zh-CN" sz="1600" dirty="0"/>
          </a:p>
        </p:txBody>
      </p:sp>
      <p:sp>
        <p:nvSpPr>
          <p:cNvPr id="7" name="Text 5"/>
          <p:cNvSpPr/>
          <p:nvPr/>
        </p:nvSpPr>
        <p:spPr>
          <a:xfrm>
            <a:off x="1444752" y="174650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原始表达优势，需要放回作者与情境</a:t>
            </a:r>
            <a:endParaRPr lang="zh-CN" sz="2500" dirty="0"/>
          </a:p>
        </p:txBody>
      </p:sp>
      <p:sp>
        <p:nvSpPr>
          <p:cNvPr id="8" name="Text 6"/>
          <p:cNvSpPr/>
          <p:nvPr/>
        </p:nvSpPr>
        <p:spPr>
          <a:xfrm>
            <a:off x="1444752" y="238658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D4CB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现有证据不足以支持特定词汇或主题稳定提高点赞。</a:t>
            </a:r>
            <a:endParaRPr lang="zh-CN" sz="1900" dirty="0"/>
          </a:p>
        </p:txBody>
      </p:sp>
      <p:sp>
        <p:nvSpPr>
          <p:cNvPr id="9" name="Shape 7"/>
          <p:cNvSpPr/>
          <p:nvPr/>
        </p:nvSpPr>
        <p:spPr>
          <a:xfrm>
            <a:off x="658368" y="3118104"/>
            <a:ext cx="475488" cy="475488"/>
          </a:xfrm>
          <a:prstGeom prst="ellipse">
            <a:avLst/>
          </a:prstGeom>
          <a:solidFill>
            <a:srgbClr val="288475"/>
          </a:solidFill>
          <a:ln w="12700">
            <a:solidFill>
              <a:srgbClr val="2884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13639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02</a:t>
            </a:r>
            <a:endParaRPr lang="zh-CN" sz="1600" dirty="0"/>
          </a:p>
        </p:txBody>
      </p:sp>
      <p:sp>
        <p:nvSpPr>
          <p:cNvPr id="11" name="Text 9"/>
          <p:cNvSpPr/>
          <p:nvPr/>
        </p:nvSpPr>
        <p:spPr>
          <a:xfrm>
            <a:off x="1444752" y="309067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训练交流与生活表达并存</a:t>
            </a:r>
            <a:endParaRPr lang="zh-CN" sz="2500" dirty="0"/>
          </a:p>
        </p:txBody>
      </p:sp>
      <p:sp>
        <p:nvSpPr>
          <p:cNvPr id="12" name="Text 10"/>
          <p:cNvSpPr/>
          <p:nvPr/>
        </p:nvSpPr>
        <p:spPr>
          <a:xfrm>
            <a:off x="1444752" y="373075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D4CB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部分小主题的高频出现，也反映少数作者的持续记录。</a:t>
            </a:r>
            <a:endParaRPr lang="zh-CN" sz="1900" dirty="0"/>
          </a:p>
        </p:txBody>
      </p:sp>
      <p:sp>
        <p:nvSpPr>
          <p:cNvPr id="13" name="Shape 11"/>
          <p:cNvSpPr/>
          <p:nvPr/>
        </p:nvSpPr>
        <p:spPr>
          <a:xfrm>
            <a:off x="658368" y="4462272"/>
            <a:ext cx="475488" cy="475488"/>
          </a:xfrm>
          <a:prstGeom prst="ellipse">
            <a:avLst/>
          </a:prstGeom>
          <a:solidFill>
            <a:srgbClr val="288475"/>
          </a:solidFill>
          <a:ln w="12700">
            <a:solidFill>
              <a:srgbClr val="2884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448056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03</a:t>
            </a:r>
            <a:endParaRPr lang="zh-CN" sz="1600" dirty="0"/>
          </a:p>
        </p:txBody>
      </p:sp>
      <p:sp>
        <p:nvSpPr>
          <p:cNvPr id="15" name="Text 13"/>
          <p:cNvSpPr/>
          <p:nvPr/>
        </p:nvSpPr>
        <p:spPr>
          <a:xfrm>
            <a:off x="1444752" y="44348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评论往来主要围绕帖主展开</a:t>
            </a:r>
            <a:endParaRPr lang="zh-CN" sz="2500" dirty="0"/>
          </a:p>
        </p:txBody>
      </p:sp>
      <p:sp>
        <p:nvSpPr>
          <p:cNvPr id="16" name="Text 14"/>
          <p:cNvSpPr/>
          <p:nvPr/>
        </p:nvSpPr>
        <p:spPr>
          <a:xfrm>
            <a:off x="1444752" y="50749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900" dirty="0">
                <a:solidFill>
                  <a:srgbClr val="D4CB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理解活跃程度，需要结合次数、人数和回应覆盖。</a:t>
            </a:r>
            <a:endParaRPr lang="zh-CN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Unicode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 Unicode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课程小组项目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Keep社区内容表达与互动反馈</dc:title>
  <dc:subject>基于排版优化版分析报告的章节化中文汇报</dc:subject>
  <dc:creator>Keep 社区研究小组</dc:creator>
  <cp:lastModifiedBy>Keep 社区研究小组</cp:lastModifiedBy>
  <cp:revision>1</cp:revision>
  <dcterms:created xsi:type="dcterms:W3CDTF">2026-10-25T06:08:56Z</dcterms:created>
  <dcterms:modified xsi:type="dcterms:W3CDTF">2026-10-25T06:08:56Z</dcterms:modified>
</cp:coreProperties>
</file>