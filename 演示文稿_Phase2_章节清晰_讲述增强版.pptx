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9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0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读" id="{af21e384-d255-509b-93b3-b62154e2a0ee}">
          <p14:sldIdLst>
            <p14:sldId id="256"/>
            <p14:sldId id="257"/>
          </p14:sldIdLst>
        </p14:section>
        <p14:section name="01 研究设计与样本" id="{65e0f1af-e213-0704-3fd4-f5faf2cbcc9c}">
          <p14:sldIdLst>
            <p14:sldId id="258"/>
            <p14:sldId id="259"/>
            <p14:sldId id="260"/>
            <p14:sldId id="261"/>
          </p14:sldIdLst>
        </p14:section>
        <p14:section name="02 文字表达与点赞" id="{4da491e3-1848-6524-c845-3577a78cfad2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3 主题与作者构成" id="{e83f3687-20e7-494e-7a1f-3892e7fda40d}">
          <p14:sldIdLst>
            <p14:sldId id="269"/>
            <p14:sldId id="270"/>
            <p14:sldId id="271"/>
            <p14:sldId id="272"/>
          </p14:sldIdLst>
        </p14:section>
        <p14:section name="04 评论语言与直接承接" id="{0de0bce0-1e21-39fd-7a36-edc5bbc44716}">
          <p14:sldIdLst>
            <p14:sldId id="273"/>
            <p14:sldId id="274"/>
            <p14:sldId id="275"/>
            <p14:sldId id="276"/>
            <p14:sldId id="277"/>
          </p14:sldIdLst>
        </p14:section>
        <p14:section name="05 评论网络与互动形态" id="{96fa8adc-f2c0-7904-55d8-15d7fae83ae5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06 综合结论与建议" id="{e22276f8-a0ba-2b91-8af6-07061dc45971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附录与参考" id="{a6d6f86b-a253-6484-ca29-4d0b6ccee9f2}">
          <p14:sldIdLst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有可见正文的比例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图片</c:v>
                  </c:pt>
                  <c:pt idx="1">
                    <c:v>视频</c:v>
                  </c:pt>
                  <c:pt idx="2">
                    <c:v>纯文字</c:v>
                  </c:pt>
                  <c:pt idx="3">
                    <c:v>无媒体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</c:v>
                </c:pt>
                <c:pt idx="1">
                  <c:v>89.1</c:v>
                </c:pt>
                <c:pt idx="2">
                  <c:v>100</c:v>
                </c:pt>
                <c:pt idx="3">
                  <c:v>0.1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可见正文覆盖率（%）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平均点赞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图片</c:v>
                  </c:pt>
                  <c:pt idx="1">
                    <c:v>视频</c:v>
                  </c:pt>
                  <c:pt idx="2">
                    <c:v>纯文字</c:v>
                  </c:pt>
                  <c:pt idx="3">
                    <c:v>无媒体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51.03</c:v>
                </c:pt>
                <c:pt idx="1">
                  <c:v>48.05</c:v>
                </c:pt>
                <c:pt idx="2">
                  <c:v>7.94</c:v>
                </c:pt>
                <c:pt idx="3">
                  <c:v>3.91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命中该表达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自律或目标</c:v>
                  </c:pt>
                  <c:pt idx="1">
                    <c:v>社交或互助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63.67</c:v>
                </c:pt>
                <c:pt idx="1">
                  <c:v>89.96</c:v>
                </c:pt>
                <c:pt idx="2">
                  <c:v>57.29</c:v>
                </c:pt>
                <c:pt idx="3">
                  <c:v>111.15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未命中</c:v>
                </c:pt>
              </c:strCache>
            </c:strRef>
          </c:tx>
          <c:spPr>
            <a:solidFill>
              <a:srgbClr val="2884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自律或目标</c:v>
                  </c:pt>
                  <c:pt idx="1">
                    <c:v>社交或互助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34.36</c:v>
                </c:pt>
                <c:pt idx="1">
                  <c:v>36.16</c:v>
                </c:pt>
                <c:pt idx="2">
                  <c:v>35.76</c:v>
                </c:pt>
                <c:pt idx="3">
                  <c:v>36.07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主导主题占比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</c:v>
                </c:pt>
                <c:pt idx="1">
                  <c:v>35.8</c:v>
                </c:pt>
                <c:pt idx="2">
                  <c:v>4.6</c:v>
                </c:pt>
                <c:pt idx="3">
                  <c:v>3.4</c:v>
                </c:pt>
                <c:pt idx="4">
                  <c:v>3.4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b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按帖子统计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靠墙静蹲</c:v>
                  </c:pt>
                  <c:pt idx="1">
                    <c:v>骑行记录</c:v>
                  </c:pt>
                  <c:pt idx="2">
                    <c:v>训练交流</c:v>
                  </c:pt>
                  <c:pt idx="3">
                    <c:v>跑步打卡</c:v>
                  </c:pt>
                  <c:pt idx="4">
                    <c:v>生活问候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3.4</c:v>
                </c:pt>
                <c:pt idx="2">
                  <c:v>52.7</c:v>
                </c:pt>
                <c:pt idx="3">
                  <c:v>4.6</c:v>
                </c:pt>
                <c:pt idx="4">
                  <c:v>35.8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每位作者等权</c:v>
                </c:pt>
              </c:strCache>
            </c:strRef>
          </c:tx>
          <c:spPr>
            <a:solidFill>
              <a:srgbClr val="28847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靠墙静蹲</c:v>
                  </c:pt>
                  <c:pt idx="1">
                    <c:v>骑行记录</c:v>
                  </c:pt>
                  <c:pt idx="2">
                    <c:v>训练交流</c:v>
                  </c:pt>
                  <c:pt idx="3">
                    <c:v>跑步打卡</c:v>
                  </c:pt>
                  <c:pt idx="4">
                    <c:v>生活问候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</c:v>
                </c:pt>
                <c:pt idx="1">
                  <c:v>2.9</c:v>
                </c:pt>
                <c:pt idx="2">
                  <c:v>52.6</c:v>
                </c:pt>
                <c:pt idx="3">
                  <c:v>5.7</c:v>
                </c:pt>
                <c:pt idx="4">
                  <c:v>38.2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b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其他用户（7,192条）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鼓励或赞许词</c:v>
                  </c:pt>
                  <c:pt idx="1">
                    <c:v>感谢词</c:v>
                  </c:pt>
                  <c:pt idx="2">
                    <c:v>问候词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16.9</c:v>
                </c:pt>
                <c:pt idx="1">
                  <c:v>0.6</c:v>
                </c:pt>
                <c:pt idx="2">
                  <c:v>4.4</c:v>
                </c:pt>
                <c:pt idx="3">
                  <c:v>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帖主（4,403条）</c:v>
                </c:pt>
              </c:strCache>
            </c:strRef>
          </c:tx>
          <c:spPr>
            <a:solidFill>
              <a:srgbClr val="28847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鼓励或赞许词</c:v>
                  </c:pt>
                  <c:pt idx="1">
                    <c:v>感谢词</c:v>
                  </c:pt>
                  <c:pt idx="2">
                    <c:v>问候词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</c:v>
                </c:pt>
                <c:pt idx="1">
                  <c:v>7.9</c:v>
                </c:pt>
                <c:pt idx="2">
                  <c:v>5.4</c:v>
                </c:pt>
                <c:pt idx="3">
                  <c:v>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直接回复覆盖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鼓励词命中组</c:v>
                  </c:pt>
                  <c:pt idx="1">
                    <c:v>未命中组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43.5</c:v>
                </c:pt>
                <c:pt idx="1">
                  <c:v>56.3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感谢表达占比</c:v>
                </c:pt>
              </c:strCache>
            </c:strRef>
          </c:tx>
          <c:spPr>
            <a:solidFill>
              <a:srgbClr val="28847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鼓励词命中组</c:v>
                  </c:pt>
                  <c:pt idx="1">
                    <c:v>未命中组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26.7</c:v>
                </c:pt>
                <c:pt idx="1">
                  <c:v>6.4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明确回复的角色份额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帖主 → 其他用户</c:v>
                  </c:pt>
                  <c:pt idx="1">
                    <c:v>其他用户 → 帖主</c:v>
                  </c:pt>
                  <c:pt idx="2">
                    <c:v>其他用户 → 其他用户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</c:v>
                </c:pt>
                <c:pt idx="1">
                  <c:v>9.1</c:v>
                </c:pt>
                <c:pt idx="2">
                  <c:v>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b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互惠率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全部已采集互动</c:v>
                  </c:pt>
                  <c:pt idx="1">
                    <c:v>仅明确回复</c:v>
                  </c:pt>
                  <c:pt idx="2">
                    <c:v>发帖后7天内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49.6</c:v>
                </c:pt>
                <c:pt idx="1">
                  <c:v>29.9</c:v>
                </c:pt>
                <c:pt idx="2">
                  <c:v>74.1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研究Keep社区中的内容表达与互动反馈。我们从100位作者的9,532条帖子出发，分析文字表达与点赞之间的关联；再利用11,595条去重评论，观察人们说了什么、谁在回应谁。报告最主要的发现有两条：第一，原始高赞表达在控制作者和帖子情境后，原有优势会发生明显变化。第二，评论区的往来主要围绕帖主展开，而相近的评论量可能对应很不一样的参与人数。接下来沿这两条主线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版汇报分为六章，对应报告的九个正文章节。第一章交代研究设计与样本，第二章分析具体文字表达与点赞，第三章把视角扩大到主题和作者构成。第四章关注评论的语言与直接回复，第五章把这些发言放进用户关系网络。最后一章整合两条分析线，提出与证据相符的建议、局限和后续研究设计。这样的顺序也对应我们的分析过程：先核清数据，再比较内容，最后解释互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进入第1章，研究设计与样本。这一章要回答的是：这些帖子与评论，允许我们比较什么？先核清正文、评论和反馈的记录口径，再决定比较范围；作者与媒体差异是后续分析的起点。我们会依次完成明确三个研究问题、核查数据覆盖与口径、观察反馈和内容形式，把分析过程和结论联系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先从数据核查确定分析范围。帖子表共有9,532条记录，来自100位作者，帖子ID唯一。评论表原有13,511行，按评论ID删除1,916行无字段冲突的重复记录后，剩下11,595条。无可用正文的帖子仍然保留，模型额外记录正文是否可用。另一个关键问题是，8,286帖的点赞数大于记录浏览数，说明字段统计口径存在差异，因此不计算点赞率。三个研究问题分别是：样本如何分布，表达与点赞怎样关联，以及评论怎样组织。
过渡：先看文字与评论实际覆盖到了哪些帖子。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展示不同内容形式的正文覆盖率。图片和视频帖大多有可见正文，纯文字帖全部有正文，无媒体帖则几乎没有。要区分两个数字：5,548帖有可见正文，但删除URL、表情标记等内容后，仍然非空的正文是5,414条。主题模型在此基础上还要求至少三个有效词，因此样本会继续缩小。评论则只覆盖1,323帖，其余帖子的评论状态未知。正文缺失和评论缺失都具有具体的记录边界，这决定了后续结论能对应什么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样本中每帖平均获得37.05个赞，中位数只有25，最高一条达到5,126，零点赞占3.8%。因此，均值会受到少量高反馈帖子的影响。同时，媒体形式之间的反馈水平相差很大：图片和视频帖平均约为51和48个赞，纯文字和无媒体帖约为8和4个。作者的发帖量也不均衡，最多一位作者发布783帖。在这样的样本里，直接比较某种措辞，容易同时比较到媒体、作者以及内容构成的差异，这就是后面逐步控制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进入第2章，文字表达与点赞。这一章要回答的是：原始高赞的表达，在同一作者内还成立吗？积极表达从原始均值优势转为调整后负向；方向值得解释，整体证据仍不足以支持稳定的关键词效果。我们会依次完成把文字转成统一变量、逐步控制作者与日期、核对主结果和敏感性，把分析过程和结论联系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核心文本变量有五项。正文长度使用清理后字符数的对数变换；其余四项按照固定词表或符号规则，命中任一项就记为一，多次出现也不累加。词表维度可以同时命中，例如一条帖子既有目标词，也有积极表达。作者内比较要求同一位作者既有命中帖，也有未命中帖，因此问号只有32位作者能提供这样的比较。这里测量的是可以复查的字面线索，并不等于真实情绪、社会支持或自律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先看原始平均点赞。图中紫色是命中某类表达的帖子，绿色是未命中帖。四类表达都呈现原始优势，其中积极表达是57.29对35.76，自律目标是63.67对34.36，社交互助是89.96对36.16，问号是111.15对36.07。这个现象需要解释，但它还没有让帖子变得可比。可能某些本来受众更大的作者更常使用这些词，也可能词语更多出现在图片帖或特定内容中。因此下一步要改变比较条件，观察调整后的关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依次估计三个模型。M1控制内容形式、业务类型、发帖时段和作者属性。M2加入作者固定效应，扣除作者之间不随帖子变化的差别，解释度由0.563提高到0.685。M3进一步加入北京时间日期固定效应，解释度为0.688，作为主模型。三个模型的因变量都是ln(1加点赞数)。推断时按作者聚类标准误，并对五项核心文本系数做BH校正。模型仍缺少实际曝光、粉丝数和完整图像内容等信息，所以结果属于调整后的关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模型中最值得解释的是积极表达的方向反转。它的系数为负0.086，原始95%置信区间没有跨零；换算后，条件下的1加点赞数相对水平约低8.2%，这里是对数模型对应的条件几何均值比较。统计判断必须同时交代多重检验：原始p值0.016，BH校正后的q值为0.079，超过预设5%标准。其余四项的原始区间都跨零。五项文本变量整体只增加0.065个百分点的解释度，联合检验p值0.130。因此，我们保留这个方向变化作为分析线索，但不把它解释为确定的词语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两种比较放在一起。左边的57.29对35.76，比较的是两个帖子组的平均点赞，其中混合着不同作者和不同发布情境。右边的负8.2%，则是在扣除作者、日期等已记录条件后得到的关联，它与左边并不是同一个估计对象。某些作者可能平时反馈就较高，同时也经常使用积极词；同一个作者在生活问候和训练记录里使用这些词时，反馈也可能不同。因此，反转把我们带回到作者与内容情境。它没有证明积极表达降低点赞，也没有确认是哪一类语境造成反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敏感性检验从几个角度检查积极表达的负向关联。只保留可见正文，剔除点赞最高1%，或者让每位作者贡献相同总权重，系数都保持负向。逐一剔除100位作者后，100次结果也都为负，说明结果没有由某一位作者单独驱动。不过，换成直接处理原始点赞计数的PPML模型，虽然点估计仍为负，区间却跨过零。不同模型对应不同反馈尺度，所以我们可以说方向较一致，但幅度和精度会变化，也不能据此建议创作者避免积极表达。
过渡：词典之外，接着看整篇正文在谈什么。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进入第3章，主题与作者构成。这一章要回答的是：主题出现很多，是普遍方向还是少数人的持续记录？训练交流与生活表达在有效正文中并存；按帖统计和作者等权，可以区分内容产量与作者平均构成。我们会依次完成由用词组合提取主题、比较两种内容统计权重、检查主题与反馈的关联，把分析过程和结论联系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典只能识别预先指定的表达，所以我们进一步用主题模型概括整篇正文。首先筛选至少有三个有效词的2,478条正文，再排除8条成分贡献接近零的文本，最终有2,470帖、86位作者。TF-IDF表示用词重要性，NMF提取五种用词组合，主题名称根据关键词和正文确定，不参考点赞。按权重最大的主题归类，训练交流占52.7%，生活表达占35.8%，其他三类具体记录占比较小。这说明有效正文既有训练内容，也有日常生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样的主题分配，可以回答两种问题。按帖子统计回答内容产量由什么构成，高产作者会被重复计入；作者等权则先计算每位作者内部的主题比例，再对86位作者取平均。靠墙静蹲在按帖统计时占3.4%，等权后只剩0.6%，而该主题85帖中有91.8%来自同一位最大贡献作者。相比之下，训练交流与生活表达的主要份额仍然保留。因此，大主题并存是较稳定的内容格局，小主题的规模则更依赖少数作者反复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题占比说明帖子在写什么，主题回归则进一步比较调整后的反馈。回归在相同的2,470帖子样本中保留词典变量和控制项，使用连续主题权重，并以训练交流为基准。生活感悟与问候的系数为负0.144，原始区间没有跨零，但BH校正后q值为0.107。四个主题权重整体的联合检验p值为0.166，也没有达到预设标准。因此，生活表达是重要内容组成，与它是否具有稳定反馈优势，需要分别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进入第4章，评论语言与直接承接。这一章要回答的是：谁在表达赞许，哪些留言实际得到承接？其他用户更常赞许，帖主更常感谢；配对后发现，回应的语言内容与观测到的回应覆盖可以不同。我们会依次完成结合词频与发言人数、按所在帖子区分角色、配对根评论与直接回复，把分析过程和结论联系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论整体非常简短，清理后字符数中位数为6，四分之三的评论不超过10个字，11.8%只留下标记或符号。此外，3,362条评论具有重复的标准化文本。这样的分布提示我们，短句本身就是常见交流方式。加油出现在612条评论中，覆盖431位用户；谢谢出现在359条评论中，却只覆盖53位用户。前者的参与面更广，后者更多由较少用户反复使用。因此，只看词频还不够，需要同时看去重发言人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把每条评论按是不是该帖作者分成两组。其他用户有7,192条发言，帖主有4,403条。两类表达的差异非常清楚：鼓励或赞许词在其他用户中占16.9%，帖主只有4.5%；感谢词则反过来，帖主7.9%，其他用户0.6%。这与读者留言赞许、帖主回话感谢的交流方式相容。不过，角色分组仍是总体分布，还不能证明某一句赞许后面就接了一句感谢，所以我们继续进行直接配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接配对从6,609条其他用户发给帖主的根评论出发。我们要求回复由帖主发出，属于同一帖子，回复字段明确指向该条根评论及根评论作者，父评论字段也匹配，并且发生在根评论之后七天以内。每条根评论只保留最早观测到的符合条件的回复。最终3,568条根评论找到了直接回复。命中鼓励词的1,180条根评论中，有513条得到这样的回复，其中137条最早回复含感谢词；另一组对应5,429、3,055和195条。下面把这些数值换成两种不同分母的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最需要分清分母。左图以各组全部根评论为分母，观察到直接回复的比例分别是43.5%和56.3%，鼓励组覆盖较低。右图只以已经观察到直接回复的记录为分母，最早回复含感谢词的比例是26.7%和6.4%，鼓励组较高。所以，两件事可以同时成立：有回复时，感谢更常见；但从全部根评论来看，观测到直接回复的覆盖更低。如果把含感谢的最早回复除以各组全部根评论，比例又变成11.6%和3.6%。这些都是已采集样本的分布差异，不能推断鼓励词造成回复减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进入第5章，评论网络与互动形态。这一章要回答的是：评论向谁集中，相似评论量由多少人组成？大多数账号能间接相连，明确回话却主要由帖主承担；接收次数、不同发送者人数和双向关系需要分开衡量。我们会依次完成把事件转成有向加权边、观察回话角色与接收集中、比较人数、时间和互惠，把分析过程和结论联系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网络把每条发言重新放回其指向的对象。根评论按所属帖子指向帖主，明确回复指向字段记录的被回复用户，同一发送者向同一接收者的多次事件合并为一条边，次数就是边权。排除84次自我互动后，11,511次事件构成4,069条有向边，涉及2,932个账号。图中金色是样本作者，蓝色是其他参与者，大小按接收量缩放，位置来自网络布局。图中没有画箭头，但统计仍然保留方向。2,932个账号同时包含发送者和接收者，因此不同于文本统计的2,910位发言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网络中94.4%的账号位于最大的弱连通部分，也就是忽略方向后，大多数账号可以通过已有关系串起来。但密度只有0.0473%，真正直接发生连接的账号配对非常少。再看明确回复的角色，就能理解这种结构：4,902次回复中，帖主回复其他用户4,361次，占89%；其他用户回复帖主444次，占9.1%；其他用户彼此回复97次，占2%。因此，间接连通的范围很广，并不意味着参与者之间普遍进行横向对话，明确回话主要由帖主承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收量集中在部分账号上，前十位接收了54%的非自我互动事件。但只看接收量，会把很不一样的参与形态混在一起。U1528收到1,378次互动，只有53位发送者；U0948收到1,275次，发送者却达到1,091位。前者更多体现已有发送者重复发言，后者覆盖面更广。非样本帖主U0112也收到180次互动，却只来自4位发送者。因此，衡量账号位置时要同时报告接收事件量和不同发送者人数，分别看重复往来和参与广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惠率衡量的是有向连接中，有多少同时存在反方向连接，不按重复次数加权。全量网络的互惠率为49.6%，仅保留明确回复时降至29.9%。这可以结合留言与回话理解：用户的根评论指向帖主，帖主回复指向用户，两者组成双向关系；移除根评论后，部分关系只剩帖主发出的回复。首周网络的互惠率为74.1%，前十接收占比48.3%，都与全量不同。这里比较的是窗口内关系构成，不能据此判断同一关系随时间变差，也不能将互惠率理解成留言回复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发生时间看，64.5%的已采集评论在发帖后24小时内出现，82.2%在七天以内，评论距发帖的中位间隔为11.3小时。这说明评论集中在发帖后的早期。线程层面，6,609个根评论线程中有57%观察到帖主参与，在这些已参与线程中，最早回复距根评论的中位间隔是2.05小时。这个57%不同于前面的直接回复覆盖：线程参与允许在留言串中回复其他位置，而直接配对要求明确回复根评论本身，并限定根评论后七天。时间窗口和事件对象需要同时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进入第6章，综合结论与建议。这一章要回答的是：怎样把内容与互动发现转成可靠的判断？内容解释要结合作者和情境，互动评价要结合次数、人数与承接；建议应对应已有证据，并由后续设计继续检验。我们会依次完成整合两条证据主线、形成与证据对应的建议、交代局限和后续实验，把分析过程和结论联系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把内容分析放在一起看。第一，积极表达的原始点赞较高，但在调整作者和已记录情境后转为负向，这说明不同作者怎样写，与同一作者何时这样写，是两个层次的问题。第二，靠墙静蹲主题在作者等权后明显缩小，说明主题频次也受到高产作者影响。第三，训练交流与生活表达的主要份额在等权后仍然保留，所以两者并存是对有效正文较稳定的概括。综合来看，理解内容差异，需要把表达本身、作者构成以及发帖情境联系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论部分也有三种可以分开的表现。第一是事件量，也就是累计发生多少次互动；第二是参与广度，也就是有多少不同用户参与；第三是回应覆盖，也就是哪些具体留言被接住。相近接收量的两个账号，对应53人与1,091位发送者，说明声量与广度并不相同。鼓励留言在已回复内容中更常看到感谢，但总体直接回复覆盖较低，又说明回应内容与覆盖也可以分离。结合语言角色和网络方向，评论区的活跃主要表现为读者向帖主留言，帖主持续承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分为创作者和平台两侧。对创作者，现有结果不支持依赖固定关键词模板，可以把精力放回内容投入、配图视频和持续记录；评论集中在发帖早期，也可以尽早关注留言。需要说明，媒体形式与点赞的差异并没有识别配图的因果效果，回复是否促进后续互动也还未验证。对平台，可以关注长期缺少回应的用户，尝试自愿互助，同时在评价里加入独立参与人数和承接覆盖。具体表达提示应通过实验评估，避免把当前关联直接当作有效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有五项边界。第一，样本仅来自100位作者，抽样机制不明，不能外推到全平台。第二，文字记录没有覆盖所有表达媒介。第三，缺少实际曝光、粉丝数以及统一采集时点，所以作者差异具体由什么组成，现有数据无法回答。第四，评论仍有缺口，例如781条明确回复引用的评论不在表内，因而没有观察到回复不一定代表实际未回复。第五，点赞和评论只是平台内反馈，不能替代健康改善、运动坚持或留存。当前较可靠的解释范围，是样本内的关联与互动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未来获得平台实验权限，可以把作者随机分成三组，分别提供运动过程记录提示、面向伙伴的问题提示，以及常规发布对照。作者作为随机化单位，有助于减少同一作者的帖子跨组造成的干扰。各组统一观察发帖后七天，记录实际曝光、独立互动人数、后续发布行为和回复质量。这样才能从当前的观察性关联向因果效果推进。样本量不预先随意给一个数字，而应先做试点，根据方差和最小有意义差异计算。这个设计目前只是后续方案，尚未实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归纳三点。第一，文字表达在原始均值中的优势，需要结合作者和发布情境理解；现有证据不足以支持特定词汇或主题能够稳定提高点赞。第二，训练交流与生活表达并存，是有效正文中较稳定的内容格局，小主题的反复出现则可能受到少数高产作者影响。第三，评论主要围绕帖主展开，评价活跃不能只看评论总量，还应分别观察参与人数、重复往来和回应覆盖。这也是本研究从内容分析与评论网络中得到的共同认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供问答时核对口径。主回归与主题模型的样本不同，评论文本与网络事件的分母不同，发言者和有边账号的范围也不同。七天窗口有两个起点：网络和评论时序从发帖算，直接配对从根评论算。线程内有帖主参与，条件比直接配对宽，因此57%的线程参与率与3,568除以6,609的直接配对比例并不矛盾。统计结果还需区分单项原始区间和BH多重比较校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演示稿使用排版优化版分析报告中已有的统计结果和参考文献，没有重新拟合模型或新增实证结论。这里保留研究背景、文本分析、主题模型、聚类推断、多重检验、计数模型与网络分析的方法依据。演示章节与原报告的映射也列在页下方，方便问答和回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课程小组项目 · 章节化讲述版 · 基于排版优化版报告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BAAE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COMMUNITY</a:t>
            </a:r>
            <a:endParaRPr lang="zh-CN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8138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内容怎样获得反馈，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评论怎样形成往来</a:t>
            </a:r>
            <a:endParaRPr lang="zh-CN" sz="3500" dirty="0"/>
          </a:p>
        </p:txBody>
      </p:sp>
      <p:sp>
        <p:nvSpPr>
          <p:cNvPr id="6" name="Text 4"/>
          <p:cNvSpPr/>
          <p:nvPr/>
        </p:nvSpPr>
        <p:spPr>
          <a:xfrm>
            <a:off x="630936" y="320954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dirty="0">
                <a:solidFill>
                  <a:srgbClr val="E5DD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Keep社区内容表达与互动反馈分析</a:t>
            </a:r>
            <a:endParaRPr lang="zh-CN" sz="2500" dirty="0"/>
          </a:p>
        </p:txBody>
      </p:sp>
      <p:sp>
        <p:nvSpPr>
          <p:cNvPr id="7" name="Text 5"/>
          <p:cNvSpPr/>
          <p:nvPr/>
        </p:nvSpPr>
        <p:spPr>
          <a:xfrm>
            <a:off x="630936" y="4005072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CEC4D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从9,532条帖子和11,595条去重评论出发，</a:t>
            </a:r>
            <a:endParaRPr lang="zh-CN" sz="1900" dirty="0"/>
          </a:p>
          <a:p>
            <a:pPr algn="l" indent="0" marL="0">
              <a:buNone/>
            </a:pPr>
            <a:r>
              <a:rPr lang="zh-CN" altLang="en-US" sz="1900" dirty="0">
                <a:solidFill>
                  <a:srgbClr val="CEC4D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结合文字编码、固定效应回归、主题与评论网络分析。</a:t>
            </a:r>
            <a:endParaRPr lang="zh-CN" sz="1900" dirty="0"/>
          </a:p>
        </p:txBody>
      </p:sp>
      <p:sp>
        <p:nvSpPr>
          <p:cNvPr id="8" name="Text 6"/>
          <p:cNvSpPr/>
          <p:nvPr/>
        </p:nvSpPr>
        <p:spPr>
          <a:xfrm>
            <a:off x="630936" y="5532120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核心主线：内容差异要结合作者，评论活跃要拆开次数、人数与回应。</a:t>
            </a:r>
            <a:endParaRPr lang="zh-CN" sz="1800" dirty="0"/>
          </a:p>
        </p:txBody>
      </p:sp>
      <p:sp>
        <p:nvSpPr>
          <p:cNvPr id="9" name="Shape 7"/>
          <p:cNvSpPr/>
          <p:nvPr/>
        </p:nvSpPr>
        <p:spPr>
          <a:xfrm>
            <a:off x="8879738" y="2465222"/>
            <a:ext cx="1068934" cy="876910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948672" y="2510028"/>
            <a:ext cx="800100" cy="832104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052560" y="3342132"/>
            <a:ext cx="896112" cy="768096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9948672" y="3342132"/>
            <a:ext cx="921715" cy="761695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948672" y="3262122"/>
            <a:ext cx="1072134" cy="80010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884664" y="3342132"/>
            <a:ext cx="64008" cy="1088136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3086100"/>
            <a:ext cx="512064" cy="512064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2318004"/>
            <a:ext cx="294437" cy="294437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88752" y="2350008"/>
            <a:ext cx="320040" cy="320040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0536" y="3918204"/>
            <a:ext cx="384048" cy="384048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16768" y="3950208"/>
            <a:ext cx="307238" cy="307238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08792" y="3150108"/>
            <a:ext cx="224028" cy="224028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56648" y="4302252"/>
            <a:ext cx="256032" cy="256032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汇报导读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汇报结构：六章串起分析过程与结论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汇报六章分别映射源报告第1—9章；附录保留统计口径和参考文献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66160" cy="1581912"/>
          </a:xfrm>
          <a:prstGeom prst="roundRect">
            <a:avLst>
              <a:gd name="adj" fmla="val 6936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865376"/>
            <a:ext cx="393192" cy="39319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83664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zh-CN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90195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研究设计与样本</a:t>
            </a:r>
            <a:endParaRPr lang="zh-CN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2441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先说明数据能比较什么</a:t>
            </a:r>
            <a:endParaRPr lang="zh-CN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报告第1—3章</a:t>
            </a:r>
            <a:endParaRPr lang="zh-CN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691640"/>
            <a:ext cx="3566160" cy="1581912"/>
          </a:xfrm>
          <a:prstGeom prst="roundRect">
            <a:avLst>
              <a:gd name="adj" fmla="val 6936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865376"/>
            <a:ext cx="393192" cy="39319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83664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zh-CN" sz="1300" dirty="0"/>
          </a:p>
        </p:txBody>
      </p:sp>
      <p:sp>
        <p:nvSpPr>
          <p:cNvPr id="15" name="Text 13"/>
          <p:cNvSpPr/>
          <p:nvPr/>
        </p:nvSpPr>
        <p:spPr>
          <a:xfrm>
            <a:off x="5020056" y="190195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</a:t>
            </a:r>
            <a:endParaRPr lang="zh-CN" sz="1900" dirty="0"/>
          </a:p>
        </p:txBody>
      </p:sp>
      <p:sp>
        <p:nvSpPr>
          <p:cNvPr id="16" name="Text 14"/>
          <p:cNvSpPr/>
          <p:nvPr/>
        </p:nvSpPr>
        <p:spPr>
          <a:xfrm>
            <a:off x="4498848" y="2441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从原始差异走向作者内比较</a:t>
            </a:r>
            <a:endParaRPr lang="zh-CN" sz="1600" dirty="0"/>
          </a:p>
        </p:txBody>
      </p:sp>
      <p:sp>
        <p:nvSpPr>
          <p:cNvPr id="17" name="Text 15"/>
          <p:cNvSpPr/>
          <p:nvPr/>
        </p:nvSpPr>
        <p:spPr>
          <a:xfrm>
            <a:off x="4498848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报告第4章</a:t>
            </a:r>
            <a:endParaRPr lang="zh-CN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1691640"/>
            <a:ext cx="3566160" cy="1581912"/>
          </a:xfrm>
          <a:prstGeom prst="roundRect">
            <a:avLst>
              <a:gd name="adj" fmla="val 6936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865376"/>
            <a:ext cx="393192" cy="39319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883664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zh-CN" sz="1300" dirty="0"/>
          </a:p>
        </p:txBody>
      </p:sp>
      <p:sp>
        <p:nvSpPr>
          <p:cNvPr id="21" name="Text 19"/>
          <p:cNvSpPr/>
          <p:nvPr/>
        </p:nvSpPr>
        <p:spPr>
          <a:xfrm>
            <a:off x="8833104" y="190195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主题与作者构成</a:t>
            </a:r>
            <a:endParaRPr lang="zh-CN" sz="1900" dirty="0"/>
          </a:p>
        </p:txBody>
      </p:sp>
      <p:sp>
        <p:nvSpPr>
          <p:cNvPr id="22" name="Text 20"/>
          <p:cNvSpPr/>
          <p:nvPr/>
        </p:nvSpPr>
        <p:spPr>
          <a:xfrm>
            <a:off x="8311896" y="2441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区分内容产量与作者平均构成</a:t>
            </a:r>
            <a:endParaRPr lang="zh-CN" sz="1600" dirty="0"/>
          </a:p>
        </p:txBody>
      </p:sp>
      <p:sp>
        <p:nvSpPr>
          <p:cNvPr id="23" name="Text 21"/>
          <p:cNvSpPr/>
          <p:nvPr/>
        </p:nvSpPr>
        <p:spPr>
          <a:xfrm>
            <a:off x="8311896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报告第5章</a:t>
            </a:r>
            <a:endParaRPr lang="zh-CN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547872"/>
            <a:ext cx="3566160" cy="1581912"/>
          </a:xfrm>
          <a:prstGeom prst="roundRect">
            <a:avLst>
              <a:gd name="adj" fmla="val 6936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3721608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73989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zh-CN" sz="1300" dirty="0"/>
          </a:p>
        </p:txBody>
      </p:sp>
      <p:sp>
        <p:nvSpPr>
          <p:cNvPr id="27" name="Text 25"/>
          <p:cNvSpPr/>
          <p:nvPr/>
        </p:nvSpPr>
        <p:spPr>
          <a:xfrm>
            <a:off x="1207008" y="375818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评论语言与直接承接</a:t>
            </a:r>
            <a:endParaRPr lang="zh-CN" sz="1900" dirty="0"/>
          </a:p>
        </p:txBody>
      </p:sp>
      <p:sp>
        <p:nvSpPr>
          <p:cNvPr id="28" name="Text 26"/>
          <p:cNvSpPr/>
          <p:nvPr/>
        </p:nvSpPr>
        <p:spPr>
          <a:xfrm>
            <a:off x="685800" y="42976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从语言分工走向实际回复配对</a:t>
            </a:r>
            <a:endParaRPr lang="zh-CN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4800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报告第6章</a:t>
            </a:r>
            <a:endParaRPr lang="zh-CN" sz="1100" dirty="0"/>
          </a:p>
        </p:txBody>
      </p:sp>
      <p:sp>
        <p:nvSpPr>
          <p:cNvPr id="30" name="Shape 28"/>
          <p:cNvSpPr/>
          <p:nvPr/>
        </p:nvSpPr>
        <p:spPr>
          <a:xfrm>
            <a:off x="4315968" y="3547872"/>
            <a:ext cx="3566160" cy="1581912"/>
          </a:xfrm>
          <a:prstGeom prst="roundRect">
            <a:avLst>
              <a:gd name="adj" fmla="val 6936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3721608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73989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zh-CN" sz="1300" dirty="0"/>
          </a:p>
        </p:txBody>
      </p:sp>
      <p:sp>
        <p:nvSpPr>
          <p:cNvPr id="33" name="Text 31"/>
          <p:cNvSpPr/>
          <p:nvPr/>
        </p:nvSpPr>
        <p:spPr>
          <a:xfrm>
            <a:off x="5020056" y="375818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评论网络与互动形态</a:t>
            </a:r>
            <a:endParaRPr lang="zh-CN" sz="1900" dirty="0"/>
          </a:p>
        </p:txBody>
      </p:sp>
      <p:sp>
        <p:nvSpPr>
          <p:cNvPr id="34" name="Text 32"/>
          <p:cNvSpPr/>
          <p:nvPr/>
        </p:nvSpPr>
        <p:spPr>
          <a:xfrm>
            <a:off x="4498848" y="42976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分清谁发言、向谁发、往来多少次</a:t>
            </a:r>
            <a:endParaRPr lang="zh-CN" sz="1600" dirty="0"/>
          </a:p>
        </p:txBody>
      </p:sp>
      <p:sp>
        <p:nvSpPr>
          <p:cNvPr id="35" name="Text 33"/>
          <p:cNvSpPr/>
          <p:nvPr/>
        </p:nvSpPr>
        <p:spPr>
          <a:xfrm>
            <a:off x="4498848" y="4800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报告第7章</a:t>
            </a:r>
            <a:endParaRPr lang="zh-CN" sz="1100" dirty="0"/>
          </a:p>
        </p:txBody>
      </p:sp>
      <p:sp>
        <p:nvSpPr>
          <p:cNvPr id="36" name="Shape 34"/>
          <p:cNvSpPr/>
          <p:nvPr/>
        </p:nvSpPr>
        <p:spPr>
          <a:xfrm>
            <a:off x="8129016" y="3547872"/>
            <a:ext cx="3566160" cy="1581912"/>
          </a:xfrm>
          <a:prstGeom prst="roundRect">
            <a:avLst>
              <a:gd name="adj" fmla="val 6936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3608" y="3721608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93608" y="373989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</a:t>
            </a:r>
            <a:endParaRPr lang="zh-CN" sz="1300" dirty="0"/>
          </a:p>
        </p:txBody>
      </p:sp>
      <p:sp>
        <p:nvSpPr>
          <p:cNvPr id="39" name="Text 37"/>
          <p:cNvSpPr/>
          <p:nvPr/>
        </p:nvSpPr>
        <p:spPr>
          <a:xfrm>
            <a:off x="8833104" y="375818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综合结论与建议</a:t>
            </a:r>
            <a:endParaRPr lang="zh-CN" sz="1900" dirty="0"/>
          </a:p>
        </p:txBody>
      </p:sp>
      <p:sp>
        <p:nvSpPr>
          <p:cNvPr id="40" name="Text 38"/>
          <p:cNvSpPr/>
          <p:nvPr/>
        </p:nvSpPr>
        <p:spPr>
          <a:xfrm>
            <a:off x="8311896" y="42976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把证据落实到判断与后续设计</a:t>
            </a:r>
            <a:endParaRPr lang="zh-CN" sz="1600" dirty="0"/>
          </a:p>
        </p:txBody>
      </p:sp>
      <p:sp>
        <p:nvSpPr>
          <p:cNvPr id="41" name="Text 39"/>
          <p:cNvSpPr/>
          <p:nvPr/>
        </p:nvSpPr>
        <p:spPr>
          <a:xfrm>
            <a:off x="8311896" y="4800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报告第8—9章</a:t>
            </a:r>
            <a:endParaRPr lang="zh-CN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章节导览 · 对应报告第1—3章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5BA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CHAPTER  01</a:t>
            </a:r>
            <a:endParaRPr lang="zh-CN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6070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研究设计与样本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30936" y="2139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本章问题</a:t>
            </a:r>
            <a:endParaRPr lang="zh-CN" sz="1500" dirty="0"/>
          </a:p>
        </p:txBody>
      </p:sp>
      <p:sp>
        <p:nvSpPr>
          <p:cNvPr id="7" name="Text 5"/>
          <p:cNvSpPr/>
          <p:nvPr/>
        </p:nvSpPr>
        <p:spPr>
          <a:xfrm>
            <a:off x="630936" y="2578608"/>
            <a:ext cx="7498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这些帖子与评论，允许我们比较什么？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30936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主要发现</a:t>
            </a:r>
            <a:endParaRPr lang="zh-CN" sz="1500" dirty="0"/>
          </a:p>
        </p:txBody>
      </p:sp>
      <p:sp>
        <p:nvSpPr>
          <p:cNvPr id="9" name="Text 7"/>
          <p:cNvSpPr/>
          <p:nvPr/>
        </p:nvSpPr>
        <p:spPr>
          <a:xfrm>
            <a:off x="630936" y="400507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先核清正文、评论和反馈的记录口径，再决定比较范围；作者与媒体差异是后续分析的起点。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8732520" y="231343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33172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9281160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明确三个研究问题</a:t>
            </a:r>
            <a:endParaRPr lang="zh-CN" sz="1600" dirty="0"/>
          </a:p>
        </p:txBody>
      </p:sp>
      <p:sp>
        <p:nvSpPr>
          <p:cNvPr id="13" name="Shape 11"/>
          <p:cNvSpPr/>
          <p:nvPr/>
        </p:nvSpPr>
        <p:spPr>
          <a:xfrm>
            <a:off x="8732520" y="327355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329184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928116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核查数据覆盖与口径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8732520" y="423367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425196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9281160" y="4261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观察反馈和内容形式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01  研究设计与样本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数据核查先决定能回答什么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§1.2、§2.1 · PDF第3—4页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zh-CN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303520"/>
                <a:gridCol w="4782312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核查对象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记录与处理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分析含义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帖子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9,532帖，100位作者；帖子ID唯一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保留全部帖子做主回归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评论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13,511行 → 11,595条；去重1,916行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只删相同ID重复，保留不同ID短句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3,984帖无可用正文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文本计数设0，另加正文可用标记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反馈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8,286帖点赞数大于记录浏览数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使用累计点赞，不计算点赞率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时间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实际发帖2020年11—12月（UTC）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发帖日期和时段转北京时间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研究范围</a:t>
            </a:r>
            <a:endParaRPr lang="zh-CN" sz="1400" dirty="0"/>
          </a:p>
        </p:txBody>
      </p:sp>
      <p:sp>
        <p:nvSpPr>
          <p:cNvPr id="9" name="Text 6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RQ1看分布，RQ2看表达与点赞关联，RQ3看评论语言和关系。</a:t>
            </a:r>
            <a:endParaRPr lang="zh-CN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01  研究设计与样本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正文覆盖和评论覆盖，各有明确边界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§3.1、附录A.3 · PDF第6、24页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28800"/>
          <a:ext cx="6629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正文有两层口径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5,548帖有可见正文，清理后仍非空为5,414帖；主题分析还会进一步筛选有效词。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评论覆盖也不完整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11,595条去重评论分布在1,323帖下，其余帖子的评论情况记为覆盖未知。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比较范围因此不同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主回归保留全部帖子；主题分析针对有效正文；评论分析描述已采集到的互动。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解释前提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正文记录没有覆盖图片内文字与视频语音，未采到评论也不等于没有评论。</a:t>
            </a:r>
            <a:endParaRPr lang="zh-C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01  研究设计与样本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点赞长尾与媒体差异，构成比较的背景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§3.2、附录A.5 · PDF第7、25页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19072"/>
          <a:ext cx="6629400" cy="3456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反馈分布明显长尾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平均点赞37.05，中位数25，最高5,126；少数高反馈帖子把平均水平向上拉。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不同形式的基准不同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图片和视频帖的平均点赞约为51和48，纯文字及无媒体帖则约为8和4。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高产作者也更有份量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作者发帖数中位数66帖，最多783帖；按帖统计会多次计入高产作者的内容习惯。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比较起点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分析措辞之前，需要把媒体形式、作者和已记录情境一起纳入比较。</a:t>
            </a:r>
            <a:endParaRPr lang="zh-CN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章节导览 · 对应报告第4章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5BA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CHAPTER  02</a:t>
            </a:r>
            <a:endParaRPr lang="zh-CN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6070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30936" y="2139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本章问题</a:t>
            </a:r>
            <a:endParaRPr lang="zh-CN" sz="1500" dirty="0"/>
          </a:p>
        </p:txBody>
      </p:sp>
      <p:sp>
        <p:nvSpPr>
          <p:cNvPr id="7" name="Text 5"/>
          <p:cNvSpPr/>
          <p:nvPr/>
        </p:nvSpPr>
        <p:spPr>
          <a:xfrm>
            <a:off x="630936" y="2578608"/>
            <a:ext cx="7498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原始高赞的表达，在同一作者内还成立吗？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30936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主要发现</a:t>
            </a:r>
            <a:endParaRPr lang="zh-CN" sz="1500" dirty="0"/>
          </a:p>
        </p:txBody>
      </p:sp>
      <p:sp>
        <p:nvSpPr>
          <p:cNvPr id="9" name="Text 7"/>
          <p:cNvSpPr/>
          <p:nvPr/>
        </p:nvSpPr>
        <p:spPr>
          <a:xfrm>
            <a:off x="630936" y="400507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积极表达从原始均值优势转为调整后负向；方向值得解释，整体证据仍不足以支持稳定的关键词效果。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8732520" y="231343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33172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9281160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把文字转成统一变量</a:t>
            </a:r>
            <a:endParaRPr lang="zh-CN" sz="1600" dirty="0"/>
          </a:p>
        </p:txBody>
      </p:sp>
      <p:sp>
        <p:nvSpPr>
          <p:cNvPr id="13" name="Shape 11"/>
          <p:cNvSpPr/>
          <p:nvPr/>
        </p:nvSpPr>
        <p:spPr>
          <a:xfrm>
            <a:off x="8732520" y="327355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329184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928116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逐步控制作者与日期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8732520" y="423367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425196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9281160" y="4261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核对主结果和敏感性</a:t>
            </a:r>
            <a:endParaRPr lang="zh-CN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02  文字表达与点赞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把正文变成五项可复查的文字线索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§2.2、§4.1、附录A.1 · PDF第5、8—9、23页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</a:t>
            </a:r>
            <a:endParaRPr lang="zh-CN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36776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  <a:gridCol w="4325112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核心变量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固定编码规则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命中帖 / 可作作者内比较的作者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正文长度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清理后字符数，模型用ln(1+字数)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连续变量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自律或目标词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坚持、自律、目标、打卡等或“第N天”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877帖 / 76位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社交称呼或互助词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大家、小伙伴、谢谢、一起等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159帖 / 42位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积极表达词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开心、快乐、喜欢、哈哈等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574帖 / 64位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出现半角或全角问号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125帖 / 32位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5303520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编码过程：还原换行 → 移除URL、课程分享后缀、表情标记和空白 → 按固定词表匹配。</a:t>
            </a:r>
            <a:endParaRPr lang="zh-CN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5760720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590702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测量含义</a:t>
            </a:r>
            <a:endParaRPr lang="zh-CN" sz="1400" dirty="0"/>
          </a:p>
        </p:txBody>
      </p:sp>
      <p:sp>
        <p:nvSpPr>
          <p:cNvPr id="10" name="Text 7"/>
          <p:cNvSpPr/>
          <p:nvPr/>
        </p:nvSpPr>
        <p:spPr>
          <a:xfrm>
            <a:off x="1700784" y="5897880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命中表示出现字面线索；各项可以重叠，不能据此测量真实情绪或自律程度。</a:t>
            </a:r>
            <a:endParaRPr lang="zh-CN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02  文字表达与点赞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原始比较：四类表达都对应更高平均点赞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§4.1 · PDF第8页；各特征可重叠，分母为9,532帖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19072"/>
          <a:ext cx="6720840" cy="3630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先描述看到的差异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以积极表达为例，命中帖平均57.29个赞，未命中帖35.76个；其他三类也有原始优势。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这些帖子组未必可比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两组可能由不同作者构成，也可能包含不同的媒体形式、帖子类型与发布时间。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由此提出下一步问题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尽量扣除已记录差别后，同一作者在使用与未使用这些表达时，反馈是否仍有差异？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分析转折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“高赞帖通常怎么写”与“同一作者这样写时表现如何”，是不同的比较。</a:t>
            </a:r>
            <a:endParaRPr lang="zh-CN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02  文字表达与点赞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逐步控制模型，改变的是比较对象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§2.3、§9.1、附录A.1 · PDF第5、21、23页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66160" cy="2340864"/>
          </a:xfrm>
          <a:prstGeom prst="roundRect">
            <a:avLst>
              <a:gd name="adj" fmla="val 4688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521208" cy="521208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92808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M1</a:t>
            </a:r>
            <a:endParaRPr lang="zh-CN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基础关联</a:t>
            </a:r>
            <a:endParaRPr lang="zh-CN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1272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文本特征 + 内容形式、业务类型、时段、作者属性</a:t>
            </a:r>
            <a:endParaRPr lang="zh-CN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42428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R² = 0.563</a:t>
            </a:r>
            <a:endParaRPr lang="zh-CN" sz="2600" dirty="0"/>
          </a:p>
        </p:txBody>
      </p:sp>
      <p:sp>
        <p:nvSpPr>
          <p:cNvPr id="12" name="Shape 10"/>
          <p:cNvSpPr/>
          <p:nvPr/>
        </p:nvSpPr>
        <p:spPr>
          <a:xfrm>
            <a:off x="4315968" y="1691640"/>
            <a:ext cx="3566160" cy="2340864"/>
          </a:xfrm>
          <a:prstGeom prst="roundRect">
            <a:avLst>
              <a:gd name="adj" fmla="val 4688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1874520"/>
            <a:ext cx="521208" cy="521208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892808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M2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4498848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加入作者固定效应</a:t>
            </a:r>
            <a:endParaRPr lang="zh-CN" sz="2000" dirty="0"/>
          </a:p>
        </p:txBody>
      </p:sp>
      <p:sp>
        <p:nvSpPr>
          <p:cNvPr id="16" name="Text 14"/>
          <p:cNvSpPr/>
          <p:nvPr/>
        </p:nvSpPr>
        <p:spPr>
          <a:xfrm>
            <a:off x="4498848" y="31272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扣除作者间不随帖子变化的差别，利用作者内变化</a:t>
            </a:r>
            <a:endParaRPr lang="zh-CN" sz="1700" dirty="0"/>
          </a:p>
        </p:txBody>
      </p:sp>
      <p:sp>
        <p:nvSpPr>
          <p:cNvPr id="17" name="Text 15"/>
          <p:cNvSpPr/>
          <p:nvPr/>
        </p:nvSpPr>
        <p:spPr>
          <a:xfrm>
            <a:off x="4498848" y="42428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R² = 0.685</a:t>
            </a:r>
            <a:endParaRPr lang="zh-CN" sz="2600" dirty="0"/>
          </a:p>
        </p:txBody>
      </p:sp>
      <p:sp>
        <p:nvSpPr>
          <p:cNvPr id="18" name="Shape 16"/>
          <p:cNvSpPr/>
          <p:nvPr/>
        </p:nvSpPr>
        <p:spPr>
          <a:xfrm>
            <a:off x="8129016" y="1691640"/>
            <a:ext cx="3566160" cy="2340864"/>
          </a:xfrm>
          <a:prstGeom prst="roundRect">
            <a:avLst>
              <a:gd name="adj" fmla="val 4688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1896" y="1874520"/>
            <a:ext cx="521208" cy="521208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11896" y="1892808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M3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8311896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再加入日期固定效应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8311896" y="31272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扣除不同日期共有的差别，作为主模型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8311896" y="42428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R² = 0.688</a:t>
            </a:r>
            <a:endParaRPr lang="zh-CN" sz="2600" dirty="0"/>
          </a:p>
        </p:txBody>
      </p:sp>
      <p:sp>
        <p:nvSpPr>
          <p:cNvPr id="24" name="Text 22"/>
          <p:cNvSpPr/>
          <p:nvPr/>
        </p:nvSpPr>
        <p:spPr>
          <a:xfrm>
            <a:off x="612648" y="5038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因变量为ln(1+点赞数)；标准误按100位作者聚类；对五项核心系数做BH多重比较校正。</a:t>
            </a:r>
            <a:endParaRPr lang="zh-CN" sz="1700" dirty="0"/>
          </a:p>
        </p:txBody>
      </p:sp>
      <p:sp>
        <p:nvSpPr>
          <p:cNvPr id="25" name="Shape 23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识别范围</a:t>
            </a:r>
            <a:endParaRPr lang="zh-CN" sz="1400" dirty="0"/>
          </a:p>
        </p:txBody>
      </p:sp>
      <p:sp>
        <p:nvSpPr>
          <p:cNvPr id="27" name="Text 25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固定效应有助于改善可比性；实际曝光和随帖子变化的完整内容仍未观测。</a:t>
            </a:r>
            <a:endParaRPr lang="zh-CN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02  文字表达与点赞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主结果：积极表达转为负向，其余区间跨零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§4.2、附录A.1 · PDF第9、23页；95%区间为未经多重检验调整的原始区间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</a:t>
            </a:r>
            <a:endParaRPr lang="zh-CN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82496"/>
          <a:ext cx="6812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51560"/>
                <a:gridCol w="2057400"/>
                <a:gridCol w="960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核心文字线索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M3系数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原始95%置信区间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q值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正文长度 ln(1+字数)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[-0.008, 0.064]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自律或目标词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−0.119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[-0.293, 0.054]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社交称呼或互助词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−0.004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[-0.131, 0.122]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积极表达词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[-0.155, −0.016]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0.079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[-0.100, 0.316]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0.383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168249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观察方向和量级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2020824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积极表达的系数为−0.086，对应调整后的“1+点赞数”相对水平约低8.2%。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680960" y="29443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同时呈现推断结果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3282696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其原始p=0.016，但BH校正q=0.079，未达到预设5%标准。其余四项原始区间均含0。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680960" y="420624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整组新增信息较少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680960" y="4544568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五项文字线索仅增加0.065个百分点R²，联合检验p=0.130。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核心判断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原始优势与调整后关联发生分离，现有结果不足以支持稳定的关键词效果。</a:t>
            </a:r>
            <a:endParaRPr lang="zh-CN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02  文字表达与点赞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怎样理解反转：作者构成与发布情境参与其中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§4.2、§8.1 · PDF第9、20页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358384" cy="1463040"/>
          </a:xfrm>
          <a:prstGeom prst="roundRect">
            <a:avLst>
              <a:gd name="adj" fmla="val 750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5559552" cy="1463040"/>
          </a:xfrm>
          <a:prstGeom prst="roundRect">
            <a:avLst>
              <a:gd name="adj" fmla="val 7500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原始分组</a:t>
            </a:r>
            <a:endParaRPr lang="zh-CN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500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57.29  vs  35.76</a:t>
            </a:r>
            <a:endParaRPr lang="zh-CN" sz="3100" dirty="0"/>
          </a:p>
        </p:txBody>
      </p:sp>
      <p:sp>
        <p:nvSpPr>
          <p:cNvPr id="10" name="Text 8"/>
          <p:cNvSpPr/>
          <p:nvPr/>
        </p:nvSpPr>
        <p:spPr>
          <a:xfrm>
            <a:off x="731520" y="28529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命中与未命中积极表达帖的平均点赞</a:t>
            </a:r>
            <a:endParaRPr lang="zh-CN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控制作者、日期和已记录情境后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2350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约 −8.2%</a:t>
            </a:r>
            <a:endParaRPr lang="zh-CN" sz="3100" dirty="0"/>
          </a:p>
        </p:txBody>
      </p:sp>
      <p:sp>
        <p:nvSpPr>
          <p:cNvPr id="13" name="Text 11"/>
          <p:cNvSpPr/>
          <p:nvPr/>
        </p:nvSpPr>
        <p:spPr>
          <a:xfrm>
            <a:off x="6355080" y="28529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“1+点赞数”的条件相对水平；BH q=0.079</a:t>
            </a:r>
            <a:endParaRPr lang="zh-CN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648456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第一层：不同作者怎样写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3986784"/>
            <a:ext cx="5230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某些本来反馈水平更高的作者，可能也较常使用这些词，原始分组会同时带入作者差别。</a:t>
            </a:r>
            <a:endParaRPr lang="zh-CN" sz="1750" dirty="0"/>
          </a:p>
        </p:txBody>
      </p:sp>
      <p:sp>
        <p:nvSpPr>
          <p:cNvPr id="16" name="Text 14"/>
          <p:cNvSpPr/>
          <p:nvPr/>
        </p:nvSpPr>
        <p:spPr>
          <a:xfrm>
            <a:off x="6263640" y="3648456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第二层：同一作者何时这样写</a:t>
            </a:r>
            <a:endParaRPr lang="zh-CN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3986784"/>
            <a:ext cx="5239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同一作者可能在不同训练、生活或问候情境中使用积极表达；完整内容与曝光条件仍需继续追踪。</a:t>
            </a:r>
            <a:endParaRPr lang="zh-CN" sz="1750" dirty="0"/>
          </a:p>
        </p:txBody>
      </p:sp>
      <p:sp>
        <p:nvSpPr>
          <p:cNvPr id="18" name="Shape 16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解释线索</a:t>
            </a:r>
            <a:endParaRPr lang="zh-CN" sz="1400" dirty="0"/>
          </a:p>
        </p:txBody>
      </p:sp>
      <p:sp>
        <p:nvSpPr>
          <p:cNvPr id="20" name="Text 18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反转提示应回到具体作者与内容语境，当前分析还不能确认造成反转的机制。</a:t>
            </a:r>
            <a:endParaRPr lang="zh-CN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02  文字表达与点赞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敏感性检验：负向较一致，幅度和精度会变化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§4.3、附录A.2 · PDF第10、24页；下表为积极表达词的结果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</a:t>
            </a:r>
            <a:endParaRPr lang="zh-CN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64208"/>
          <a:ext cx="68580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143000"/>
                <a:gridCol w="1051560"/>
                <a:gridCol w="2240280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比较设定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样本量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原始95%置信区间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主模型M3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[-0.155, −0.016]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仅可见正文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5,548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−0.090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[-0.164, −0.015]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去除点赞最高1%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9,436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[-0.152, −0.012]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每位作者等权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−0.128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[-0.219, −0.036]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PPML计数模型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−0.135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[-0.299, 0.028]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检查不同风险来源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依次检查正文缺失、极端高赞、高产作者权重以及反馈计量尺度。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逐一剔除100位作者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64408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100次积极表达系数都为负，范围[-0.100, -0.074]，未由某一位作者单独驱动。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87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保留解释的边界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52628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PPML区间跨零；方向较一致，并不意味着幅度确定或因果解释成立。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本章小结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可以稳定观察到的是调整后的负向方向，尚不能转化为“避免积极用词”的策略。</a:t>
            </a:r>
            <a:endParaRPr lang="zh-CN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章节导览 · 对应报告第5章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14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5BA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CHAPTER  03</a:t>
            </a:r>
            <a:endParaRPr lang="zh-CN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6070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主题与作者构成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30936" y="2139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本章问题</a:t>
            </a:r>
            <a:endParaRPr lang="zh-CN" sz="1500" dirty="0"/>
          </a:p>
        </p:txBody>
      </p:sp>
      <p:sp>
        <p:nvSpPr>
          <p:cNvPr id="7" name="Text 5"/>
          <p:cNvSpPr/>
          <p:nvPr/>
        </p:nvSpPr>
        <p:spPr>
          <a:xfrm>
            <a:off x="630936" y="2578608"/>
            <a:ext cx="7498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主题出现很多，是普遍方向还是少数人的持续记录？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30936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主要发现</a:t>
            </a:r>
            <a:endParaRPr lang="zh-CN" sz="1500" dirty="0"/>
          </a:p>
        </p:txBody>
      </p:sp>
      <p:sp>
        <p:nvSpPr>
          <p:cNvPr id="9" name="Text 7"/>
          <p:cNvSpPr/>
          <p:nvPr/>
        </p:nvSpPr>
        <p:spPr>
          <a:xfrm>
            <a:off x="630936" y="400507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训练交流与生活表达在有效正文中并存；按帖统计和作者等权，可以区分内容产量与作者平均构成。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8732520" y="231343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33172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9281160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由用词组合提取主题</a:t>
            </a:r>
            <a:endParaRPr lang="zh-CN" sz="1600" dirty="0"/>
          </a:p>
        </p:txBody>
      </p:sp>
      <p:sp>
        <p:nvSpPr>
          <p:cNvPr id="13" name="Shape 11"/>
          <p:cNvSpPr/>
          <p:nvPr/>
        </p:nvSpPr>
        <p:spPr>
          <a:xfrm>
            <a:off x="8732520" y="327355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329184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928116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比较两种内容统计权重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8732520" y="423367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425196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9281160" y="4261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检查主题与反馈的关联</a:t>
            </a:r>
            <a:endParaRPr lang="zh-CN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03  主题与作者构成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主题分析：从有效正文提取五类内容模式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§5.1、附录A.3 · PDF第11、24页；占比以2,470条最终有效正文为分母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15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46504"/>
          <a:ext cx="6675120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先确定可分析文本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至少3个有效词的正文2,478条；排除8条近零贡献正文，最终2,470帖、86位作者。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再提取用词组合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jieba分词与停用词过滤后，构建TF-IDF矩阵，用NMF提取预先固定的五个主题。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内容同时包含两条线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训练交流占52.7%，生活感悟与问候占35.8%；主题按关键词和正文命名，不参考点赞。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内容发现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健身记录之外，日常感受和生活问候也是这批有效正文的重要组成。</a:t>
            </a:r>
            <a:endParaRPr lang="zh-CN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03  主题与作者构成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作者等权：把内容产量与普遍方向分开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§5.2、附录A.3 · PDF第11—12、24—25页；沿用同一批2,470帖、86位作者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16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37360"/>
          <a:ext cx="6675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按帖：看发出了多少内容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高产作者每发一帖就计入一次；靠墙静蹲85帖中，最大贡献作者占91.8%。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等权：看平均作者构成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先算作者内部主题占比，再对86位作者平均。静蹲从3.4%降至0.6%。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主要格局仍然保留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训练交流约53%，生活表达约36%—38%；两者并存较少依赖少数高产作者。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比较含义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小主题的反复出现，可能更多体现少数人的持续书写，需结合作者构成理解。</a:t>
            </a:r>
            <a:endParaRPr lang="zh-CN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03  主题与作者构成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主题能概括内容，反馈增量证据仍然有限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§5.3、附录A.3 · PDF第12、24页；基准为运动与训练交流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17</a:t>
            </a:r>
            <a:endParaRPr lang="zh-CN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09928"/>
          <a:ext cx="68580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914400"/>
                <a:gridCol w="2377440"/>
                <a:gridCol w="10515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相对基准的主题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原始95%置信区间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q值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靠墙静蹲记录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−0.315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[-0.636, 0.005]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骑行里程记录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[-0.523, 0.558]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跑步与训练打卡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−0.471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[-1.048, 0.105]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0.144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生活感悟与问候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−0.144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[-0.278, −0.010]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怎样加入回归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在同一有效正文子样本中，保留词典特征和控制项，加入四个连续主题权重。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得到哪些关联线索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生活主题相对训练交流为负，骑行接近零；描述占比与回归关联回答不同问题。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怎样判断证据强弱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主题联合检验p=0.166，所有单项BH q值都大于0.05，尚无明确增量证据。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本章小结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训练与生活表达都常见，但不能把内容占比直接解释成提高点赞的主题策略。</a:t>
            </a:r>
            <a:endParaRPr lang="zh-CN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章节导览 · 对应报告第6章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18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5BA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CHAPTER  04</a:t>
            </a:r>
            <a:endParaRPr lang="zh-CN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6070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评论语言与直接承接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30936" y="2139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本章问题</a:t>
            </a:r>
            <a:endParaRPr lang="zh-CN" sz="1500" dirty="0"/>
          </a:p>
        </p:txBody>
      </p:sp>
      <p:sp>
        <p:nvSpPr>
          <p:cNvPr id="7" name="Text 5"/>
          <p:cNvSpPr/>
          <p:nvPr/>
        </p:nvSpPr>
        <p:spPr>
          <a:xfrm>
            <a:off x="630936" y="2578608"/>
            <a:ext cx="7498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谁在表达赞许，哪些留言实际得到承接？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30936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主要发现</a:t>
            </a:r>
            <a:endParaRPr lang="zh-CN" sz="1500" dirty="0"/>
          </a:p>
        </p:txBody>
      </p:sp>
      <p:sp>
        <p:nvSpPr>
          <p:cNvPr id="9" name="Text 7"/>
          <p:cNvSpPr/>
          <p:nvPr/>
        </p:nvSpPr>
        <p:spPr>
          <a:xfrm>
            <a:off x="630936" y="400507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其他用户更常赞许，帖主更常感谢；配对后发现，回应的语言内容与观测到的回应覆盖可以不同。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8732520" y="231343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33172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9281160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结合词频与发言人数</a:t>
            </a:r>
            <a:endParaRPr lang="zh-CN" sz="1600" dirty="0"/>
          </a:p>
        </p:txBody>
      </p:sp>
      <p:sp>
        <p:nvSpPr>
          <p:cNvPr id="13" name="Shape 11"/>
          <p:cNvSpPr/>
          <p:nvPr/>
        </p:nvSpPr>
        <p:spPr>
          <a:xfrm>
            <a:off x="8732520" y="327355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329184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928116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按所在帖子区分角色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8732520" y="423367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425196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9281160" y="4261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配对根评论与直接回复</a:t>
            </a:r>
            <a:endParaRPr lang="zh-CN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04  评论语言与直接承接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评论很短，词频还需要结合使用人数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§6.1 · PDF第13页；以11,595条去重评论为文本分析范围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19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3547872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92224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6个字符</a:t>
            </a:r>
            <a:endParaRPr lang="zh-CN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清理后评论长度中位数</a:t>
            </a:r>
            <a:endParaRPr lang="zh-CN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1682496"/>
            <a:ext cx="3547872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792224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11.8%</a:t>
            </a:r>
            <a:endParaRPr lang="zh-CN" sz="3200" dirty="0"/>
          </a:p>
        </p:txBody>
      </p:sp>
      <p:sp>
        <p:nvSpPr>
          <p:cNvPr id="11" name="Text 9"/>
          <p:cNvSpPr/>
          <p:nvPr/>
        </p:nvSpPr>
        <p:spPr>
          <a:xfrm>
            <a:off x="4498848" y="237744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仅留下标记或符号：1,373条</a:t>
            </a:r>
            <a:endParaRPr lang="zh-CN" sz="1350" dirty="0"/>
          </a:p>
        </p:txBody>
      </p:sp>
      <p:sp>
        <p:nvSpPr>
          <p:cNvPr id="12" name="Shape 10"/>
          <p:cNvSpPr/>
          <p:nvPr/>
        </p:nvSpPr>
        <p:spPr>
          <a:xfrm>
            <a:off x="8129016" y="1682496"/>
            <a:ext cx="3557016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179222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3,362条</a:t>
            </a:r>
            <a:endParaRPr lang="zh-CN" sz="3200" dirty="0"/>
          </a:p>
        </p:txBody>
      </p:sp>
      <p:sp>
        <p:nvSpPr>
          <p:cNvPr id="14" name="Text 12"/>
          <p:cNvSpPr/>
          <p:nvPr/>
        </p:nvSpPr>
        <p:spPr>
          <a:xfrm>
            <a:off x="8311896" y="237744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具有重复的标准化文本</a:t>
            </a:r>
            <a:endParaRPr lang="zh-CN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111831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2286000"/>
                <a:gridCol w="5513832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常见词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含该词评论数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不同发言用户数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如何理解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加油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612条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431人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覆盖更多不同参与者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谢谢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359条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53人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较少使用者的反复表达</a:t>
                      </a:r>
                      <a:endParaRPr lang="en-US" sz="17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4974336"/>
            <a:ext cx="10881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每条评论中同一词至多计一次。不同ID的相同短句保留，因为它们对应不同账号或时点实际发生的发言。</a:t>
            </a:r>
            <a:endParaRPr lang="zh-CN" sz="1700" dirty="0"/>
          </a:p>
        </p:txBody>
      </p:sp>
      <p:sp>
        <p:nvSpPr>
          <p:cNvPr id="17" name="Shape 14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分析含义</a:t>
            </a:r>
            <a:endParaRPr lang="zh-CN" sz="1400" dirty="0"/>
          </a:p>
        </p:txBody>
      </p:sp>
      <p:sp>
        <p:nvSpPr>
          <p:cNvPr id="19" name="Text 16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“经常出现”既可能来自参与面广，也可能来自少数发言者重复使用。</a:t>
            </a:r>
            <a:endParaRPr lang="zh-CN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04  评论语言与直接承接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角色分组：其他用户更常赞许，帖主更常感谢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§6.2 · PDF第13—14页；角色按每条发言所在帖子确定，各类词可重叠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37360"/>
          <a:ext cx="6720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赞许更多出现在留言侧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其他用户的鼓励或赞许词命中率16.9%，帖主为4.5%。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感谢更多出现在帖主侧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帖主的感谢词命中率7.9%，其他用户为0.6%；显示两种表达的角色分工。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角色随帖子而变化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同一人在自己的帖子下是帖主，在别人帖子下是其他用户；分组还不能确认具体前后承接。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从总体角色差异继续追踪：同一条赞许留言之后，是否出现帖主的感谢回复？</a:t>
            </a:r>
            <a:endParaRPr lang="zh-CN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04  评论语言与直接承接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直接配对：定位到每条根评论的最早观测回复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§6.3、附录A.4 · PDF第14—15、25页；此处7天从根评论发出时起算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21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2587752" cy="1554480"/>
          </a:xfrm>
          <a:prstGeom prst="roundRect">
            <a:avLst>
              <a:gd name="adj" fmla="val 7059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65960"/>
            <a:ext cx="2258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6,609条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667512" y="2587752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其他用户发给帖主的根评论</a:t>
            </a:r>
            <a:endParaRPr lang="zh-CN" sz="1600" dirty="0"/>
          </a:p>
        </p:txBody>
      </p:sp>
      <p:sp>
        <p:nvSpPr>
          <p:cNvPr id="9" name="Shape 7"/>
          <p:cNvSpPr/>
          <p:nvPr/>
        </p:nvSpPr>
        <p:spPr>
          <a:xfrm>
            <a:off x="3145536" y="2514600"/>
            <a:ext cx="173736" cy="0"/>
          </a:xfrm>
          <a:prstGeom prst="line">
            <a:avLst/>
          </a:prstGeom>
          <a:noFill/>
          <a:ln w="19050">
            <a:solidFill>
              <a:srgbClr val="6C697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64992" y="1746504"/>
            <a:ext cx="2587752" cy="1554480"/>
          </a:xfrm>
          <a:prstGeom prst="roundRect">
            <a:avLst>
              <a:gd name="adj" fmla="val 7059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965960"/>
            <a:ext cx="2258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严格匹配</a:t>
            </a:r>
            <a:endParaRPr lang="zh-CN" sz="2400" dirty="0"/>
          </a:p>
        </p:txBody>
      </p:sp>
      <p:sp>
        <p:nvSpPr>
          <p:cNvPr id="12" name="Text 10"/>
          <p:cNvSpPr/>
          <p:nvPr/>
        </p:nvSpPr>
        <p:spPr>
          <a:xfrm>
            <a:off x="3529584" y="2587752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同帖，回复明确指向根评论及作者</a:t>
            </a:r>
            <a:endParaRPr lang="zh-CN" sz="1600" dirty="0"/>
          </a:p>
        </p:txBody>
      </p:sp>
      <p:sp>
        <p:nvSpPr>
          <p:cNvPr id="13" name="Shape 11"/>
          <p:cNvSpPr/>
          <p:nvPr/>
        </p:nvSpPr>
        <p:spPr>
          <a:xfrm>
            <a:off x="6007608" y="2514600"/>
            <a:ext cx="173736" cy="0"/>
          </a:xfrm>
          <a:prstGeom prst="line">
            <a:avLst/>
          </a:prstGeom>
          <a:noFill/>
          <a:ln w="19050">
            <a:solidFill>
              <a:srgbClr val="6C697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27064" y="1746504"/>
            <a:ext cx="2587752" cy="1554480"/>
          </a:xfrm>
          <a:prstGeom prst="roundRect">
            <a:avLst>
              <a:gd name="adj" fmla="val 7059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1965960"/>
            <a:ext cx="2258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根评论后7天</a:t>
            </a:r>
            <a:endParaRPr lang="zh-CN" sz="2400" dirty="0"/>
          </a:p>
        </p:txBody>
      </p:sp>
      <p:sp>
        <p:nvSpPr>
          <p:cNvPr id="16" name="Text 14"/>
          <p:cNvSpPr/>
          <p:nvPr/>
        </p:nvSpPr>
        <p:spPr>
          <a:xfrm>
            <a:off x="6391656" y="2587752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每条只取最早观测到的合规回复</a:t>
            </a:r>
            <a:endParaRPr lang="zh-CN" sz="1600" dirty="0"/>
          </a:p>
        </p:txBody>
      </p:sp>
      <p:sp>
        <p:nvSpPr>
          <p:cNvPr id="17" name="Shape 15"/>
          <p:cNvSpPr/>
          <p:nvPr/>
        </p:nvSpPr>
        <p:spPr>
          <a:xfrm>
            <a:off x="8869680" y="2514600"/>
            <a:ext cx="173736" cy="0"/>
          </a:xfrm>
          <a:prstGeom prst="line">
            <a:avLst/>
          </a:prstGeom>
          <a:noFill/>
          <a:ln w="19050">
            <a:solidFill>
              <a:srgbClr val="6C697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89136" y="1746504"/>
            <a:ext cx="2587752" cy="1554480"/>
          </a:xfrm>
          <a:prstGeom prst="roundRect">
            <a:avLst>
              <a:gd name="adj" fmla="val 7059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3728" y="1965960"/>
            <a:ext cx="2258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3,568条</a:t>
            </a:r>
            <a:endParaRPr lang="zh-CN" sz="2400" dirty="0"/>
          </a:p>
        </p:txBody>
      </p:sp>
      <p:sp>
        <p:nvSpPr>
          <p:cNvPr id="20" name="Text 18"/>
          <p:cNvSpPr/>
          <p:nvPr/>
        </p:nvSpPr>
        <p:spPr>
          <a:xfrm>
            <a:off x="9253728" y="2587752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根评论观察到直接回复</a:t>
            </a:r>
            <a:endParaRPr lang="zh-CN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49040"/>
          <a:ext cx="11183112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874520"/>
                <a:gridCol w="3246120"/>
                <a:gridCol w="29077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根评论组别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根评论数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观察到7天内直接回复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最早回复含感谢词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命中鼓励或赞许词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1,180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513条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137条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未命中鼓励或赞许词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5,429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3,055条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195条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匹配规则</a:t>
            </a:r>
            <a:endParaRPr lang="zh-CN" sz="1400" dirty="0"/>
          </a:p>
        </p:txBody>
      </p:sp>
      <p:sp>
        <p:nvSpPr>
          <p:cNvPr id="24" name="Text 21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这一分析对应根评论本身的直接回复；每条根评论只贡献一次感谢表达观察。</a:t>
            </a:r>
            <a:endParaRPr lang="zh-CN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04  评论语言与直接承接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感谢更常见，与回复覆盖更低可以同时成立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§6.3 · PDF第14—15页；图中分母不同，不能直接相互替代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22</a:t>
            </a:r>
            <a:endParaRPr lang="zh-CN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1664208"/>
            <a:ext cx="5486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全部根评论中：观察到直接回复</a:t>
            </a:r>
            <a:endParaRPr lang="zh-CN" sz="1900" dirty="0"/>
          </a:p>
        </p:txBody>
      </p:sp>
      <p:sp>
        <p:nvSpPr>
          <p:cNvPr id="7" name="Text 5"/>
          <p:cNvSpPr/>
          <p:nvPr/>
        </p:nvSpPr>
        <p:spPr>
          <a:xfrm>
            <a:off x="6263640" y="1664208"/>
            <a:ext cx="5394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已回复记录中：最早回复含感谢词</a:t>
            </a:r>
            <a:endParaRPr lang="zh-CN" sz="1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2176272"/>
          <a:ext cx="537667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181344" y="2176272"/>
          <a:ext cx="5504688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704088" y="466344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513 / 1,180  对  3,055 / 5,429</a:t>
            </a:r>
            <a:endParaRPr lang="zh-CN" sz="1500" dirty="0"/>
          </a:p>
        </p:txBody>
      </p:sp>
      <p:sp>
        <p:nvSpPr>
          <p:cNvPr id="11" name="Text 7"/>
          <p:cNvSpPr/>
          <p:nvPr/>
        </p:nvSpPr>
        <p:spPr>
          <a:xfrm>
            <a:off x="6355080" y="466344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137 / 513  对  195 / 3,055</a:t>
            </a:r>
            <a:endParaRPr lang="zh-CN" sz="1500" dirty="0"/>
          </a:p>
        </p:txBody>
      </p:sp>
      <p:sp>
        <p:nvSpPr>
          <p:cNvPr id="12" name="Text 8"/>
          <p:cNvSpPr/>
          <p:nvPr/>
        </p:nvSpPr>
        <p:spPr>
          <a:xfrm>
            <a:off x="630936" y="5184648"/>
            <a:ext cx="10945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左图问“整组留言中有多少被直接接住”；右图问“已接住的留言怎样回应”。两组帖主和情境存在差别。</a:t>
            </a:r>
            <a:endParaRPr lang="zh-CN" sz="1700" dirty="0"/>
          </a:p>
        </p:txBody>
      </p:sp>
      <p:sp>
        <p:nvSpPr>
          <p:cNvPr id="13" name="Shape 9"/>
          <p:cNvSpPr/>
          <p:nvPr/>
        </p:nvSpPr>
        <p:spPr>
          <a:xfrm>
            <a:off x="502920" y="58247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4944" y="59710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本章小结</a:t>
            </a:r>
            <a:endParaRPr lang="zh-CN" sz="1400" dirty="0"/>
          </a:p>
        </p:txBody>
      </p:sp>
      <p:sp>
        <p:nvSpPr>
          <p:cNvPr id="15" name="Text 11"/>
          <p:cNvSpPr/>
          <p:nvPr/>
        </p:nvSpPr>
        <p:spPr>
          <a:xfrm>
            <a:off x="1700784" y="59618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回应内容与回应覆盖是两个维度；这些分布不能解释为鼓励词带来的因果影响。</a:t>
            </a:r>
            <a:endParaRPr lang="zh-CN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章节导览 · 对应报告第7章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23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5BA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CHAPTER  05</a:t>
            </a:r>
            <a:endParaRPr lang="zh-CN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6070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评论网络与互动形态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30936" y="2139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本章问题</a:t>
            </a:r>
            <a:endParaRPr lang="zh-CN" sz="1500" dirty="0"/>
          </a:p>
        </p:txBody>
      </p:sp>
      <p:sp>
        <p:nvSpPr>
          <p:cNvPr id="7" name="Text 5"/>
          <p:cNvSpPr/>
          <p:nvPr/>
        </p:nvSpPr>
        <p:spPr>
          <a:xfrm>
            <a:off x="630936" y="2578608"/>
            <a:ext cx="7498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评论向谁集中，相似评论量由多少人组成？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30936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主要发现</a:t>
            </a:r>
            <a:endParaRPr lang="zh-CN" sz="1500" dirty="0"/>
          </a:p>
        </p:txBody>
      </p:sp>
      <p:sp>
        <p:nvSpPr>
          <p:cNvPr id="9" name="Text 7"/>
          <p:cNvSpPr/>
          <p:nvPr/>
        </p:nvSpPr>
        <p:spPr>
          <a:xfrm>
            <a:off x="630936" y="400507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大多数账号能间接相连，明确回话却主要由帖主承担；接收次数、不同发送者人数和双向关系需要分开衡量。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8732520" y="231343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33172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9281160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把事件转成有向加权边</a:t>
            </a:r>
            <a:endParaRPr lang="zh-CN" sz="1600" dirty="0"/>
          </a:p>
        </p:txBody>
      </p:sp>
      <p:sp>
        <p:nvSpPr>
          <p:cNvPr id="13" name="Shape 11"/>
          <p:cNvSpPr/>
          <p:nvPr/>
        </p:nvSpPr>
        <p:spPr>
          <a:xfrm>
            <a:off x="8732520" y="327355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329184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928116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观察回话角色与接收集中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8732520" y="423367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425196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9281160" y="4261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比较人数、时间和互惠</a:t>
            </a:r>
            <a:endParaRPr lang="zh-CN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05  评论网络与互动形态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从评论事件构建有向加权网络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§7.1、附录A.4 · PDF第16—17、25页；图沿用源报告图11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24</a:t>
            </a:r>
            <a:endParaRPr lang="zh-CN" sz="1100" dirty="0"/>
          </a:p>
        </p:txBody>
      </p:sp>
      <p:pic>
        <p:nvPicPr>
          <p:cNvPr id="6" name="Image 0" descr="/Users/lchen/Projects/FDU-Homeworks/social-media-net-analysis/projects/group/figures/06_comment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67512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26680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方向表示谁向谁发言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3192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根评论指向帖主，明确回复指向被回复用户；同向多次事件合并为边，次数累加为权重。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950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事件、边、账号分开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88792"/>
            <a:ext cx="393192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排除84次自我互动后，11,511次事件合并成4,069条有向边，涉及2,932个有边账号。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236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图形只辅助理解结构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575048"/>
            <a:ext cx="393192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金色为样本作者，蓝色为其他账号，节点大小按接收量对数缩放；为阅读省略箭头。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网络含义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10次同方向留言是一条权重为10的边；文本发言者数与网络账号数也不是同一口径。</a:t>
            </a:r>
            <a:endParaRPr lang="zh-CN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05  评论网络与互动形态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间接联系广，明确回话主要由帖主承担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§7.2 · PDF第17页；角色占比以4,902次非自我明确回复为分母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25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47088"/>
          <a:ext cx="6675120" cy="3172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连通不等于经常直接交流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最大弱连通部分包含94.4%的有边账号，但网络密度仅0.0473%，直接关系仍然稀疏。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帖主承接了多数明确回复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帖主回复其他用户4,361次，占89.0%；其他用户彼此回复97次，仅占2.0%。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结构指向具体交流方式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参与者经共同评论对象间接相连，日常回话则主要围绕帖主进行。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结构发现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评论区呈现广泛的间接连接，以及围绕帖主展开的留言与回话。</a:t>
            </a:r>
            <a:endParaRPr lang="zh-CN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05  评论网络与互动形态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接收量相近，参与面可以相差很大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§7.3 · PDF第17—18页；接收量与人数均包括根评论和明确回复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26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09928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9019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U1528</a:t>
            </a:r>
            <a:endParaRPr lang="zh-CN" sz="2000" dirty="0"/>
          </a:p>
        </p:txBody>
      </p:sp>
      <p:sp>
        <p:nvSpPr>
          <p:cNvPr id="8" name="Text 6"/>
          <p:cNvSpPr/>
          <p:nvPr/>
        </p:nvSpPr>
        <p:spPr>
          <a:xfrm>
            <a:off x="704088" y="2496312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1,378次</a:t>
            </a:r>
            <a:endParaRPr lang="zh-CN" sz="3100" dirty="0"/>
          </a:p>
        </p:txBody>
      </p:sp>
      <p:sp>
        <p:nvSpPr>
          <p:cNvPr id="9" name="Text 7"/>
          <p:cNvSpPr/>
          <p:nvPr/>
        </p:nvSpPr>
        <p:spPr>
          <a:xfrm>
            <a:off x="704088" y="318211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53位发送者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704088" y="3904488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相对于人数，重复发来的事件较多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4315968" y="1709928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9019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U0948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4517136" y="2496312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1,275次</a:t>
            </a:r>
            <a:endParaRPr lang="zh-CN" sz="3100" dirty="0"/>
          </a:p>
        </p:txBody>
      </p:sp>
      <p:sp>
        <p:nvSpPr>
          <p:cNvPr id="14" name="Text 12"/>
          <p:cNvSpPr/>
          <p:nvPr/>
        </p:nvSpPr>
        <p:spPr>
          <a:xfrm>
            <a:off x="4517136" y="318211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1,091位发送者</a:t>
            </a:r>
            <a:endParaRPr lang="zh-CN" sz="2300" dirty="0"/>
          </a:p>
        </p:txBody>
      </p:sp>
      <p:sp>
        <p:nvSpPr>
          <p:cNvPr id="15" name="Text 13"/>
          <p:cNvSpPr/>
          <p:nvPr/>
        </p:nvSpPr>
        <p:spPr>
          <a:xfrm>
            <a:off x="4517136" y="3904488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接收量相近，但覆盖更多不同账号</a:t>
            </a:r>
            <a:endParaRPr lang="zh-CN" sz="1700" dirty="0"/>
          </a:p>
        </p:txBody>
      </p:sp>
      <p:sp>
        <p:nvSpPr>
          <p:cNvPr id="16" name="Shape 14"/>
          <p:cNvSpPr/>
          <p:nvPr/>
        </p:nvSpPr>
        <p:spPr>
          <a:xfrm>
            <a:off x="8129016" y="1709928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19019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U0112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8330184" y="2496312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180次</a:t>
            </a:r>
            <a:endParaRPr lang="zh-CN" sz="3100" dirty="0"/>
          </a:p>
        </p:txBody>
      </p:sp>
      <p:sp>
        <p:nvSpPr>
          <p:cNvPr id="19" name="Text 17"/>
          <p:cNvSpPr/>
          <p:nvPr/>
        </p:nvSpPr>
        <p:spPr>
          <a:xfrm>
            <a:off x="8330184" y="318211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4位发送者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8330184" y="3904488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非样本帖主，也存在少数人的密集往来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621792" y="5193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前10位账号接收54.0%的非自我互动事件。接收次数（加权入度）衡量事件量，不同发送者人数（入度）衡量关系范围。</a:t>
            </a:r>
            <a:endParaRPr lang="zh-CN" sz="1700" dirty="0"/>
          </a:p>
        </p:txBody>
      </p:sp>
      <p:sp>
        <p:nvSpPr>
          <p:cNvPr id="22" name="Shape 20"/>
          <p:cNvSpPr/>
          <p:nvPr/>
        </p:nvSpPr>
        <p:spPr>
          <a:xfrm>
            <a:off x="502920" y="5852160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599846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衡量方式</a:t>
            </a:r>
            <a:endParaRPr lang="zh-CN" sz="1400" dirty="0"/>
          </a:p>
        </p:txBody>
      </p:sp>
      <p:sp>
        <p:nvSpPr>
          <p:cNvPr id="24" name="Text 22"/>
          <p:cNvSpPr/>
          <p:nvPr/>
        </p:nvSpPr>
        <p:spPr>
          <a:xfrm>
            <a:off x="1700784" y="5989320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相同声量可能来自少数人的反复往来，也可能来自更多人的集中留言。</a:t>
            </a:r>
            <a:endParaRPr lang="zh-CN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05  评论网络与互动形态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互惠率随网络范围变化，反映留言与回话的组合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§7.4、附录A.4 · PDF第18—19、25页；互惠率按去重有向边计量，不按事件次数加权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27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92224"/>
          <a:ext cx="6675120" cy="3456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先明确指标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有向边中同时存在反向边的比例；用户留言、帖主回话，就能形成双向连接。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全量与明确回复不同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全量49.6%，仅明确回复29.9%；去掉根评论后，部分双向连接只剩帖主回话的一侧。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首周构成也不同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首周互惠74.1%，前10接收占比48.3%；全量对应49.6%和54.0%，窗口改变了关系构成。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指标含义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互惠描述账号关系是否双向存在，不能直接当作每条留言都得到了回复。</a:t>
            </a:r>
            <a:endParaRPr lang="zh-CN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05  评论网络与互动形态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评论较早发生，线程承接与直接回复仍需区分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§7.4、附录A.4 · PDF第19、25页；时序分母11,595条去重评论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28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47872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0136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64.5%</a:t>
            </a:r>
            <a:endParaRPr lang="zh-CN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38658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评论出现在发帖后24小时内</a:t>
            </a:r>
            <a:endParaRPr lang="zh-CN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1691640"/>
            <a:ext cx="3547872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80136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82.2%</a:t>
            </a:r>
            <a:endParaRPr lang="zh-CN" sz="3200" dirty="0"/>
          </a:p>
        </p:txBody>
      </p:sp>
      <p:sp>
        <p:nvSpPr>
          <p:cNvPr id="11" name="Text 9"/>
          <p:cNvSpPr/>
          <p:nvPr/>
        </p:nvSpPr>
        <p:spPr>
          <a:xfrm>
            <a:off x="4498848" y="238658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评论出现在发帖后7天内</a:t>
            </a:r>
            <a:endParaRPr lang="zh-CN" sz="1350" dirty="0"/>
          </a:p>
        </p:txBody>
      </p:sp>
      <p:sp>
        <p:nvSpPr>
          <p:cNvPr id="12" name="Shape 10"/>
          <p:cNvSpPr/>
          <p:nvPr/>
        </p:nvSpPr>
        <p:spPr>
          <a:xfrm>
            <a:off x="8129016" y="1691640"/>
            <a:ext cx="3557016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1801368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11.3小时</a:t>
            </a:r>
            <a:endParaRPr lang="zh-CN" sz="3200" dirty="0"/>
          </a:p>
        </p:txBody>
      </p:sp>
      <p:sp>
        <p:nvSpPr>
          <p:cNvPr id="14" name="Text 12"/>
          <p:cNvSpPr/>
          <p:nvPr/>
        </p:nvSpPr>
        <p:spPr>
          <a:xfrm>
            <a:off x="8311896" y="238658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评论距发帖间隔中位数</a:t>
            </a:r>
            <a:endParaRPr lang="zh-CN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5358384" cy="1920240"/>
          </a:xfrm>
          <a:prstGeom prst="roundRect">
            <a:avLst>
              <a:gd name="adj" fmla="val 5714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3246120"/>
            <a:ext cx="5541264" cy="1920240"/>
          </a:xfrm>
          <a:prstGeom prst="roundRect">
            <a:avLst>
              <a:gd name="adj" fmla="val 571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34381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线程中的帖主参与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722376" y="3986784"/>
            <a:ext cx="49011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6,609个根评论线程中，57.0%观察到帖主参与；在已参与线程里，最早回复距根评论的中位间隔为2.05小时。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6364224" y="34381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与第4章直接配对的区别</a:t>
            </a:r>
            <a:endParaRPr lang="zh-CN" sz="2000" dirty="0"/>
          </a:p>
        </p:txBody>
      </p:sp>
      <p:sp>
        <p:nvSpPr>
          <p:cNvPr id="20" name="Text 18"/>
          <p:cNvSpPr/>
          <p:nvPr/>
        </p:nvSpPr>
        <p:spPr>
          <a:xfrm>
            <a:off x="6364224" y="3986784"/>
            <a:ext cx="5029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线程参与包括线程内回复；直接配对必须明确指向根评论本身及其作者，并限定根评论后7天。两者回答不同问题。</a:t>
            </a:r>
            <a:endParaRPr lang="zh-CN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本章小结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互动主要集中在早期，围绕帖主承接；次数、人数、双向关系与回复覆盖应分别报告。</a:t>
            </a:r>
            <a:endParaRPr lang="zh-CN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章节导览 · 对应报告第8—9章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29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5BA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CHAPTER  06</a:t>
            </a:r>
            <a:endParaRPr lang="zh-CN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6070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综合结论与建议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30936" y="2139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本章问题</a:t>
            </a:r>
            <a:endParaRPr lang="zh-CN" sz="1500" dirty="0"/>
          </a:p>
        </p:txBody>
      </p:sp>
      <p:sp>
        <p:nvSpPr>
          <p:cNvPr id="7" name="Text 5"/>
          <p:cNvSpPr/>
          <p:nvPr/>
        </p:nvSpPr>
        <p:spPr>
          <a:xfrm>
            <a:off x="630936" y="2578608"/>
            <a:ext cx="7498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怎样把内容与互动发现转成可靠的判断？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30936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BCAE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主要发现</a:t>
            </a:r>
            <a:endParaRPr lang="zh-CN" sz="1500" dirty="0"/>
          </a:p>
        </p:txBody>
      </p:sp>
      <p:sp>
        <p:nvSpPr>
          <p:cNvPr id="9" name="Text 7"/>
          <p:cNvSpPr/>
          <p:nvPr/>
        </p:nvSpPr>
        <p:spPr>
          <a:xfrm>
            <a:off x="630936" y="400507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内容解释要结合作者和情境，互动评价要结合次数、人数与承接；建议应对应已有证据，并由后续设计继续检验。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8732520" y="231343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33172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9281160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整合两条证据主线</a:t>
            </a:r>
            <a:endParaRPr lang="zh-CN" sz="1600" dirty="0"/>
          </a:p>
        </p:txBody>
      </p:sp>
      <p:sp>
        <p:nvSpPr>
          <p:cNvPr id="13" name="Shape 11"/>
          <p:cNvSpPr/>
          <p:nvPr/>
        </p:nvSpPr>
        <p:spPr>
          <a:xfrm>
            <a:off x="8732520" y="327355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329184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928116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形成与证据对应的建议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8732520" y="4233672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425196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9281160" y="4261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E8E1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交代局限和后续实验</a:t>
            </a:r>
            <a:endParaRPr lang="zh-CN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06  综合结论与建议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综合理解：作者构成贯穿内容与反馈比较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§8.1、§8.3、§9.1 · PDF第20—21页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30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57784" y="1828800"/>
            <a:ext cx="475488" cy="475488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8470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70078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表达层面</a:t>
            </a:r>
            <a:endParaRPr lang="zh-CN" sz="1800" dirty="0"/>
          </a:p>
        </p:txBody>
      </p:sp>
      <p:sp>
        <p:nvSpPr>
          <p:cNvPr id="9" name="Text 7"/>
          <p:cNvSpPr/>
          <p:nvPr/>
        </p:nvSpPr>
        <p:spPr>
          <a:xfrm>
            <a:off x="3337560" y="1700784"/>
            <a:ext cx="8092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57.29 对 35.76 → 调整后约−8.2%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积极表达的原始优势与作者、情境调整后的关联方向不同。</a:t>
            </a:r>
            <a:endParaRPr lang="zh-CN" sz="1800" dirty="0"/>
          </a:p>
        </p:txBody>
      </p:sp>
      <p:sp>
        <p:nvSpPr>
          <p:cNvPr id="11" name="Shape 9"/>
          <p:cNvSpPr/>
          <p:nvPr/>
        </p:nvSpPr>
        <p:spPr>
          <a:xfrm>
            <a:off x="557784" y="3035808"/>
            <a:ext cx="475488" cy="475488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305409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90779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主题层面</a:t>
            </a:r>
            <a:endParaRPr lang="zh-CN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907792"/>
            <a:ext cx="8092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静蹲：3.4% → 作者等权0.6%</a:t>
            </a:r>
            <a:endParaRPr lang="zh-CN" sz="2300" dirty="0"/>
          </a:p>
        </p:txBody>
      </p:sp>
      <p:sp>
        <p:nvSpPr>
          <p:cNvPr id="15" name="Text 13"/>
          <p:cNvSpPr/>
          <p:nvPr/>
        </p:nvSpPr>
        <p:spPr>
          <a:xfrm>
            <a:off x="3337560" y="3447288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一类内容反复出现，可能更多记录少数作者的持续书写。</a:t>
            </a:r>
            <a:endParaRPr lang="zh-CN" sz="1800" dirty="0"/>
          </a:p>
        </p:txBody>
      </p:sp>
      <p:sp>
        <p:nvSpPr>
          <p:cNvPr id="16" name="Shape 14"/>
          <p:cNvSpPr/>
          <p:nvPr/>
        </p:nvSpPr>
        <p:spPr>
          <a:xfrm>
            <a:off x="557784" y="4242816"/>
            <a:ext cx="475488" cy="475488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426110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较稳定的概括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3337560" y="4114800"/>
            <a:ext cx="8092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训练52.7%，生活35.8%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3337560" y="4654296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训练与生活表达在两种权重下都占较大篇幅，是有效正文的重要方向。</a:t>
            </a:r>
            <a:endParaRPr lang="zh-CN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整合结论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解释“内容受欢迎”时，要区分作者是谁、发了多少，以及同一作者在什么情境中表达。</a:t>
            </a:r>
            <a:endParaRPr lang="zh-CN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06  综合结论与建议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综合理解：评论活跃可拆成三种不同表现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§8.2 · PDF第20页；下列为结构性概括，非已验证因果链条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31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920240"/>
            <a:ext cx="530352" cy="53035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93852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900" dirty="0"/>
          </a:p>
        </p:txBody>
      </p:sp>
      <p:sp>
        <p:nvSpPr>
          <p:cNvPr id="9" name="Text 7"/>
          <p:cNvSpPr/>
          <p:nvPr/>
        </p:nvSpPr>
        <p:spPr>
          <a:xfrm>
            <a:off x="704088" y="272491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往来多少次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704088" y="33192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事件量</a:t>
            </a:r>
            <a:endParaRPr lang="zh-CN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3886200"/>
            <a:ext cx="31638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U1528收到1,378次互动，重复往来的份量较大。</a:t>
            </a:r>
            <a:endParaRPr lang="zh-CN" sz="1800" dirty="0"/>
          </a:p>
        </p:txBody>
      </p:sp>
      <p:sp>
        <p:nvSpPr>
          <p:cNvPr id="12" name="Shape 10"/>
          <p:cNvSpPr/>
          <p:nvPr/>
        </p:nvSpPr>
        <p:spPr>
          <a:xfrm>
            <a:off x="4315968" y="1719072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7136" y="1920240"/>
            <a:ext cx="530352" cy="53035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193852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900" dirty="0"/>
          </a:p>
        </p:txBody>
      </p:sp>
      <p:sp>
        <p:nvSpPr>
          <p:cNvPr id="15" name="Text 13"/>
          <p:cNvSpPr/>
          <p:nvPr/>
        </p:nvSpPr>
        <p:spPr>
          <a:xfrm>
            <a:off x="4517136" y="272491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有多少人参与</a:t>
            </a:r>
            <a:endParaRPr lang="zh-CN" sz="2300" dirty="0"/>
          </a:p>
        </p:txBody>
      </p:sp>
      <p:sp>
        <p:nvSpPr>
          <p:cNvPr id="16" name="Text 14"/>
          <p:cNvSpPr/>
          <p:nvPr/>
        </p:nvSpPr>
        <p:spPr>
          <a:xfrm>
            <a:off x="4517136" y="33192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参与广度</a:t>
            </a:r>
            <a:endParaRPr lang="zh-CN" sz="1600" dirty="0"/>
          </a:p>
        </p:txBody>
      </p:sp>
      <p:sp>
        <p:nvSpPr>
          <p:cNvPr id="17" name="Text 15"/>
          <p:cNvSpPr/>
          <p:nvPr/>
        </p:nvSpPr>
        <p:spPr>
          <a:xfrm>
            <a:off x="4517136" y="3886200"/>
            <a:ext cx="31638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U0948收到1,275次，却覆盖1,091位不同发送者。</a:t>
            </a:r>
            <a:endParaRPr lang="zh-CN" sz="1800" dirty="0"/>
          </a:p>
        </p:txBody>
      </p:sp>
      <p:sp>
        <p:nvSpPr>
          <p:cNvPr id="18" name="Shape 16"/>
          <p:cNvSpPr/>
          <p:nvPr/>
        </p:nvSpPr>
        <p:spPr>
          <a:xfrm>
            <a:off x="8129016" y="1719072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0184" y="1920240"/>
            <a:ext cx="530352" cy="53035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193852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900" dirty="0"/>
          </a:p>
        </p:txBody>
      </p:sp>
      <p:sp>
        <p:nvSpPr>
          <p:cNvPr id="21" name="Text 19"/>
          <p:cNvSpPr/>
          <p:nvPr/>
        </p:nvSpPr>
        <p:spPr>
          <a:xfrm>
            <a:off x="8330184" y="272491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哪些留言被接住</a:t>
            </a:r>
            <a:endParaRPr lang="zh-CN" sz="2300" dirty="0"/>
          </a:p>
        </p:txBody>
      </p:sp>
      <p:sp>
        <p:nvSpPr>
          <p:cNvPr id="22" name="Text 20"/>
          <p:cNvSpPr/>
          <p:nvPr/>
        </p:nvSpPr>
        <p:spPr>
          <a:xfrm>
            <a:off x="8330184" y="33192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回应覆盖</a:t>
            </a:r>
            <a:endParaRPr lang="zh-CN" sz="1600" dirty="0"/>
          </a:p>
        </p:txBody>
      </p:sp>
      <p:sp>
        <p:nvSpPr>
          <p:cNvPr id="23" name="Text 21"/>
          <p:cNvSpPr/>
          <p:nvPr/>
        </p:nvSpPr>
        <p:spPr>
          <a:xfrm>
            <a:off x="8330184" y="3886200"/>
            <a:ext cx="31638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鼓励组直接回复覆盖43.5%，已回复中感谢占26.7%。</a:t>
            </a:r>
            <a:endParaRPr lang="zh-CN" sz="1800" dirty="0"/>
          </a:p>
        </p:txBody>
      </p:sp>
      <p:sp>
        <p:nvSpPr>
          <p:cNvPr id="24" name="Shape 22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整合结论</a:t>
            </a:r>
            <a:endParaRPr lang="zh-CN" sz="1400" dirty="0"/>
          </a:p>
        </p:txBody>
      </p:sp>
      <p:sp>
        <p:nvSpPr>
          <p:cNvPr id="26" name="Text 24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读者赞许与帖主感谢构成常见往来，评论总量还需结合参与范围和留言承接。</a:t>
            </a:r>
            <a:endParaRPr lang="zh-CN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06  综合结论与建议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建议：把投入与评价重点放回内容和承接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§9.2 · PDF第21页；以下是观察性证据支持的参考方向，效果仍待检验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32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358384" cy="3639312"/>
          </a:xfrm>
          <a:prstGeom prst="roundRect">
            <a:avLst>
              <a:gd name="adj" fmla="val 3015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68" y="1691640"/>
            <a:ext cx="5541264" cy="3639312"/>
          </a:xfrm>
          <a:prstGeom prst="roundRect">
            <a:avLst>
              <a:gd name="adj" fmla="val 3015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普通用户与创作者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内容投入</a:t>
            </a:r>
            <a:endParaRPr lang="zh-CN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990088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关注配图、视频和持续记录，不依赖固定关键词模板；媒体差异大，但配图的因果效果仍需验证。</a:t>
            </a:r>
            <a:endParaRPr lang="zh-CN" sz="175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早期回应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270248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发帖后一两天内关注并尽早回应评论；多数评论发生较早，回复能否促进后续互动尚未识别。</a:t>
            </a:r>
            <a:endParaRPr lang="zh-CN" sz="1750" dirty="0"/>
          </a:p>
        </p:txBody>
      </p:sp>
      <p:sp>
        <p:nvSpPr>
          <p:cNvPr id="13" name="Text 11"/>
          <p:cNvSpPr/>
          <p:nvPr/>
        </p:nvSpPr>
        <p:spPr>
          <a:xfrm>
            <a:off x="6373368" y="192024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平台运营与评估</a:t>
            </a:r>
            <a:endParaRPr lang="zh-CN" sz="2400" dirty="0"/>
          </a:p>
        </p:txBody>
      </p:sp>
      <p:sp>
        <p:nvSpPr>
          <p:cNvPr id="14" name="Text 12"/>
          <p:cNvSpPr/>
          <p:nvPr/>
        </p:nvSpPr>
        <p:spPr>
          <a:xfrm>
            <a:off x="6373368" y="2651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关注低反馈者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6373368" y="299008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识别长期缺少回应的用户，尝试自愿互助场景；集中度还需在随机用户样本中验证。</a:t>
            </a:r>
            <a:endParaRPr lang="zh-CN" sz="1750" dirty="0"/>
          </a:p>
        </p:txBody>
      </p:sp>
      <p:sp>
        <p:nvSpPr>
          <p:cNvPr id="16" name="Text 14"/>
          <p:cNvSpPr/>
          <p:nvPr/>
        </p:nvSpPr>
        <p:spPr>
          <a:xfrm>
            <a:off x="6373368" y="3931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完善衡量方式</a:t>
            </a:r>
            <a:endParaRPr lang="zh-CN" sz="1500" dirty="0"/>
          </a:p>
        </p:txBody>
      </p:sp>
      <p:sp>
        <p:nvSpPr>
          <p:cNvPr id="17" name="Text 15"/>
          <p:cNvSpPr/>
          <p:nvPr/>
        </p:nvSpPr>
        <p:spPr>
          <a:xfrm>
            <a:off x="6373368" y="427024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同时记录事件次数、独立参与人数、留言承接和回复质量，并用随机实验评估表达提示。</a:t>
            </a:r>
            <a:endParaRPr lang="zh-CN" sz="1750" dirty="0"/>
          </a:p>
        </p:txBody>
      </p:sp>
      <p:sp>
        <p:nvSpPr>
          <p:cNvPr id="18" name="Shape 16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建议依据</a:t>
            </a:r>
            <a:endParaRPr lang="zh-CN" sz="1400" dirty="0"/>
          </a:p>
        </p:txBody>
      </p:sp>
      <p:sp>
        <p:nvSpPr>
          <p:cNvPr id="20" name="Text 18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将观察到的模式作为设计与验证的起点，逐项检验是否真的改善反馈与交流。</a:t>
            </a:r>
            <a:endParaRPr lang="zh-CN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06  综合结论与建议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研究局限：哪些问题仍然没有被数据回答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§9.3、附录A.4 · PDF第22、25页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33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1682496"/>
            <a:ext cx="329184" cy="329184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70078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6550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样本边界</a:t>
            </a:r>
            <a:endParaRPr lang="zh-CN" sz="1800" dirty="0"/>
          </a:p>
        </p:txBody>
      </p:sp>
      <p:sp>
        <p:nvSpPr>
          <p:cNvPr id="9" name="Text 7"/>
          <p:cNvSpPr/>
          <p:nvPr/>
        </p:nvSpPr>
        <p:spPr>
          <a:xfrm>
            <a:off x="2770632" y="1655064"/>
            <a:ext cx="8778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仅100位课程样本作者，抽样机制不明，不能推广到Keep全平台。</a:t>
            </a:r>
            <a:endParaRPr lang="zh-CN" sz="1800" dirty="0"/>
          </a:p>
        </p:txBody>
      </p:sp>
      <p:sp>
        <p:nvSpPr>
          <p:cNvPr id="10" name="Shape 8"/>
          <p:cNvSpPr/>
          <p:nvPr/>
        </p:nvSpPr>
        <p:spPr>
          <a:xfrm>
            <a:off x="585216" y="2423160"/>
            <a:ext cx="329184" cy="329184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44144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395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文本边界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2770632" y="2395728"/>
            <a:ext cx="8778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3,984帖无可用正文；图片内文字与视频语音未进入文本分析。</a:t>
            </a:r>
            <a:endParaRPr lang="zh-CN" sz="1800" dirty="0"/>
          </a:p>
        </p:txBody>
      </p:sp>
      <p:sp>
        <p:nvSpPr>
          <p:cNvPr id="14" name="Shape 12"/>
          <p:cNvSpPr/>
          <p:nvPr/>
        </p:nvSpPr>
        <p:spPr>
          <a:xfrm>
            <a:off x="585216" y="3163824"/>
            <a:ext cx="329184" cy="329184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1821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1363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情境缺失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2770632" y="3136392"/>
            <a:ext cx="8778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缺少实际曝光、粉丝数、统一采集时点与完整内容，固定效应不能完全处理。</a:t>
            </a:r>
            <a:endParaRPr lang="zh-CN" sz="1800" dirty="0"/>
          </a:p>
        </p:txBody>
      </p:sp>
      <p:sp>
        <p:nvSpPr>
          <p:cNvPr id="18" name="Shape 16"/>
          <p:cNvSpPr/>
          <p:nvPr/>
        </p:nvSpPr>
        <p:spPr>
          <a:xfrm>
            <a:off x="585216" y="3904488"/>
            <a:ext cx="329184" cy="329184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9227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zh-CN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8770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评论缺口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2770632" y="3877056"/>
            <a:ext cx="8778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评论覆盖不完整，781条明确回复引用的评论ID未出现在表内。</a:t>
            </a:r>
            <a:endParaRPr lang="zh-CN" sz="1800" dirty="0"/>
          </a:p>
        </p:txBody>
      </p:sp>
      <p:sp>
        <p:nvSpPr>
          <p:cNvPr id="22" name="Shape 20"/>
          <p:cNvSpPr/>
          <p:nvPr/>
        </p:nvSpPr>
        <p:spPr>
          <a:xfrm>
            <a:off x="585216" y="4645152"/>
            <a:ext cx="329184" cy="329184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466344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zh-CN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46177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结果含义</a:t>
            </a:r>
            <a:endParaRPr lang="zh-CN" sz="1800" dirty="0"/>
          </a:p>
        </p:txBody>
      </p:sp>
      <p:sp>
        <p:nvSpPr>
          <p:cNvPr id="25" name="Text 23"/>
          <p:cNvSpPr/>
          <p:nvPr/>
        </p:nvSpPr>
        <p:spPr>
          <a:xfrm>
            <a:off x="2770632" y="4617720"/>
            <a:ext cx="8778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回归是观察性关联；平台点赞与评论不能替代运动效果、坚持程度或留存。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解释边界</a:t>
            </a:r>
            <a:endParaRPr lang="zh-CN" sz="1400" dirty="0"/>
          </a:p>
        </p:txBody>
      </p:sp>
      <p:sp>
        <p:nvSpPr>
          <p:cNvPr id="28" name="Text 26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当前最有把握的结论针对这批记录中的表达关联与互动组织方式。</a:t>
            </a:r>
            <a:endParaRPr lang="zh-CN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06  综合结论与建议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后续研究：用统一窗口与作者随机分组检验效果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§9.4 · PDF第22页；研究方案尚未实施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34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09928"/>
            <a:ext cx="3566160" cy="1161288"/>
          </a:xfrm>
          <a:prstGeom prst="roundRect">
            <a:avLst>
              <a:gd name="adj" fmla="val 9449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56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A组</a:t>
            </a:r>
            <a:endParaRPr lang="zh-CN" sz="23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运动过程记录提示</a:t>
            </a:r>
            <a:endParaRPr lang="zh-CN" sz="1800" dirty="0"/>
          </a:p>
        </p:txBody>
      </p:sp>
      <p:sp>
        <p:nvSpPr>
          <p:cNvPr id="9" name="Shape 7"/>
          <p:cNvSpPr/>
          <p:nvPr/>
        </p:nvSpPr>
        <p:spPr>
          <a:xfrm>
            <a:off x="4315968" y="1709928"/>
            <a:ext cx="3566160" cy="1161288"/>
          </a:xfrm>
          <a:prstGeom prst="roundRect">
            <a:avLst>
              <a:gd name="adj" fmla="val 9449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856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B组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4498848" y="23774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面向伙伴的问题提示</a:t>
            </a:r>
            <a:endParaRPr lang="zh-CN" sz="1800" dirty="0"/>
          </a:p>
        </p:txBody>
      </p:sp>
      <p:sp>
        <p:nvSpPr>
          <p:cNvPr id="12" name="Shape 10"/>
          <p:cNvSpPr/>
          <p:nvPr/>
        </p:nvSpPr>
        <p:spPr>
          <a:xfrm>
            <a:off x="8129016" y="1709928"/>
            <a:ext cx="3566160" cy="1161288"/>
          </a:xfrm>
          <a:prstGeom prst="roundRect">
            <a:avLst>
              <a:gd name="adj" fmla="val 944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1856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C组</a:t>
            </a:r>
            <a:endParaRPr lang="zh-CN" sz="2300" dirty="0"/>
          </a:p>
        </p:txBody>
      </p:sp>
      <p:sp>
        <p:nvSpPr>
          <p:cNvPr id="14" name="Text 12"/>
          <p:cNvSpPr/>
          <p:nvPr/>
        </p:nvSpPr>
        <p:spPr>
          <a:xfrm>
            <a:off x="8311896" y="23774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常规发布对照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630936" y="33192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以作者为单位随机分组</a:t>
            </a:r>
            <a:endParaRPr lang="zh-CN" sz="2300" dirty="0"/>
          </a:p>
        </p:txBody>
      </p:sp>
      <p:sp>
        <p:nvSpPr>
          <p:cNvPr id="16" name="Text 14"/>
          <p:cNvSpPr/>
          <p:nvPr/>
        </p:nvSpPr>
        <p:spPr>
          <a:xfrm>
            <a:off x="5212080" y="325526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减少同一作者跨组发布带来的干扰，预先明确主要指标、比较方式和统一观察窗口。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630936" y="43251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统一发帖后7天观察</a:t>
            </a:r>
            <a:endParaRPr lang="zh-CN" sz="2300" dirty="0"/>
          </a:p>
        </p:txBody>
      </p:sp>
      <p:sp>
        <p:nvSpPr>
          <p:cNvPr id="18" name="Text 16"/>
          <p:cNvSpPr/>
          <p:nvPr/>
        </p:nvSpPr>
        <p:spPr>
          <a:xfrm>
            <a:off x="5212080" y="426110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同时记录实际曝光、独立互动用户数、后续发布行为与回复质量，而非只看累计点赞。</a:t>
            </a:r>
            <a:endParaRPr lang="zh-CN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执行步骤</a:t>
            </a:r>
            <a:endParaRPr lang="zh-CN" sz="1400" dirty="0"/>
          </a:p>
        </p:txBody>
      </p:sp>
      <p:sp>
        <p:nvSpPr>
          <p:cNvPr id="21" name="Text 19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先试点估计方差，再按最小有意义差异确定样本量；该实验目前尚未开展。</a:t>
            </a:r>
            <a:endParaRPr lang="zh-CN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§9.5 · PDF第22页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35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最后的判断</a:t>
            </a:r>
            <a:endParaRPr lang="zh-CN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475488" cy="475488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92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zh-CN" sz="1600" dirty="0"/>
          </a:p>
        </p:txBody>
      </p:sp>
      <p:sp>
        <p:nvSpPr>
          <p:cNvPr id="7" name="Text 5"/>
          <p:cNvSpPr/>
          <p:nvPr/>
        </p:nvSpPr>
        <p:spPr>
          <a:xfrm>
            <a:off x="1444752" y="17465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表达的原始优势，需要放回作者与情境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1444752" y="23865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D4CB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现有证据不足以支持通过特定词汇或主题稳定提高点赞。</a:t>
            </a:r>
            <a:endParaRPr lang="zh-CN" sz="1900" dirty="0"/>
          </a:p>
        </p:txBody>
      </p:sp>
      <p:sp>
        <p:nvSpPr>
          <p:cNvPr id="9" name="Shape 7"/>
          <p:cNvSpPr/>
          <p:nvPr/>
        </p:nvSpPr>
        <p:spPr>
          <a:xfrm>
            <a:off x="658368" y="3118104"/>
            <a:ext cx="475488" cy="475488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13639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zh-CN" sz="1600" dirty="0"/>
          </a:p>
        </p:txBody>
      </p:sp>
      <p:sp>
        <p:nvSpPr>
          <p:cNvPr id="11" name="Text 9"/>
          <p:cNvSpPr/>
          <p:nvPr/>
        </p:nvSpPr>
        <p:spPr>
          <a:xfrm>
            <a:off x="1444752" y="3090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训练交流与生活表达并存</a:t>
            </a:r>
            <a:endParaRPr lang="zh-CN" sz="2500" dirty="0"/>
          </a:p>
        </p:txBody>
      </p:sp>
      <p:sp>
        <p:nvSpPr>
          <p:cNvPr id="12" name="Text 10"/>
          <p:cNvSpPr/>
          <p:nvPr/>
        </p:nvSpPr>
        <p:spPr>
          <a:xfrm>
            <a:off x="1444752" y="3730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D4CB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小主题的频繁出现，也可能反映少数作者的持续记录。</a:t>
            </a:r>
            <a:endParaRPr lang="zh-CN" sz="1900" dirty="0"/>
          </a:p>
        </p:txBody>
      </p:sp>
      <p:sp>
        <p:nvSpPr>
          <p:cNvPr id="13" name="Shape 11"/>
          <p:cNvSpPr/>
          <p:nvPr/>
        </p:nvSpPr>
        <p:spPr>
          <a:xfrm>
            <a:off x="658368" y="4462272"/>
            <a:ext cx="475488" cy="475488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4805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zh-CN" sz="1600" dirty="0"/>
          </a:p>
        </p:txBody>
      </p:sp>
      <p:sp>
        <p:nvSpPr>
          <p:cNvPr id="15" name="Text 13"/>
          <p:cNvSpPr/>
          <p:nvPr/>
        </p:nvSpPr>
        <p:spPr>
          <a:xfrm>
            <a:off x="1444752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评论往来主要围绕帖主</a:t>
            </a:r>
            <a:endParaRPr lang="zh-CN" sz="2500" dirty="0"/>
          </a:p>
        </p:txBody>
      </p:sp>
      <p:sp>
        <p:nvSpPr>
          <p:cNvPr id="16" name="Text 14"/>
          <p:cNvSpPr/>
          <p:nvPr/>
        </p:nvSpPr>
        <p:spPr>
          <a:xfrm>
            <a:off x="1444752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D4CB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评论活跃应结合事件次数、不同参与人数和回应覆盖来理解。</a:t>
            </a:r>
            <a:endParaRPr lang="zh-CN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汇报导读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附录：分母、时间窗和指标口径速查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附录A.1—A.4 · PDF第23—25页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36</a:t>
            </a:r>
            <a:endParaRPr lang="zh-CN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311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709160"/>
                <a:gridCol w="4507992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统计对象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使用范围 / 分母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需要区分的含义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帖子与主题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主回归9,532帖；主题2,470帖 / 86作者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整体帖子 vs 满足条件的有效正文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评论文本与网络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文本11,595条；网络11,511次事件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文本保留84次自我互动，网络排除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账号范围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2,910位发言者；2,932个有边账号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发过评论的人 vs 同时含接收者的账号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两种7天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网络 / 时序从发帖起；直接配对从根评论起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相同长度，起算事件不同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线程与直接回复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线程参与57.0%；7天直接配对3,568 / 6,609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回复线程任意位置 vs 明确指向根评论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统计判断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积极表达原始p=0.016；BH q=0.079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原始区间 vs 五项同时检验的校正判断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汇报导读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参考依据与原报告对应关系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完整参考文献信息见源报告第26页；本演示稿不新增实证分析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37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36776"/>
            <a:ext cx="5358384" cy="4078224"/>
          </a:xfrm>
          <a:prstGeom prst="roundRect">
            <a:avLst>
              <a:gd name="adj" fmla="val 2691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68" y="1636776"/>
            <a:ext cx="5541264" cy="4078224"/>
          </a:xfrm>
          <a:prstGeom prst="roundRect">
            <a:avLst>
              <a:gd name="adj" fmla="val 2691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470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[1] Richardson et al. (2010). JMIR, 12(4), e71. 在线社区与健走项目参与。</a:t>
            </a:r>
            <a:endParaRPr lang="zh-CN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277977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[2] Tausczik &amp; Pennebaker (2010). J. Language and Social Psychology, 29(1), 24–54. 词典式文本分析。</a:t>
            </a:r>
            <a:endParaRPr lang="zh-CN" sz="1450" dirty="0"/>
          </a:p>
        </p:txBody>
      </p:sp>
      <p:sp>
        <p:nvSpPr>
          <p:cNvPr id="10" name="Text 8"/>
          <p:cNvSpPr/>
          <p:nvPr/>
        </p:nvSpPr>
        <p:spPr>
          <a:xfrm>
            <a:off x="713232" y="37124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[3] Lee &amp; Seung (1999). Nature, 401, 788–791. 非负矩阵分解。</a:t>
            </a:r>
            <a:endParaRPr lang="zh-CN" sz="1450" dirty="0"/>
          </a:p>
        </p:txBody>
      </p:sp>
      <p:sp>
        <p:nvSpPr>
          <p:cNvPr id="11" name="Text 9"/>
          <p:cNvSpPr/>
          <p:nvPr/>
        </p:nvSpPr>
        <p:spPr>
          <a:xfrm>
            <a:off x="713232" y="464515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[4] Salton &amp; Buckley (1988). Information Processing &amp; Management, 24(5), 513–523. 词项加权。</a:t>
            </a:r>
            <a:endParaRPr lang="zh-CN" sz="1450" dirty="0"/>
          </a:p>
        </p:txBody>
      </p:sp>
      <p:sp>
        <p:nvSpPr>
          <p:cNvPr id="12" name="Text 10"/>
          <p:cNvSpPr/>
          <p:nvPr/>
        </p:nvSpPr>
        <p:spPr>
          <a:xfrm>
            <a:off x="6355080" y="1847088"/>
            <a:ext cx="5102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[5] Cameron &amp; Miller (2015). J. Human Resources, 50(2), 317–372. 聚类稳健推断。</a:t>
            </a:r>
            <a:endParaRPr lang="zh-CN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2587752"/>
            <a:ext cx="5102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[6] Benjamini &amp; Hochberg (1995). JRSS B, 57(1), 289–300. 多重比较与FDR。</a:t>
            </a:r>
            <a:endParaRPr lang="zh-CN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3328416"/>
            <a:ext cx="5102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[7] Santos Silva &amp; Tenreyro (2006). Review of Economics and Statistics, 88(4), 641–658. PPML。</a:t>
            </a:r>
            <a:endParaRPr lang="zh-CN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4069080"/>
            <a:ext cx="5102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[8] Wasserman &amp; Faust (1994). Social Network Analysis. Cambridge University Press.</a:t>
            </a:r>
            <a:endParaRPr lang="zh-CN" sz="1350" dirty="0"/>
          </a:p>
        </p:txBody>
      </p:sp>
      <p:sp>
        <p:nvSpPr>
          <p:cNvPr id="16" name="Text 14"/>
          <p:cNvSpPr/>
          <p:nvPr/>
        </p:nvSpPr>
        <p:spPr>
          <a:xfrm>
            <a:off x="6355080" y="4809744"/>
            <a:ext cx="5102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[9] Brin &amp; Page (1998). Computer Networks and ISDN Systems, 30, 107–117. PageRank。</a:t>
            </a:r>
            <a:endParaRPr lang="zh-CN" sz="1350" dirty="0"/>
          </a:p>
        </p:txBody>
      </p:sp>
      <p:sp>
        <p:nvSpPr>
          <p:cNvPr id="17" name="Text 15"/>
          <p:cNvSpPr/>
          <p:nvPr/>
        </p:nvSpPr>
        <p:spPr>
          <a:xfrm>
            <a:off x="594360" y="59253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章节映射：01→报告1—3章；02→4章；03→5章；04→6章；05→7章；06→8—9章。</a:t>
            </a:r>
            <a:endParaRPr lang="zh-C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课程小组项目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Keep社区内容表达与互动反馈</dc:title>
  <dc:subject>基于排版优化版分析报告的章节化中文汇报</dc:subject>
  <dc:creator>Keep 社区研究小组</dc:creator>
  <cp:lastModifiedBy>Keep 社区研究小组</cp:lastModifiedBy>
  <cp:revision>1</cp:revision>
  <dcterms:created xsi:type="dcterms:W3CDTF">2026-10-25T05:54:41Z</dcterms:created>
  <dcterms:modified xsi:type="dcterms:W3CDTF">2026-10-25T05:54:41Z</dcterms:modified>
</cp:coreProperties>
</file>